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5D1D2E"/>
          </a:solidFill>
          <a:ln/>
        </p:spPr>
        <p:txBody>
          <a:bodyPr wrap="square" rtlCol="0" anchor="ctr"/>
          <a:lstStyle/>
          <a:p>
            <a:pPr indent="0" marL="0">
              <a:buNone/>
            </a:pPr>
            <a:endParaRPr lang="en-US" dirty="0"/>
          </a:p>
        </p:txBody>
      </p:sp>
      <p:sp>
        <p:nvSpPr>
          <p:cNvPr id="3" name="Text 1"/>
          <p:cNvSpPr/>
          <p:nvPr/>
        </p:nvSpPr>
        <p:spPr>
          <a:xfrm>
            <a:off x="2766588" y="1315938"/>
            <a:ext cx="3610674" cy="177701"/>
          </a:xfrm>
          <a:prstGeom prst="rect">
            <a:avLst/>
          </a:prstGeom>
          <a:noFill/>
          <a:ln/>
        </p:spPr>
        <p:txBody>
          <a:bodyPr wrap="square" lIns="0" tIns="0" rIns="0" bIns="0" rtlCol="0" anchor="t"/>
          <a:lstStyle/>
          <a:p>
            <a:pPr algn="ctr" indent="0" marL="0">
              <a:lnSpc>
                <a:spcPts val="1400"/>
              </a:lnSpc>
              <a:spcAft>
                <a:spcPts val="400"/>
              </a:spcAft>
              <a:buNone/>
            </a:pPr>
            <a:r>
              <a:rPr lang="en-US" sz="1000" b="1" dirty="0">
                <a:solidFill>
                  <a:srgbClr val="997929"/>
                </a:solidFill>
                <a:latin typeface="Georgia" pitchFamily="34" charset="0"/>
                <a:ea typeface="Georgia" pitchFamily="34" charset="-122"/>
                <a:cs typeface="Georgia" pitchFamily="34" charset="-120"/>
              </a:rPr>
              <a:t>SENIOR · MODULE 05 — DOT ADDITION</a:t>
            </a:r>
            <a:endParaRPr lang="en-US" sz="1000" dirty="0"/>
          </a:p>
        </p:txBody>
      </p:sp>
      <p:sp>
        <p:nvSpPr>
          <p:cNvPr id="4" name="Text 2"/>
          <p:cNvSpPr/>
          <p:nvPr/>
        </p:nvSpPr>
        <p:spPr>
          <a:xfrm>
            <a:off x="3528495" y="1544389"/>
            <a:ext cx="2087011" cy="584002"/>
          </a:xfrm>
          <a:prstGeom prst="rect">
            <a:avLst/>
          </a:prstGeom>
          <a:noFill/>
          <a:ln/>
        </p:spPr>
        <p:txBody>
          <a:bodyPr wrap="square" lIns="0" tIns="0" rIns="0" bIns="0" rtlCol="0" anchor="t"/>
          <a:lstStyle/>
          <a:p>
            <a:pPr algn="ctr" indent="0" marL="0">
              <a:lnSpc>
                <a:spcPts val="4600"/>
              </a:lnSpc>
              <a:spcAft>
                <a:spcPts val="1000"/>
              </a:spcAft>
              <a:buNone/>
            </a:pPr>
            <a:r>
              <a:rPr lang="en-US" sz="4000" b="1" dirty="0">
                <a:solidFill>
                  <a:srgbClr val="5D1D2E"/>
                </a:solidFill>
                <a:latin typeface="Times New Roman" pitchFamily="34" charset="0"/>
                <a:ea typeface="Times New Roman" pitchFamily="34" charset="-122"/>
                <a:cs typeface="Times New Roman" pitchFamily="34" charset="-120"/>
              </a:rPr>
              <a:t>Module 5</a:t>
            </a:r>
            <a:endParaRPr lang="en-US" sz="4000" dirty="0"/>
          </a:p>
        </p:txBody>
      </p:sp>
      <p:sp>
        <p:nvSpPr>
          <p:cNvPr id="5" name="Text 3"/>
          <p:cNvSpPr/>
          <p:nvPr/>
        </p:nvSpPr>
        <p:spPr>
          <a:xfrm>
            <a:off x="2392390" y="2331541"/>
            <a:ext cx="4359072" cy="396180"/>
          </a:xfrm>
          <a:prstGeom prst="rect">
            <a:avLst/>
          </a:prstGeom>
          <a:noFill/>
          <a:ln/>
        </p:spPr>
        <p:txBody>
          <a:bodyPr wrap="square" lIns="0" tIns="0" rIns="0" bIns="0" rtlCol="0" anchor="t"/>
          <a:lstStyle/>
          <a:p>
            <a:pPr algn="ctr" indent="0" marL="0">
              <a:lnSpc>
                <a:spcPts val="3120"/>
              </a:lnSpc>
              <a:spcBef>
                <a:spcPts val="600"/>
              </a:spcBef>
              <a:spcAft>
                <a:spcPts val="800"/>
              </a:spcAft>
              <a:buNone/>
            </a:pPr>
            <a:r>
              <a:rPr lang="en-US" sz="2600" dirty="0">
                <a:solidFill>
                  <a:srgbClr val="1A1A1A"/>
                </a:solidFill>
                <a:latin typeface="Times New Roman" pitchFamily="34" charset="0"/>
                <a:ea typeface="Times New Roman" pitchFamily="34" charset="-122"/>
                <a:cs typeface="Times New Roman" pitchFamily="34" charset="-120"/>
              </a:rPr>
              <a:t>Bindu Paddhati — Dot Addition</a:t>
            </a:r>
            <a:endParaRPr lang="en-US" sz="2600" dirty="0"/>
          </a:p>
        </p:txBody>
      </p:sp>
      <p:sp>
        <p:nvSpPr>
          <p:cNvPr id="6" name="Text 4"/>
          <p:cNvSpPr/>
          <p:nvPr/>
        </p:nvSpPr>
        <p:spPr>
          <a:xfrm>
            <a:off x="4024290" y="2867323"/>
            <a:ext cx="1095271" cy="213271"/>
          </a:xfrm>
          <a:prstGeom prst="rect">
            <a:avLst/>
          </a:prstGeom>
          <a:noFill/>
          <a:ln/>
        </p:spPr>
        <p:txBody>
          <a:bodyPr wrap="square" lIns="0" tIns="0" rIns="0" bIns="0" rtlCol="0" anchor="t"/>
          <a:lstStyle/>
          <a:p>
            <a:pPr algn="ctr" indent="0" marL="0">
              <a:lnSpc>
                <a:spcPts val="1680"/>
              </a:lnSpc>
              <a:spcBef>
                <a:spcPts val="300"/>
              </a:spcBef>
              <a:spcAft>
                <a:spcPts val="300"/>
              </a:spcAft>
              <a:buNone/>
            </a:pPr>
            <a:r>
              <a:rPr lang="en-US" sz="1200" i="1" dirty="0">
                <a:solidFill>
                  <a:srgbClr val="1A1A1A"/>
                </a:solidFill>
                <a:latin typeface="Georgia" pitchFamily="34" charset="0"/>
                <a:ea typeface="Georgia" pitchFamily="34" charset="-122"/>
                <a:cs typeface="Georgia" pitchFamily="34" charset="-120"/>
              </a:rPr>
              <a:t>Bindu Paddhati</a:t>
            </a:r>
            <a:endParaRPr lang="en-US" sz="1200" dirty="0"/>
          </a:p>
        </p:txBody>
      </p:sp>
      <p:sp>
        <p:nvSpPr>
          <p:cNvPr id="7" name="Text 5"/>
          <p:cNvSpPr/>
          <p:nvPr/>
        </p:nvSpPr>
        <p:spPr>
          <a:xfrm>
            <a:off x="4028844" y="3499693"/>
            <a:ext cx="1086163" cy="213271"/>
          </a:xfrm>
          <a:prstGeom prst="rect">
            <a:avLst/>
          </a:prstGeom>
          <a:noFill/>
          <a:ln/>
        </p:spPr>
        <p:txBody>
          <a:bodyPr wrap="square" lIns="0" tIns="0" rIns="0" bIns="0" rtlCol="0" anchor="t"/>
          <a:lstStyle/>
          <a:p>
            <a:pPr algn="ctr" indent="0" marL="0">
              <a:lnSpc>
                <a:spcPts val="1680"/>
              </a:lnSpc>
              <a:spcBef>
                <a:spcPts val="3000"/>
              </a:spcBef>
              <a:spcAft>
                <a:spcPts val="300"/>
              </a:spcAft>
              <a:buNone/>
            </a:pPr>
            <a:r>
              <a:rPr lang="en-US" sz="1200" dirty="0">
                <a:solidFill>
                  <a:srgbClr val="5C5C5C"/>
                </a:solidFill>
                <a:latin typeface="Georgia" pitchFamily="34" charset="0"/>
                <a:ea typeface="Georgia" pitchFamily="34" charset="-122"/>
                <a:cs typeface="Georgia" pitchFamily="34" charset="-120"/>
              </a:rPr>
              <a:t>IKS Curriculum</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5D1D2E"/>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997929"/>
                </a:solidFill>
                <a:latin typeface="Times New Roman" pitchFamily="34" charset="0"/>
                <a:ea typeface="Times New Roman" pitchFamily="34" charset="-122"/>
                <a:cs typeface="Times New Roman" pitchFamily="34" charset="-120"/>
              </a:rPr>
              <a:t>Opening hook · 5 min</a:t>
            </a:r>
            <a:endParaRPr lang="en-US" sz="1800" dirty="0"/>
          </a:p>
        </p:txBody>
      </p:sp>
      <p:sp>
        <p:nvSpPr>
          <p:cNvPr id="4" name="Text 2"/>
          <p:cNvSpPr/>
          <p:nvPr/>
        </p:nvSpPr>
        <p:spPr>
          <a:xfrm>
            <a:off x="406301" y="870942"/>
            <a:ext cx="8498026" cy="639812"/>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Project the problem: 47 + 38 + 26 + 91 + 53 = ? Time the class. Most: ~30-45 seconds. </a:t>
            </a:r>
            <a:pPr algn="l" indent="0" marL="0">
              <a:lnSpc>
                <a:spcPts val="1680"/>
              </a:lnSpc>
              <a:spcBef>
                <a:spcPts val="300"/>
              </a:spcBef>
              <a:spcAft>
                <a:spcPts val="300"/>
              </a:spcAft>
              <a:buNone/>
            </a:pPr>
            <a:r>
              <a:rPr lang="en-US" sz="1200" i="1" dirty="0">
                <a:solidFill>
                  <a:srgbClr val="1A1A1A"/>
                </a:solidFill>
                <a:latin typeface="Georgia" pitchFamily="34" charset="0"/>
                <a:ea typeface="Georgia" pitchFamily="34" charset="-122"/>
                <a:cs typeface="Georgia" pitchFamily="34" charset="-120"/>
              </a:rPr>
              <a:t>"There's a faster method, documented in 20th-century Indian textbooks. It's called Bindu Paddhati. Today we learn it AND examine its honest historical claim."</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Senior · Module 05 — Dot Addition · IKS Curriculum</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5D1D2E"/>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997929"/>
                </a:solidFill>
                <a:latin typeface="Times New Roman" pitchFamily="34" charset="0"/>
                <a:ea typeface="Times New Roman" pitchFamily="34" charset="-122"/>
                <a:cs typeface="Times New Roman" pitchFamily="34" charset="-120"/>
              </a:rPr>
              <a:t>Core idea · 15 min</a:t>
            </a:r>
            <a:endParaRPr lang="en-US" sz="1800" dirty="0"/>
          </a:p>
        </p:txBody>
      </p:sp>
      <p:sp>
        <p:nvSpPr>
          <p:cNvPr id="4" name="Text 2"/>
          <p:cNvSpPr/>
          <p:nvPr/>
        </p:nvSpPr>
        <p:spPr>
          <a:xfrm>
            <a:off x="406301" y="870942"/>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b="1" dirty="0">
                <a:solidFill>
                  <a:srgbClr val="1A1A1A"/>
                </a:solidFill>
                <a:latin typeface="Georgia" pitchFamily="34" charset="0"/>
                <a:ea typeface="Georgia" pitchFamily="34" charset="-122"/>
                <a:cs typeface="Georgia" pitchFamily="34" charset="-120"/>
              </a:rPr>
              <a:t>Bindu Paddhati — modern reconstruction.</a:t>
            </a:r>
            <a:endParaRPr lang="en-US" sz="1200" dirty="0"/>
          </a:p>
        </p:txBody>
      </p:sp>
      <p:sp>
        <p:nvSpPr>
          <p:cNvPr id="5" name="Text 3"/>
          <p:cNvSpPr/>
          <p:nvPr/>
        </p:nvSpPr>
        <p:spPr>
          <a:xfrm>
            <a:off x="406301" y="1160413"/>
            <a:ext cx="8498026" cy="42654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The method as taught is well-documented in 20th-century Indian mental-arithmetic primers (e.g., Bharati Krishna Tirthaji's </a:t>
            </a:r>
            <a:pPr algn="l" indent="0" marL="0">
              <a:lnSpc>
                <a:spcPts val="1680"/>
              </a:lnSpc>
              <a:spcBef>
                <a:spcPts val="300"/>
              </a:spcBef>
              <a:spcAft>
                <a:spcPts val="300"/>
              </a:spcAft>
              <a:buNone/>
            </a:pPr>
            <a:r>
              <a:rPr lang="en-US" sz="1200" i="1" dirty="0">
                <a:solidFill>
                  <a:srgbClr val="1A1A1A"/>
                </a:solidFill>
                <a:latin typeface="Georgia" pitchFamily="34" charset="0"/>
                <a:ea typeface="Georgia" pitchFamily="34" charset="-122"/>
                <a:cs typeface="Georgia" pitchFamily="34" charset="-120"/>
              </a:rPr>
              <a:t>Vedic Mathematics</a:t>
            </a:r>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 1965; later popularizations).</a:t>
            </a:r>
            <a:endParaRPr lang="en-US" sz="1200" dirty="0"/>
          </a:p>
        </p:txBody>
      </p:sp>
      <p:sp>
        <p:nvSpPr>
          <p:cNvPr id="6" name="Text 4"/>
          <p:cNvSpPr/>
          <p:nvPr/>
        </p:nvSpPr>
        <p:spPr>
          <a:xfrm>
            <a:off x="406301" y="1663154"/>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b="1" dirty="0">
                <a:solidFill>
                  <a:srgbClr val="1A1A1A"/>
                </a:solidFill>
                <a:latin typeface="Georgia" pitchFamily="34" charset="0"/>
                <a:ea typeface="Georgia" pitchFamily="34" charset="-122"/>
                <a:cs typeface="Georgia" pitchFamily="34" charset="-120"/>
              </a:rPr>
              <a:t>Honest historical framing:</a:t>
            </a:r>
            <a:endParaRPr lang="en-US" sz="1200" dirty="0"/>
          </a:p>
        </p:txBody>
      </p:sp>
      <p:sp>
        <p:nvSpPr>
          <p:cNvPr id="7" name="Text 5"/>
          <p:cNvSpPr/>
          <p:nvPr/>
        </p:nvSpPr>
        <p:spPr>
          <a:xfrm>
            <a:off x="634901" y="1965275"/>
            <a:ext cx="8102798" cy="1180802"/>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dirty="0">
                <a:solidFill>
                  <a:srgbClr val="1A1A1A"/>
                </a:solidFill>
                <a:latin typeface="Georgia" pitchFamily="34" charset="0"/>
                <a:ea typeface="Georgia" pitchFamily="34" charset="-122"/>
                <a:cs typeface="Georgia" pitchFamily="34" charset="-120"/>
              </a:rPr>
              <a:t>The DOT NOTATION as such is a modern (20th-c.) pedagogical convention.</a:t>
            </a:r>
            <a:endParaRPr lang="en-US" sz="1200" dirty="0"/>
          </a:p>
          <a:p>
            <a:pPr algn="l" marL="342900" indent="-342900">
              <a:lnSpc>
                <a:spcPts val="1620"/>
              </a:lnSpc>
              <a:spcAft>
                <a:spcPts val="300"/>
              </a:spcAft>
              <a:buSzPct val="100000"/>
              <a:buChar char="•"/>
            </a:pPr>
            <a:r>
              <a:rPr lang="en-US" sz="1200" dirty="0">
                <a:solidFill>
                  <a:srgbClr val="1A1A1A"/>
                </a:solidFill>
                <a:latin typeface="Georgia" pitchFamily="34" charset="0"/>
                <a:ea typeface="Georgia" pitchFamily="34" charset="-122"/>
                <a:cs typeface="Georgia" pitchFamily="34" charset="-120"/>
              </a:rPr>
              <a:t>The PLACE-VALUE ARITHMETIC behind it is much older (Brahmi numerals, ~3rd c. BCE; place value formalised ~Āryabhaṭa, 499 CE).</a:t>
            </a:r>
            <a:endParaRPr lang="en-US" sz="1200" dirty="0"/>
          </a:p>
          <a:p>
            <a:pPr algn="l" marL="342900" indent="-342900">
              <a:lnSpc>
                <a:spcPts val="1620"/>
              </a:lnSpc>
              <a:spcAft>
                <a:spcPts val="300"/>
              </a:spcAft>
              <a:buSzPct val="100000"/>
              <a:buChar char="•"/>
            </a:pPr>
            <a:r>
              <a:rPr lang="en-US" sz="1200" dirty="0">
                <a:solidFill>
                  <a:srgbClr val="1A1A1A"/>
                </a:solidFill>
                <a:latin typeface="Georgia" pitchFamily="34" charset="0"/>
                <a:ea typeface="Georgia" pitchFamily="34" charset="-122"/>
                <a:cs typeface="Georgia" pitchFamily="34" charset="-120"/>
              </a:rPr>
              <a:t>The CLAIM that this is "Vedic" is contested (S.G. Dani, </a:t>
            </a:r>
            <a:pPr algn="l" indent="0" marL="0">
              <a:lnSpc>
                <a:spcPts val="1620"/>
              </a:lnSpc>
              <a:spcAft>
                <a:spcPts val="300"/>
              </a:spcAft>
              <a:buNone/>
            </a:pPr>
            <a:r>
              <a:rPr lang="en-US" sz="1200" i="1" dirty="0">
                <a:solidFill>
                  <a:srgbClr val="1A1A1A"/>
                </a:solidFill>
                <a:latin typeface="Georgia" pitchFamily="34" charset="0"/>
                <a:ea typeface="Georgia" pitchFamily="34" charset="-122"/>
                <a:cs typeface="Georgia" pitchFamily="34" charset="-120"/>
              </a:rPr>
              <a:t>Frontline</a:t>
            </a:r>
            <a:pPr algn="l" indent="0" marL="0">
              <a:lnSpc>
                <a:spcPts val="1620"/>
              </a:lnSpc>
              <a:spcAft>
                <a:spcPts val="300"/>
              </a:spcAft>
              <a:buNone/>
            </a:pPr>
            <a:r>
              <a:rPr lang="en-US" sz="1200" dirty="0">
                <a:solidFill>
                  <a:srgbClr val="1A1A1A"/>
                </a:solidFill>
                <a:latin typeface="Georgia" pitchFamily="34" charset="0"/>
                <a:ea typeface="Georgia" pitchFamily="34" charset="-122"/>
                <a:cs typeface="Georgia" pitchFamily="34" charset="-120"/>
              </a:rPr>
              <a:t> 1993). It's a 20th-c. arithmetic synthesis that uses Sanskrit names.</a:t>
            </a:r>
            <a:endParaRPr lang="en-US" sz="1200" dirty="0"/>
          </a:p>
        </p:txBody>
      </p:sp>
      <p:sp>
        <p:nvSpPr>
          <p:cNvPr id="8" name="Text 6"/>
          <p:cNvSpPr/>
          <p:nvPr/>
        </p:nvSpPr>
        <p:spPr>
          <a:xfrm>
            <a:off x="406301" y="3234928"/>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b="1" dirty="0">
                <a:solidFill>
                  <a:srgbClr val="1A1A1A"/>
                </a:solidFill>
                <a:latin typeface="Georgia" pitchFamily="34" charset="0"/>
                <a:ea typeface="Georgia" pitchFamily="34" charset="-122"/>
                <a:cs typeface="Georgia" pitchFamily="34" charset="-120"/>
              </a:rPr>
              <a:t>Method itself:</a:t>
            </a:r>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 sound. </a:t>
            </a:r>
            <a:pPr algn="l" indent="0" marL="0">
              <a:lnSpc>
                <a:spcPts val="1680"/>
              </a:lnSpc>
              <a:spcBef>
                <a:spcPts val="300"/>
              </a:spcBef>
              <a:spcAft>
                <a:spcPts val="300"/>
              </a:spcAft>
              <a:buNone/>
            </a:pPr>
            <a:r>
              <a:rPr lang="en-US" sz="1200" b="1" dirty="0">
                <a:solidFill>
                  <a:srgbClr val="1A1A1A"/>
                </a:solidFill>
                <a:latin typeface="Georgia" pitchFamily="34" charset="0"/>
                <a:ea typeface="Georgia" pitchFamily="34" charset="-122"/>
                <a:cs typeface="Georgia" pitchFamily="34" charset="-120"/>
              </a:rPr>
              <a:t>Historical claim:</a:t>
            </a:r>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 modern, not ancient.</a:t>
            </a:r>
            <a:endParaRPr lang="en-US" sz="1200" dirty="0"/>
          </a:p>
        </p:txBody>
      </p:sp>
      <p:sp>
        <p:nvSpPr>
          <p:cNvPr id="9" name="Text 7"/>
          <p:cNvSpPr/>
          <p:nvPr/>
        </p:nvSpPr>
        <p:spPr>
          <a:xfrm>
            <a:off x="406301" y="352439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Both can be true. Use the method; teach the honest history.</a:t>
            </a:r>
            <a:endParaRPr lang="en-US" sz="1200" dirty="0"/>
          </a:p>
        </p:txBody>
      </p:sp>
      <p:sp>
        <p:nvSpPr>
          <p:cNvPr id="10" name="Text 8"/>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Senior · Module 05 — Dot Addition · IKS Curriculum</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5D1D2E"/>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997929"/>
                </a:solidFill>
                <a:latin typeface="Times New Roman" pitchFamily="34" charset="0"/>
                <a:ea typeface="Times New Roman" pitchFamily="34" charset="-122"/>
                <a:cs typeface="Times New Roman" pitchFamily="34" charset="-120"/>
              </a:rPr>
              <a:t>Demonstration · 10 min</a:t>
            </a:r>
            <a:endParaRPr lang="en-US" sz="1800" dirty="0"/>
          </a:p>
        </p:txBody>
      </p:sp>
      <p:sp>
        <p:nvSpPr>
          <p:cNvPr id="4" name="Text 2"/>
          <p:cNvSpPr/>
          <p:nvPr/>
        </p:nvSpPr>
        <p:spPr>
          <a:xfrm>
            <a:off x="406301" y="870942"/>
            <a:ext cx="8498026" cy="639812"/>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b="1" dirty="0">
                <a:solidFill>
                  <a:srgbClr val="1A1A1A"/>
                </a:solidFill>
                <a:latin typeface="Georgia" pitchFamily="34" charset="0"/>
                <a:ea typeface="Georgia" pitchFamily="34" charset="-122"/>
                <a:cs typeface="Georgia" pitchFamily="34" charset="-120"/>
              </a:rPr>
              <a:t>Source comparison.</a:t>
            </a:r>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 Project two passages: (a) Tirthaji 1965 description of </a:t>
            </a:r>
            <a:pPr algn="l" indent="0" marL="0">
              <a:lnSpc>
                <a:spcPts val="1680"/>
              </a:lnSpc>
              <a:spcBef>
                <a:spcPts val="300"/>
              </a:spcBef>
              <a:spcAft>
                <a:spcPts val="300"/>
              </a:spcAft>
              <a:buNone/>
            </a:pPr>
            <a:r>
              <a:rPr lang="en-US" sz="1200" i="1" dirty="0">
                <a:solidFill>
                  <a:srgbClr val="1A1A1A"/>
                </a:solidFill>
                <a:latin typeface="Georgia" pitchFamily="34" charset="0"/>
                <a:ea typeface="Georgia" pitchFamily="34" charset="-122"/>
                <a:cs typeface="Georgia" pitchFamily="34" charset="-120"/>
              </a:rPr>
              <a:t>Bindu Paddhati</a:t>
            </a:r>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 (b) a Sanskrit excerpt claimed to be the "original" but actually a 20th-c. Sanskrit composition. Students compare: where does the documentary evidence lie? What's the honest dating?</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Senior · Module 05 — Dot Addition · IKS Curriculum</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5D1D2E"/>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997929"/>
                </a:solidFill>
                <a:latin typeface="Times New Roman" pitchFamily="34" charset="0"/>
                <a:ea typeface="Times New Roman" pitchFamily="34" charset="-122"/>
                <a:cs typeface="Times New Roman" pitchFamily="34" charset="-120"/>
              </a:rPr>
              <a:t>Source moment · 5 min</a:t>
            </a:r>
            <a:endParaRPr lang="en-US" sz="1800" dirty="0"/>
          </a:p>
        </p:txBody>
      </p:sp>
      <p:sp>
        <p:nvSpPr>
          <p:cNvPr id="4" name="Text 2"/>
          <p:cNvSpPr/>
          <p:nvPr/>
        </p:nvSpPr>
        <p:spPr>
          <a:xfrm>
            <a:off x="406301" y="870942"/>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b="1" dirty="0">
                <a:solidFill>
                  <a:srgbClr val="1A1A1A"/>
                </a:solidFill>
                <a:latin typeface="Georgia" pitchFamily="34" charset="0"/>
                <a:ea typeface="Georgia" pitchFamily="34" charset="-122"/>
                <a:cs typeface="Georgia" pitchFamily="34" charset="-120"/>
              </a:rPr>
              <a:t>Quoted reference.</a:t>
            </a:r>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 Tirthaji, </a:t>
            </a:r>
            <a:pPr algn="l" indent="0" marL="0">
              <a:lnSpc>
                <a:spcPts val="1680"/>
              </a:lnSpc>
              <a:spcBef>
                <a:spcPts val="300"/>
              </a:spcBef>
              <a:spcAft>
                <a:spcPts val="300"/>
              </a:spcAft>
              <a:buNone/>
            </a:pPr>
            <a:r>
              <a:rPr lang="en-US" sz="1200" i="1" dirty="0">
                <a:solidFill>
                  <a:srgbClr val="1A1A1A"/>
                </a:solidFill>
                <a:latin typeface="Georgia" pitchFamily="34" charset="0"/>
                <a:ea typeface="Georgia" pitchFamily="34" charset="-122"/>
                <a:cs typeface="Georgia" pitchFamily="34" charset="-120"/>
              </a:rPr>
              <a:t>Vedic Mathematics</a:t>
            </a:r>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 (1965, posthumous), in the chapter on column addition:</a:t>
            </a:r>
            <a:endParaRPr lang="en-US" sz="1200" dirty="0"/>
          </a:p>
        </p:txBody>
      </p:sp>
      <p:sp>
        <p:nvSpPr>
          <p:cNvPr id="5" name="Text 3"/>
          <p:cNvSpPr/>
          <p:nvPr/>
        </p:nvSpPr>
        <p:spPr>
          <a:xfrm>
            <a:off x="406301" y="1173063"/>
            <a:ext cx="8331398" cy="611981"/>
          </a:xfrm>
          <a:prstGeom prst="rect">
            <a:avLst/>
          </a:prstGeom>
          <a:solidFill>
            <a:srgbClr val="FFFFFF"/>
          </a:solidFill>
          <a:ln/>
        </p:spPr>
        <p:txBody>
          <a:bodyPr wrap="square" rtlCol="0" anchor="ctr"/>
          <a:lstStyle/>
          <a:p>
            <a:pPr indent="0" marL="0">
              <a:buNone/>
            </a:pPr>
            <a:endParaRPr lang="en-US" dirty="0"/>
          </a:p>
        </p:txBody>
      </p:sp>
      <p:sp>
        <p:nvSpPr>
          <p:cNvPr id="6" name="Shape 4"/>
          <p:cNvSpPr/>
          <p:nvPr/>
        </p:nvSpPr>
        <p:spPr>
          <a:xfrm>
            <a:off x="434876" y="1173063"/>
            <a:ext cx="0" cy="611981"/>
          </a:xfrm>
          <a:prstGeom prst="line">
            <a:avLst/>
          </a:prstGeom>
          <a:noFill/>
          <a:ln w="57150">
            <a:solidFill>
              <a:srgbClr val="997929"/>
            </a:solidFill>
            <a:prstDash val="solid"/>
          </a:ln>
        </p:spPr>
      </p:sp>
      <p:sp>
        <p:nvSpPr>
          <p:cNvPr id="7" name="Text 5"/>
          <p:cNvSpPr/>
          <p:nvPr/>
        </p:nvSpPr>
        <p:spPr>
          <a:xfrm>
            <a:off x="692051" y="1363563"/>
            <a:ext cx="7973389" cy="230981"/>
          </a:xfrm>
          <a:prstGeom prst="rect">
            <a:avLst/>
          </a:prstGeom>
          <a:noFill/>
          <a:ln/>
        </p:spPr>
        <p:txBody>
          <a:bodyPr wrap="square" lIns="0" tIns="0" rIns="0" bIns="0" rtlCol="0" anchor="t"/>
          <a:lstStyle/>
          <a:p>
            <a:pPr algn="l" indent="0" marL="0">
              <a:lnSpc>
                <a:spcPts val="1820"/>
              </a:lnSpc>
              <a:spcBef>
                <a:spcPts val="300"/>
              </a:spcBef>
              <a:spcAft>
                <a:spcPts val="300"/>
              </a:spcAft>
              <a:buNone/>
            </a:pPr>
            <a:r>
              <a:rPr lang="en-US" sz="1300" i="1" dirty="0">
                <a:solidFill>
                  <a:srgbClr val="1A1A1A"/>
                </a:solidFill>
                <a:latin typeface="Times New Roman" pitchFamily="34" charset="0"/>
                <a:ea typeface="Times New Roman" pitchFamily="34" charset="-122"/>
                <a:cs typeface="Times New Roman" pitchFamily="34" charset="-120"/>
              </a:rPr>
              <a:t>"The dot above the digit signifies ten. The student need not carry mentally; the dot does the carrying."</a:t>
            </a:r>
            <a:endParaRPr lang="en-US" sz="1300" dirty="0"/>
          </a:p>
        </p:txBody>
      </p:sp>
      <p:sp>
        <p:nvSpPr>
          <p:cNvPr id="8" name="Text 6"/>
          <p:cNvSpPr/>
          <p:nvPr/>
        </p:nvSpPr>
        <p:spPr>
          <a:xfrm>
            <a:off x="406301" y="1873895"/>
            <a:ext cx="8498026" cy="42654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Real source, real date. </a:t>
            </a:r>
            <a:pPr algn="l" indent="0" marL="0">
              <a:lnSpc>
                <a:spcPts val="1680"/>
              </a:lnSpc>
              <a:spcBef>
                <a:spcPts val="300"/>
              </a:spcBef>
              <a:spcAft>
                <a:spcPts val="300"/>
              </a:spcAft>
              <a:buNone/>
            </a:pPr>
            <a:r>
              <a:rPr lang="en-US" sz="1200" b="1" dirty="0">
                <a:solidFill>
                  <a:srgbClr val="1A1A1A"/>
                </a:solidFill>
                <a:latin typeface="Georgia" pitchFamily="34" charset="0"/>
                <a:ea typeface="Georgia" pitchFamily="34" charset="-122"/>
                <a:cs typeface="Georgia" pitchFamily="34" charset="-120"/>
              </a:rPr>
              <a:t>Note:</a:t>
            </a:r>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 Tirthaji's book itself is contested as "Vedic." Use the technique honestly: it's a 20th-c. mental-arithmetic system, not a Vedic-period text.</a:t>
            </a:r>
            <a:endParaRPr lang="en-US" sz="1200" dirty="0"/>
          </a:p>
        </p:txBody>
      </p:sp>
      <p:sp>
        <p:nvSpPr>
          <p:cNvPr id="9" name="Text 7"/>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Senior · Module 05 — Dot Addition · IKS Curriculum</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5D1D2E"/>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997929"/>
                </a:solidFill>
                <a:latin typeface="Times New Roman" pitchFamily="34" charset="0"/>
                <a:ea typeface="Times New Roman" pitchFamily="34" charset="-122"/>
                <a:cs typeface="Times New Roman" pitchFamily="34" charset="-120"/>
              </a:rPr>
              <a:t>Hands-on activity · 15 min</a:t>
            </a:r>
            <a:endParaRPr lang="en-US" sz="1800" dirty="0"/>
          </a:p>
        </p:txBody>
      </p:sp>
      <p:sp>
        <p:nvSpPr>
          <p:cNvPr id="4" name="Text 2"/>
          <p:cNvSpPr/>
          <p:nvPr/>
        </p:nvSpPr>
        <p:spPr>
          <a:xfrm>
            <a:off x="406301" y="870942"/>
            <a:ext cx="8498026" cy="639812"/>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b="1" dirty="0">
                <a:solidFill>
                  <a:srgbClr val="1A1A1A"/>
                </a:solidFill>
                <a:latin typeface="Georgia" pitchFamily="34" charset="0"/>
                <a:ea typeface="Georgia" pitchFamily="34" charset="-122"/>
                <a:cs typeface="Georgia" pitchFamily="34" charset="-120"/>
              </a:rPr>
              <a:t>Critical historical-mathematics essay.</a:t>
            </a:r>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 Each student writes 200 words: </a:t>
            </a:r>
            <a:pPr algn="l" indent="0" marL="0">
              <a:lnSpc>
                <a:spcPts val="1680"/>
              </a:lnSpc>
              <a:spcBef>
                <a:spcPts val="300"/>
              </a:spcBef>
              <a:spcAft>
                <a:spcPts val="300"/>
              </a:spcAft>
              <a:buNone/>
            </a:pPr>
            <a:r>
              <a:rPr lang="en-US" sz="1200" i="1" dirty="0">
                <a:solidFill>
                  <a:srgbClr val="1A1A1A"/>
                </a:solidFill>
                <a:latin typeface="Georgia" pitchFamily="34" charset="0"/>
                <a:ea typeface="Georgia" pitchFamily="34" charset="-122"/>
                <a:cs typeface="Georgia" pitchFamily="34" charset="-120"/>
              </a:rPr>
              <a:t>"The Bindu Paddhati is empirically useful but its claimed antiquity is unprovable. How should educators present such methods honestly? What is lost by overclaiming antiquity? What is lost by dismissing the method as not-really-ancient?"</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Senior · Module 05 — Dot Addition · IKS Curriculum</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5D1D2E"/>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997929"/>
                </a:solidFill>
                <a:latin typeface="Times New Roman" pitchFamily="34" charset="0"/>
                <a:ea typeface="Times New Roman" pitchFamily="34" charset="-122"/>
                <a:cs typeface="Times New Roman" pitchFamily="34" charset="-120"/>
              </a:rPr>
              <a:t>Reflection + take-home · 10 min</a:t>
            </a:r>
            <a:endParaRPr lang="en-US" sz="1800" dirty="0"/>
          </a:p>
        </p:txBody>
      </p:sp>
      <p:sp>
        <p:nvSpPr>
          <p:cNvPr id="4" name="Text 2"/>
          <p:cNvSpPr/>
          <p:nvPr/>
        </p:nvSpPr>
        <p:spPr>
          <a:xfrm>
            <a:off x="406301" y="870942"/>
            <a:ext cx="8498026" cy="42654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i="1" dirty="0">
                <a:solidFill>
                  <a:srgbClr val="1A1A1A"/>
                </a:solidFill>
                <a:latin typeface="Georgia" pitchFamily="34" charset="0"/>
                <a:ea typeface="Georgia" pitchFamily="34" charset="-122"/>
                <a:cs typeface="Georgia" pitchFamily="34" charset="-120"/>
              </a:rPr>
              <a:t>"This module taught you a technique AND a historical critique of its claimed origin. How will you teach this honestly to a younger student?"</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Senior · Module 05 — Dot Addition · IKS Curriculum</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5D1D2E"/>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997929"/>
                </a:solidFill>
                <a:latin typeface="Times New Roman" pitchFamily="34" charset="0"/>
                <a:ea typeface="Times New Roman" pitchFamily="34" charset="-122"/>
                <a:cs typeface="Times New Roman" pitchFamily="34" charset="-120"/>
              </a:rPr>
              <a:t>Go deeper into Adhyayana</a:t>
            </a:r>
            <a:endParaRPr lang="en-US" sz="1800" dirty="0"/>
          </a:p>
        </p:txBody>
      </p:sp>
      <p:sp>
        <p:nvSpPr>
          <p:cNvPr id="4" name="Text 2"/>
          <p:cNvSpPr/>
          <p:nvPr/>
        </p:nvSpPr>
        <p:spPr>
          <a:xfrm>
            <a:off x="406301" y="870942"/>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The full 10-day version of this module:</a:t>
            </a:r>
            <a:endParaRPr lang="en-US" sz="1200" dirty="0"/>
          </a:p>
        </p:txBody>
      </p:sp>
      <p:sp>
        <p:nvSpPr>
          <p:cNvPr id="5" name="Text 3"/>
          <p:cNvSpPr/>
          <p:nvPr/>
        </p:nvSpPr>
        <p:spPr>
          <a:xfrm>
            <a:off x="634901" y="1173063"/>
            <a:ext cx="8102798" cy="2475905"/>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A1A1A"/>
                </a:solidFill>
                <a:latin typeface="Georgia" pitchFamily="34" charset="0"/>
                <a:ea typeface="Georgia" pitchFamily="34" charset="-122"/>
                <a:cs typeface="Georgia" pitchFamily="34" charset="-120"/>
              </a:rPr>
              <a:t>Day 01</a:t>
            </a:r>
            <a:pPr algn="l" indent="0" marL="0">
              <a:lnSpc>
                <a:spcPts val="1620"/>
              </a:lnSpc>
              <a:spcAft>
                <a:spcPts val="300"/>
              </a:spcAft>
              <a:buNone/>
            </a:pPr>
            <a:r>
              <a:rPr lang="en-US" sz="1200" dirty="0">
                <a:solidFill>
                  <a:srgbClr val="1A1A1A"/>
                </a:solidFill>
                <a:latin typeface="Georgia" pitchFamily="34" charset="0"/>
                <a:ea typeface="Georgia" pitchFamily="34" charset="-122"/>
                <a:cs typeface="Georgia" pitchFamily="34" charset="-120"/>
              </a:rPr>
              <a:t> — Why mental arithmetic? The setup</a:t>
            </a:r>
            <a:endParaRPr lang="en-US" sz="1200" dirty="0"/>
          </a:p>
          <a:p>
            <a:pPr algn="l" marL="342900" indent="-342900">
              <a:lnSpc>
                <a:spcPts val="1620"/>
              </a:lnSpc>
              <a:spcAft>
                <a:spcPts val="300"/>
              </a:spcAft>
              <a:buSzPct val="100000"/>
              <a:buChar char="•"/>
            </a:pPr>
            <a:r>
              <a:rPr lang="en-US" sz="1200" b="1" dirty="0">
                <a:solidFill>
                  <a:srgbClr val="1A1A1A"/>
                </a:solidFill>
                <a:latin typeface="Georgia" pitchFamily="34" charset="0"/>
                <a:ea typeface="Georgia" pitchFamily="34" charset="-122"/>
                <a:cs typeface="Georgia" pitchFamily="34" charset="-120"/>
              </a:rPr>
              <a:t>Day 02</a:t>
            </a:r>
            <a:pPr algn="l" indent="0" marL="0">
              <a:lnSpc>
                <a:spcPts val="1620"/>
              </a:lnSpc>
              <a:spcAft>
                <a:spcPts val="300"/>
              </a:spcAft>
              <a:buNone/>
            </a:pPr>
            <a:r>
              <a:rPr lang="en-US" sz="1200" dirty="0">
                <a:solidFill>
                  <a:srgbClr val="1A1A1A"/>
                </a:solidFill>
                <a:latin typeface="Georgia" pitchFamily="34" charset="0"/>
                <a:ea typeface="Georgia" pitchFamily="34" charset="-122"/>
                <a:cs typeface="Georgia" pitchFamily="34" charset="-120"/>
              </a:rPr>
              <a:t> — Single-digit + single-digit with the dot</a:t>
            </a:r>
            <a:endParaRPr lang="en-US" sz="1200" dirty="0"/>
          </a:p>
          <a:p>
            <a:pPr algn="l" marL="342900" indent="-342900">
              <a:lnSpc>
                <a:spcPts val="1620"/>
              </a:lnSpc>
              <a:spcAft>
                <a:spcPts val="300"/>
              </a:spcAft>
              <a:buSzPct val="100000"/>
              <a:buChar char="•"/>
            </a:pPr>
            <a:r>
              <a:rPr lang="en-US" sz="1200" b="1" dirty="0">
                <a:solidFill>
                  <a:srgbClr val="1A1A1A"/>
                </a:solidFill>
                <a:latin typeface="Georgia" pitchFamily="34" charset="0"/>
                <a:ea typeface="Georgia" pitchFamily="34" charset="-122"/>
                <a:cs typeface="Georgia" pitchFamily="34" charset="-120"/>
              </a:rPr>
              <a:t>Day 03</a:t>
            </a:r>
            <a:pPr algn="l" indent="0" marL="0">
              <a:lnSpc>
                <a:spcPts val="1620"/>
              </a:lnSpc>
              <a:spcAft>
                <a:spcPts val="300"/>
              </a:spcAft>
              <a:buNone/>
            </a:pPr>
            <a:r>
              <a:rPr lang="en-US" sz="1200" dirty="0">
                <a:solidFill>
                  <a:srgbClr val="1A1A1A"/>
                </a:solidFill>
                <a:latin typeface="Georgia" pitchFamily="34" charset="0"/>
                <a:ea typeface="Georgia" pitchFamily="34" charset="-122"/>
                <a:cs typeface="Georgia" pitchFamily="34" charset="-120"/>
              </a:rPr>
              <a:t> — Two-digit column addition</a:t>
            </a:r>
            <a:endParaRPr lang="en-US" sz="1200" dirty="0"/>
          </a:p>
          <a:p>
            <a:pPr algn="l" marL="342900" indent="-342900">
              <a:lnSpc>
                <a:spcPts val="1620"/>
              </a:lnSpc>
              <a:spcAft>
                <a:spcPts val="300"/>
              </a:spcAft>
              <a:buSzPct val="100000"/>
              <a:buChar char="•"/>
            </a:pPr>
            <a:r>
              <a:rPr lang="en-US" sz="1200" b="1" dirty="0">
                <a:solidFill>
                  <a:srgbClr val="1A1A1A"/>
                </a:solidFill>
                <a:latin typeface="Georgia" pitchFamily="34" charset="0"/>
                <a:ea typeface="Georgia" pitchFamily="34" charset="-122"/>
                <a:cs typeface="Georgia" pitchFamily="34" charset="-120"/>
              </a:rPr>
              <a:t>Day 04</a:t>
            </a:r>
            <a:pPr algn="l" indent="0" marL="0">
              <a:lnSpc>
                <a:spcPts val="1620"/>
              </a:lnSpc>
              <a:spcAft>
                <a:spcPts val="300"/>
              </a:spcAft>
              <a:buNone/>
            </a:pPr>
            <a:r>
              <a:rPr lang="en-US" sz="1200" dirty="0">
                <a:solidFill>
                  <a:srgbClr val="1A1A1A"/>
                </a:solidFill>
                <a:latin typeface="Georgia" pitchFamily="34" charset="0"/>
                <a:ea typeface="Georgia" pitchFamily="34" charset="-122"/>
                <a:cs typeface="Georgia" pitchFamily="34" charset="-120"/>
              </a:rPr>
              <a:t> — Three- and four-digit columns</a:t>
            </a:r>
            <a:endParaRPr lang="en-US" sz="1200" dirty="0"/>
          </a:p>
          <a:p>
            <a:pPr algn="l" marL="342900" indent="-342900">
              <a:lnSpc>
                <a:spcPts val="1620"/>
              </a:lnSpc>
              <a:spcAft>
                <a:spcPts val="300"/>
              </a:spcAft>
              <a:buSzPct val="100000"/>
              <a:buChar char="•"/>
            </a:pPr>
            <a:r>
              <a:rPr lang="en-US" sz="1200" b="1" dirty="0">
                <a:solidFill>
                  <a:srgbClr val="1A1A1A"/>
                </a:solidFill>
                <a:latin typeface="Georgia" pitchFamily="34" charset="0"/>
                <a:ea typeface="Georgia" pitchFamily="34" charset="-122"/>
                <a:cs typeface="Georgia" pitchFamily="34" charset="-120"/>
              </a:rPr>
              <a:t>Day 05</a:t>
            </a:r>
            <a:pPr algn="l" indent="0" marL="0">
              <a:lnSpc>
                <a:spcPts val="1620"/>
              </a:lnSpc>
              <a:spcAft>
                <a:spcPts val="300"/>
              </a:spcAft>
              <a:buNone/>
            </a:pPr>
            <a:r>
              <a:rPr lang="en-US" sz="1200" dirty="0">
                <a:solidFill>
                  <a:srgbClr val="1A1A1A"/>
                </a:solidFill>
                <a:latin typeface="Georgia" pitchFamily="34" charset="0"/>
                <a:ea typeface="Georgia" pitchFamily="34" charset="-122"/>
                <a:cs typeface="Georgia" pitchFamily="34" charset="-120"/>
              </a:rPr>
              <a:t> — Speed practice — Bindu Paddhati vs traditional</a:t>
            </a:r>
            <a:endParaRPr lang="en-US" sz="1200" dirty="0"/>
          </a:p>
          <a:p>
            <a:pPr algn="l" marL="342900" indent="-342900">
              <a:lnSpc>
                <a:spcPts val="1620"/>
              </a:lnSpc>
              <a:spcAft>
                <a:spcPts val="300"/>
              </a:spcAft>
              <a:buSzPct val="100000"/>
              <a:buChar char="•"/>
            </a:pPr>
            <a:r>
              <a:rPr lang="en-US" sz="1200" b="1" dirty="0">
                <a:solidFill>
                  <a:srgbClr val="1A1A1A"/>
                </a:solidFill>
                <a:latin typeface="Georgia" pitchFamily="34" charset="0"/>
                <a:ea typeface="Georgia" pitchFamily="34" charset="-122"/>
                <a:cs typeface="Georgia" pitchFamily="34" charset="-120"/>
              </a:rPr>
              <a:t>Day 06</a:t>
            </a:r>
            <a:pPr algn="l" indent="0" marL="0">
              <a:lnSpc>
                <a:spcPts val="1620"/>
              </a:lnSpc>
              <a:spcAft>
                <a:spcPts val="300"/>
              </a:spcAft>
              <a:buNone/>
            </a:pPr>
            <a:r>
              <a:rPr lang="en-US" sz="1200" dirty="0">
                <a:solidFill>
                  <a:srgbClr val="1A1A1A"/>
                </a:solidFill>
                <a:latin typeface="Georgia" pitchFamily="34" charset="0"/>
                <a:ea typeface="Georgia" pitchFamily="34" charset="-122"/>
                <a:cs typeface="Georgia" pitchFamily="34" charset="-120"/>
              </a:rPr>
              <a:t> — Why it works — place value + carry</a:t>
            </a:r>
            <a:endParaRPr lang="en-US" sz="1200" dirty="0"/>
          </a:p>
          <a:p>
            <a:pPr algn="l" marL="342900" indent="-342900">
              <a:lnSpc>
                <a:spcPts val="1620"/>
              </a:lnSpc>
              <a:spcAft>
                <a:spcPts val="300"/>
              </a:spcAft>
              <a:buSzPct val="100000"/>
              <a:buChar char="•"/>
            </a:pPr>
            <a:r>
              <a:rPr lang="en-US" sz="1200" b="1" dirty="0">
                <a:solidFill>
                  <a:srgbClr val="1A1A1A"/>
                </a:solidFill>
                <a:latin typeface="Georgia" pitchFamily="34" charset="0"/>
                <a:ea typeface="Georgia" pitchFamily="34" charset="-122"/>
                <a:cs typeface="Georgia" pitchFamily="34" charset="-120"/>
              </a:rPr>
              <a:t>Day 07</a:t>
            </a:r>
            <a:pPr algn="l" indent="0" marL="0">
              <a:lnSpc>
                <a:spcPts val="1620"/>
              </a:lnSpc>
              <a:spcAft>
                <a:spcPts val="300"/>
              </a:spcAft>
              <a:buNone/>
            </a:pPr>
            <a:r>
              <a:rPr lang="en-US" sz="1200" dirty="0">
                <a:solidFill>
                  <a:srgbClr val="1A1A1A"/>
                </a:solidFill>
                <a:latin typeface="Georgia" pitchFamily="34" charset="0"/>
                <a:ea typeface="Georgia" pitchFamily="34" charset="-122"/>
                <a:cs typeface="Georgia" pitchFamily="34" charset="-120"/>
              </a:rPr>
              <a:t> — Honest history — Tirthaji 1965, Dani 1993 critique</a:t>
            </a:r>
            <a:endParaRPr lang="en-US" sz="1200" dirty="0"/>
          </a:p>
          <a:p>
            <a:pPr algn="l" marL="342900" indent="-342900">
              <a:lnSpc>
                <a:spcPts val="1620"/>
              </a:lnSpc>
              <a:spcAft>
                <a:spcPts val="300"/>
              </a:spcAft>
              <a:buSzPct val="100000"/>
              <a:buChar char="•"/>
            </a:pPr>
            <a:r>
              <a:rPr lang="en-US" sz="1200" b="1" dirty="0">
                <a:solidFill>
                  <a:srgbClr val="1A1A1A"/>
                </a:solidFill>
                <a:latin typeface="Georgia" pitchFamily="34" charset="0"/>
                <a:ea typeface="Georgia" pitchFamily="34" charset="-122"/>
                <a:cs typeface="Georgia" pitchFamily="34" charset="-120"/>
              </a:rPr>
              <a:t>Day 08</a:t>
            </a:r>
            <a:pPr algn="l" indent="0" marL="0">
              <a:lnSpc>
                <a:spcPts val="1620"/>
              </a:lnSpc>
              <a:spcAft>
                <a:spcPts val="300"/>
              </a:spcAft>
              <a:buNone/>
            </a:pPr>
            <a:r>
              <a:rPr lang="en-US" sz="1200" dirty="0">
                <a:solidFill>
                  <a:srgbClr val="1A1A1A"/>
                </a:solidFill>
                <a:latin typeface="Georgia" pitchFamily="34" charset="0"/>
                <a:ea typeface="Georgia" pitchFamily="34" charset="-122"/>
                <a:cs typeface="Georgia" pitchFamily="34" charset="-120"/>
              </a:rPr>
              <a:t> — Bridge to computer arithmetic — carry-save addition</a:t>
            </a:r>
            <a:endParaRPr lang="en-US" sz="1200" dirty="0"/>
          </a:p>
          <a:p>
            <a:pPr algn="l" marL="342900" indent="-342900">
              <a:lnSpc>
                <a:spcPts val="1620"/>
              </a:lnSpc>
              <a:spcAft>
                <a:spcPts val="300"/>
              </a:spcAft>
              <a:buSzPct val="100000"/>
              <a:buChar char="•"/>
            </a:pPr>
            <a:r>
              <a:rPr lang="en-US" sz="1200" b="1" dirty="0">
                <a:solidFill>
                  <a:srgbClr val="1A1A1A"/>
                </a:solidFill>
                <a:latin typeface="Georgia" pitchFamily="34" charset="0"/>
                <a:ea typeface="Georgia" pitchFamily="34" charset="-122"/>
                <a:cs typeface="Georgia" pitchFamily="34" charset="-120"/>
              </a:rPr>
              <a:t>Day 09</a:t>
            </a:r>
            <a:pPr algn="l" indent="0" marL="0">
              <a:lnSpc>
                <a:spcPts val="1620"/>
              </a:lnSpc>
              <a:spcAft>
                <a:spcPts val="300"/>
              </a:spcAft>
              <a:buNone/>
            </a:pPr>
            <a:r>
              <a:rPr lang="en-US" sz="1200" dirty="0">
                <a:solidFill>
                  <a:srgbClr val="1A1A1A"/>
                </a:solidFill>
                <a:latin typeface="Georgia" pitchFamily="34" charset="0"/>
                <a:ea typeface="Georgia" pitchFamily="34" charset="-122"/>
                <a:cs typeface="Georgia" pitchFamily="34" charset="-120"/>
              </a:rPr>
              <a:t> — Mixed problem set</a:t>
            </a:r>
            <a:endParaRPr lang="en-US" sz="1200" dirty="0"/>
          </a:p>
          <a:p>
            <a:pPr algn="l" marL="342900" indent="-342900">
              <a:lnSpc>
                <a:spcPts val="1620"/>
              </a:lnSpc>
              <a:spcAft>
                <a:spcPts val="300"/>
              </a:spcAft>
              <a:buSzPct val="100000"/>
              <a:buChar char="•"/>
            </a:pPr>
            <a:r>
              <a:rPr lang="en-US" sz="1200" b="1" dirty="0">
                <a:solidFill>
                  <a:srgbClr val="1A1A1A"/>
                </a:solidFill>
                <a:latin typeface="Georgia" pitchFamily="34" charset="0"/>
                <a:ea typeface="Georgia" pitchFamily="34" charset="-122"/>
                <a:cs typeface="Georgia" pitchFamily="34" charset="-120"/>
              </a:rPr>
              <a:t>Day 10</a:t>
            </a:r>
            <a:pPr algn="l" indent="0" marL="0">
              <a:lnSpc>
                <a:spcPts val="1620"/>
              </a:lnSpc>
              <a:spcAft>
                <a:spcPts val="300"/>
              </a:spcAft>
              <a:buNone/>
            </a:pPr>
            <a:r>
              <a:rPr lang="en-US" sz="1200" dirty="0">
                <a:solidFill>
                  <a:srgbClr val="1A1A1A"/>
                </a:solidFill>
                <a:latin typeface="Georgia" pitchFamily="34" charset="0"/>
                <a:ea typeface="Georgia" pitchFamily="34" charset="-122"/>
                <a:cs typeface="Georgia" pitchFamily="34" charset="-120"/>
              </a:rPr>
              <a:t> — Project — design your own mental-math poster</a:t>
            </a:r>
            <a:endParaRPr lang="en-US" sz="1200" dirty="0"/>
          </a:p>
        </p:txBody>
      </p:sp>
      <p:sp>
        <p:nvSpPr>
          <p:cNvPr id="6" name="Text 4"/>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A1A1A"/>
                </a:solidFill>
                <a:latin typeface="Georgia" pitchFamily="34" charset="0"/>
                <a:ea typeface="Georgia" pitchFamily="34" charset="-122"/>
                <a:cs typeface="Georgia" pitchFamily="34" charset="-120"/>
              </a:rPr>
              <a:t>Senior · Module 05 — Dot Addition · IKS Curriculum</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05 — Dot Addition — Senior</dc:title>
  <dc:subject>PptxGenJS Presentation</dc:subject>
  <dc:creator>IKS Curriculum</dc:creator>
  <cp:lastModifiedBy>IKS Curriculum</cp:lastModifiedBy>
  <cp:revision>1</cp:revision>
  <dcterms:created xsi:type="dcterms:W3CDTF">2026-05-28T02:31:10Z</dcterms:created>
  <dcterms:modified xsi:type="dcterms:W3CDTF">2026-05-28T02:31:10Z</dcterms:modified>
</cp:coreProperties>
</file>