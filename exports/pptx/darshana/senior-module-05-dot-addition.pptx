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module-05-dot-addition - Darshana (60-min workshop)</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IKS Curriculum - senior band</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5 — Bindu Paddhati — Dot Addition (Darśana)</a:t>
            </a:r>
          </a:p>
        </p:txBody>
      </p:sp>
      <p:sp>
        <p:nvSpPr>
          <p:cNvPr id="3" name="Content Placeholder 2"/>
          <p:cNvSpPr>
            <a:spLocks noGrp="1"/>
          </p:cNvSpPr>
          <p:nvPr>
            <p:ph idx="1"/>
          </p:nvPr>
        </p:nvSpPr>
        <p:spPr/>
        <p:txBody>
          <a:bodyPr/>
          <a:lstStyle/>
          <a:p>
            <a:pPr lvl="0" indent="0" marL="0">
              <a:buNone/>
            </a:pPr>
            <a:r>
              <a:rPr b="1"/>
              <a:t>Sanskrit:</a:t>
            </a:r>
            <a:r>
              <a:rPr/>
              <a:t> </a:t>
            </a:r>
            <a:r>
              <a:rPr i="1"/>
              <a:t>Bindu Paddhati</a:t>
            </a:r>
            <a:r>
              <a:rPr/>
              <a:t> · </a:t>
            </a:r>
            <a:r>
              <a:rPr b="1"/>
              <a:t>Band:</a:t>
            </a:r>
            <a:r>
              <a:rPr/>
              <a:t> Senior (9-12) · </a:t>
            </a:r>
            <a:r>
              <a:rPr b="1"/>
              <a:t>Duration:</a:t>
            </a:r>
            <a:r>
              <a:rPr/>
              <a:t> 60 min · </a:t>
            </a:r>
            <a:r>
              <a:rPr b="1"/>
              <a:t>Path:</a:t>
            </a:r>
            <a:r>
              <a:rPr/>
              <a:t> Darśana (Workshop)</a:t>
            </a:r>
          </a:p>
          <a:p>
            <a:pPr lvl="0" indent="0" marL="0">
              <a:buNone/>
            </a:pPr>
            <a:r>
              <a:rPr/>
              <a:t>A 20th-century mental-arithmetic technique for column addition.</a:t>
            </a:r>
          </a:p>
          <a:p>
            <a:pPr lvl="0" indent="0" marL="1270000">
              <a:buNone/>
            </a:pPr>
            <a:r>
              <a:rPr sz="2000" b="1"/>
              <a:t>Darśana note.</a:t>
            </a:r>
            <a:r>
              <a:rPr sz="2000"/>
              <a:t> This workshop condenses Module 5’s full 10-day arc into one hour. For the deeper version — daily lesson plans, quizzes, assessments, slide decks — switch to </a:t>
            </a:r>
            <a:r>
              <a:rPr sz="2000" b="1">
                <a:hlinkClick r:id="rId2"/>
              </a:rPr>
              <a:t>Adhyayana</a:t>
            </a:r>
            <a:r>
              <a:rPr sz="2000"/>
              <a:t> (the Full Course path).</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Opening hook · 5 min</a:t>
            </a:r>
          </a:p>
          <a:p>
            <a:pPr lvl="0" indent="0" marL="0">
              <a:buNone/>
            </a:pPr>
            <a:r>
              <a:rPr/>
              <a:t>Project the problem: 47 + 38 + 26 + 91 + 53 = ? Time the class. Most: ~30-45 seconds. </a:t>
            </a:r>
            <a:r>
              <a:rPr i="1"/>
              <a:t>“There’s a faster method, documented in 20th-century Indian textbooks. It’s called Bindu Paddhati. Today we learn it AND examine its honest historical claim.”</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Core idea · 15 min</a:t>
            </a:r>
          </a:p>
          <a:p>
            <a:pPr lvl="0" indent="0" marL="0">
              <a:buNone/>
            </a:pPr>
            <a:r>
              <a:rPr b="1"/>
              <a:t>Bindu Paddhati — modern reconstruction.</a:t>
            </a:r>
          </a:p>
          <a:p>
            <a:pPr lvl="0" indent="0" marL="0">
              <a:buNone/>
            </a:pPr>
            <a:r>
              <a:rPr/>
              <a:t>The method as taught is well-documented in 20th-century Indian mental-arithmetic primers (e.g., Bharati Krishna Tirthaji’s </a:t>
            </a:r>
            <a:r>
              <a:rPr i="1"/>
              <a:t>Vedic Mathematics</a:t>
            </a:r>
            <a:r>
              <a:rPr/>
              <a:t>, 1965; later popularizations).</a:t>
            </a:r>
          </a:p>
          <a:p>
            <a:pPr lvl="0" indent="0" marL="0">
              <a:buNone/>
            </a:pPr>
            <a:r>
              <a:rPr b="1"/>
              <a:t>Honest historical framing:</a:t>
            </a:r>
            <a:r>
              <a:rPr/>
              <a:t> - The DOT NOTATION as such is a modern (20th-c.) pedagogical convention. - The PLACE-VALUE ARITHMETIC behind it is much older (Brahmi numerals, ~3rd c. BCE; place value formalised ~Āryabhaṭa, 499 CE). - The CLAIM that this is “Vedic” is contested (S.G. Dani, </a:t>
            </a:r>
            <a:r>
              <a:rPr i="1"/>
              <a:t>Frontline</a:t>
            </a:r>
            <a:r>
              <a:rPr/>
              <a:t> 1993). It’s a 20th-c. arithmetic synthesis that uses Sanskrit names.</a:t>
            </a:r>
          </a:p>
          <a:p>
            <a:pPr lvl="0" indent="0" marL="0">
              <a:buNone/>
            </a:pPr>
            <a:r>
              <a:rPr b="1"/>
              <a:t>Method itself:</a:t>
            </a:r>
            <a:r>
              <a:rPr/>
              <a:t> sound. </a:t>
            </a:r>
            <a:r>
              <a:rPr b="1"/>
              <a:t>Historical claim:</a:t>
            </a:r>
            <a:r>
              <a:rPr/>
              <a:t> modern, not ancient.</a:t>
            </a:r>
          </a:p>
          <a:p>
            <a:pPr lvl="0" indent="0" marL="0">
              <a:buNone/>
            </a:pPr>
            <a:r>
              <a:rPr/>
              <a:t>Both can be true. Use the method; teach the honest history.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Demonstration · 10 min</a:t>
            </a:r>
          </a:p>
          <a:p>
            <a:pPr lvl="0" indent="0" marL="0">
              <a:buNone/>
            </a:pPr>
            <a:r>
              <a:rPr b="1"/>
              <a:t>Source comparison.</a:t>
            </a:r>
            <a:r>
              <a:rPr/>
              <a:t> Project two passages: (a) Tirthaji 1965 description of </a:t>
            </a:r>
            <a:r>
              <a:rPr i="1"/>
              <a:t>Bindu Paddhati</a:t>
            </a:r>
            <a:r>
              <a:rPr/>
              <a:t>, (b) a Sanskrit excerpt claimed to be the “original” but actually a 20th-c. Sanskrit composition. Students compare: where does the documentary evidence lie? What’s the honest dating?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Source moment · 5 min</a:t>
            </a:r>
          </a:p>
          <a:p>
            <a:pPr lvl="0" indent="0" marL="0">
              <a:buNone/>
            </a:pPr>
            <a:r>
              <a:rPr b="1"/>
              <a:t>Quoted reference.</a:t>
            </a:r>
            <a:r>
              <a:rPr/>
              <a:t> Tirthaji, </a:t>
            </a:r>
            <a:r>
              <a:rPr i="1"/>
              <a:t>Vedic Mathematics</a:t>
            </a:r>
            <a:r>
              <a:rPr/>
              <a:t> (1965, posthumous), in the chapter on column addition:</a:t>
            </a:r>
          </a:p>
          <a:p>
            <a:pPr lvl="0" indent="0" marL="1270000">
              <a:buNone/>
            </a:pPr>
            <a:r>
              <a:rPr sz="2000"/>
              <a:t>“The dot above the digit signifies ten. The student need not carry mentally; the dot does the carrying.”</a:t>
            </a:r>
          </a:p>
          <a:p>
            <a:pPr lvl="0" indent="0" marL="0">
              <a:buNone/>
            </a:pPr>
            <a:r>
              <a:rPr/>
              <a:t>Real source, real date. </a:t>
            </a:r>
            <a:r>
              <a:rPr b="1"/>
              <a:t>Note:</a:t>
            </a:r>
            <a:r>
              <a:rPr/>
              <a:t> Tirthaji’s book itself is contested as “Vedic.” Use the technique honestly: it’s a 20th-c. mental-arithmetic system, not a Vedic-period text.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Hands-on activity · 15 min</a:t>
            </a:r>
          </a:p>
          <a:p>
            <a:pPr lvl="0" indent="0" marL="0">
              <a:buNone/>
            </a:pPr>
            <a:r>
              <a:rPr b="1"/>
              <a:t>Critical historical-mathematics essay.</a:t>
            </a:r>
            <a:r>
              <a:rPr/>
              <a:t> Each student writes 200 words: </a:t>
            </a:r>
            <a:r>
              <a:rPr i="1"/>
              <a:t>“The Bindu Paddhati is empirically useful but its claimed antiquity is unprovable. How should educators present such methods honestly? What is lost by overclaiming antiquity? What is lost by dismissing the method as not-really-ancient?”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 take-home · 10 min</a:t>
            </a:r>
          </a:p>
          <a:p>
            <a:pPr lvl="0" indent="0" marL="0">
              <a:buNone/>
            </a:pPr>
            <a:r>
              <a:rPr i="1"/>
              <a:t>“This module taught you a technique AND a historical critique of its claimed origin. How will you teach this honestly to a younger student?”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Go deeper into Adhyayana</a:t>
            </a:r>
          </a:p>
          <a:p>
            <a:pPr lvl="0" indent="0" marL="0">
              <a:buNone/>
            </a:pPr>
            <a:r>
              <a:rPr/>
              <a:t>The 10 days you’re skipping if you only do this workshop:</a:t>
            </a:r>
          </a:p>
          <a:p>
            <a:pPr lvl="0"/>
            <a:r>
              <a:rPr b="1"/>
              <a:t>Day 01</a:t>
            </a:r>
            <a:r>
              <a:rPr/>
              <a:t> — Why mental arithmetic? The setup</a:t>
            </a:r>
          </a:p>
          <a:p>
            <a:pPr lvl="0"/>
            <a:r>
              <a:rPr b="1"/>
              <a:t>Day 02</a:t>
            </a:r>
            <a:r>
              <a:rPr/>
              <a:t> — Single-digit + single-digit with the dot</a:t>
            </a:r>
          </a:p>
          <a:p>
            <a:pPr lvl="0"/>
            <a:r>
              <a:rPr b="1"/>
              <a:t>Day 03</a:t>
            </a:r>
            <a:r>
              <a:rPr/>
              <a:t> — Two-digit column addition</a:t>
            </a:r>
          </a:p>
          <a:p>
            <a:pPr lvl="0"/>
            <a:r>
              <a:rPr b="1"/>
              <a:t>Day 04</a:t>
            </a:r>
            <a:r>
              <a:rPr/>
              <a:t> — Three- and four-digit columns</a:t>
            </a:r>
          </a:p>
          <a:p>
            <a:pPr lvl="0"/>
            <a:r>
              <a:rPr b="1"/>
              <a:t>Day 05</a:t>
            </a:r>
            <a:r>
              <a:rPr/>
              <a:t> — Speed practice — Bindu Paddhati vs traditional</a:t>
            </a:r>
          </a:p>
          <a:p>
            <a:pPr lvl="0"/>
            <a:r>
              <a:rPr b="1"/>
              <a:t>Day 06</a:t>
            </a:r>
            <a:r>
              <a:rPr/>
              <a:t> — Why it works — place value + carry</a:t>
            </a:r>
          </a:p>
          <a:p>
            <a:pPr lvl="0"/>
            <a:r>
              <a:rPr b="1"/>
              <a:t>Day 07</a:t>
            </a:r>
            <a:r>
              <a:rPr/>
              <a:t> — Honest history — Tirthaji 1965, Dani 1993 critique</a:t>
            </a:r>
          </a:p>
          <a:p>
            <a:pPr lvl="0"/>
            <a:r>
              <a:rPr b="1"/>
              <a:t>Day 08</a:t>
            </a:r>
            <a:r>
              <a:rPr/>
              <a:t> — Bridge to computer arithmetic — carry-save addition</a:t>
            </a:r>
          </a:p>
          <a:p>
            <a:pPr lvl="0"/>
            <a:r>
              <a:rPr b="1"/>
              <a:t>Day 09</a:t>
            </a:r>
            <a:r>
              <a:rPr/>
              <a:t> — Mixed problem set</a:t>
            </a:r>
          </a:p>
          <a:p>
            <a:pPr lvl="0"/>
            <a:r>
              <a:rPr b="1"/>
              <a:t>Day 10</a:t>
            </a:r>
            <a:r>
              <a:rPr/>
              <a:t> — Project — design your own mental-math poster</a:t>
            </a:r>
          </a:p>
          <a:p>
            <a:pPr lvl="0" indent="0" marL="0">
              <a:buNone/>
            </a:pPr>
            <a:r>
              <a:rPr/>
              <a:t>→ </a:t>
            </a:r>
            <a:r>
              <a:rPr b="1">
                <a:hlinkClick r:id="rId2"/>
              </a:rPr>
              <a:t>Open the Adhyayana track for this module</a:t>
            </a:r>
            <a:r>
              <a:rPr/>
              <a:t> to access all 10 days, the 4-audience PDFs, the slide deck, the quizzes, and the project rubric.</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module-05-dot-addition - Darshana (60-min workshop)</dc:title>
  <dc:creator>IKS Curriculum - senior band</dc:creator>
  <cp:keywords/>
  <dcterms:created xsi:type="dcterms:W3CDTF">2026-05-28T02:11:05Z</dcterms:created>
  <dcterms:modified xsi:type="dcterms:W3CDTF">2026-05-28T02:11:05Z</dcterms:modified>
</cp:coreProperties>
</file>

<file path=docProps/custom.xml><?xml version="1.0" encoding="utf-8"?>
<Properties xmlns="http://schemas.openxmlformats.org/officeDocument/2006/custom-properties" xmlns:vt="http://schemas.openxmlformats.org/officeDocument/2006/docPropsVTypes"/>
</file>