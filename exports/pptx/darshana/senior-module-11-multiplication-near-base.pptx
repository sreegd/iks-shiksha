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module-11-multiplication-near-base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senior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11 — Multiplication Near a Power of 10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Nikhilam</a:t>
            </a:r>
            <a:r>
              <a:rPr/>
              <a:t> · </a:t>
            </a:r>
            <a:r>
              <a:rPr b="1"/>
              <a:t>Band:</a:t>
            </a:r>
            <a:r>
              <a:rPr/>
              <a:t> Senior (9-12)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Fast multiplication when numbers are near 10, 100, or 1000.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11’s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Project 998 × 997 = ? </a:t>
            </a:r>
            <a:r>
              <a:rPr i="1"/>
              <a:t>“Long multiplication takes ~60 seconds. Nikhilam takes ~5 seconds. Today: the method, the algebra, and when (NOT) to use it.”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Nikhilam multiplication — the algebra.</a:t>
            </a:r>
          </a:p>
          <a:p>
            <a:pPr lvl="0" indent="0" marL="0">
              <a:buNone/>
            </a:pPr>
            <a:r>
              <a:rPr/>
              <a:t>Identity: (B − a)(B − b) = B² − B(a + b) + ab = B[B − (a + b)] + ab = B[(B − a) − b] + ab.</a:t>
            </a:r>
          </a:p>
          <a:p>
            <a:pPr lvl="0" indent="0" marL="0">
              <a:buNone/>
            </a:pPr>
            <a:r>
              <a:rPr/>
              <a:t>So: - Cross-subtract = (B − a) − b OR (B − b) − a (both give B − a − b) - Multiply = ab</a:t>
            </a:r>
          </a:p>
          <a:p>
            <a:pPr lvl="0" indent="0" marL="0">
              <a:buNone/>
            </a:pPr>
            <a:r>
              <a:rPr/>
              <a:t>Padding: the “multiply” part must have as many digits as the base has zeros (e.g., for B = 100, pad to 2 digits).</a:t>
            </a:r>
          </a:p>
          <a:p>
            <a:pPr lvl="0" indent="0" marL="0">
              <a:buNone/>
            </a:pPr>
            <a:r>
              <a:rPr b="1"/>
              <a:t>Algebraic derivation FOR THE STUDENT</a:t>
            </a:r>
            <a:r>
              <a:rPr/>
              <a:t> (don’t just give them the rule): (100 − 3)(100 − 4) = 10000 − 400 − 300 + 12 = 10000 − 700 + 12 = 9300 + 12 = 9312.</a:t>
            </a:r>
          </a:p>
          <a:p>
            <a:pPr lvl="0" indent="0" marL="0">
              <a:buNone/>
            </a:pPr>
            <a:r>
              <a:rPr b="1"/>
              <a:t>When it’s faster:</a:t>
            </a:r>
            <a:r>
              <a:rPr/>
              <a:t> both factors WITHIN 5-10% of the same base. </a:t>
            </a:r>
            <a:r>
              <a:rPr b="1"/>
              <a:t>When it’s slower:</a:t>
            </a:r>
            <a:r>
              <a:rPr/>
              <a:t> factors far from any base.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Algebra-on-the-board demo + edge cases.</a:t>
            </a:r>
            <a:r>
              <a:rPr/>
              <a:t> Derive identity. Then demo: 999 × 998 (deficits 1, 2 → 997 | 002 → 997002). Then show a mixed case: 102 × 98 (excess + deficit → cross-subtract → 100, multiply 2 × 2 = 4 → answer 9996, but pad: 102 × 98 = 100² − 4 = 9996). Discuss.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 b="1"/>
              <a:t>Quoted reference.</a:t>
            </a:r>
            <a:r>
              <a:rPr/>
              <a:t> Tirthaji, </a:t>
            </a:r>
            <a:r>
              <a:rPr i="1"/>
              <a:t>Vedic Mathematics</a:t>
            </a:r>
            <a:r>
              <a:rPr/>
              <a:t> (1965), Sūtra 2 application to multiplication:</a:t>
            </a:r>
          </a:p>
          <a:p>
            <a:pPr lvl="0" indent="0" marL="1270000">
              <a:buNone/>
            </a:pPr>
            <a:r>
              <a:rPr sz="2000"/>
              <a:t>“When two numbers are both close to the same power of 10, use the deficits (or excesses) to compute the product.”</a:t>
            </a:r>
          </a:p>
          <a:p>
            <a:pPr lvl="0" indent="0" marL="0">
              <a:buNone/>
            </a:pPr>
            <a:r>
              <a:rPr/>
              <a:t>Sūtra 2 (</a:t>
            </a:r>
            <a:r>
              <a:rPr i="1"/>
              <a:t>Nikhilam</a:t>
            </a:r>
            <a:r>
              <a:rPr/>
              <a:t>) is used for BOTH subtraction (Module 9) and multiplication (this module). Same algebra, two applications.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Decision-tree poster.</a:t>
            </a:r>
            <a:r>
              <a:rPr/>
              <a:t> Each student designs a one-page flowchart: </a:t>
            </a:r>
            <a:r>
              <a:rPr i="1"/>
              <a:t>“Given a multiplication problem, which method do I use? Long, ×11, Nikhilam, near-base Nikhilam, or other?”</a:t>
            </a:r>
            <a:r>
              <a:rPr/>
              <a:t> Defend the boundaries.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“This module taught a special-case mental method. What’s the right balance in a curriculum between general algorithms and special-case tricks?”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Finger-trick prelude</a:t>
            </a:r>
          </a:p>
          <a:p>
            <a:pPr lvl="0"/>
            <a:r>
              <a:rPr b="1"/>
              <a:t>Day 02</a:t>
            </a:r>
            <a:r>
              <a:rPr/>
              <a:t> — 97 × 96 — two below base</a:t>
            </a:r>
          </a:p>
          <a:p>
            <a:pPr lvl="0"/>
            <a:r>
              <a:rPr b="1"/>
              <a:t>Day 03</a:t>
            </a:r>
            <a:r>
              <a:rPr/>
              <a:t> — 103 × 104 — two above base</a:t>
            </a:r>
          </a:p>
          <a:p>
            <a:pPr lvl="0"/>
            <a:r>
              <a:rPr b="1"/>
              <a:t>Day 04</a:t>
            </a:r>
            <a:r>
              <a:rPr/>
              <a:t> — Mixed cases</a:t>
            </a:r>
          </a:p>
          <a:p>
            <a:pPr lvl="0"/>
            <a:r>
              <a:rPr b="1"/>
              <a:t>Day 05</a:t>
            </a:r>
            <a:r>
              <a:rPr/>
              <a:t> — 3-digit near 1000</a:t>
            </a:r>
          </a:p>
          <a:p>
            <a:pPr lvl="0"/>
            <a:r>
              <a:rPr b="1"/>
              <a:t>Day 06</a:t>
            </a:r>
            <a:r>
              <a:rPr/>
              <a:t> — Algebra proof</a:t>
            </a:r>
          </a:p>
          <a:p>
            <a:pPr lvl="0"/>
            <a:r>
              <a:rPr b="1"/>
              <a:t>Day 07</a:t>
            </a:r>
            <a:r>
              <a:rPr/>
              <a:t> — When to use</a:t>
            </a:r>
          </a:p>
          <a:p>
            <a:pPr lvl="0"/>
            <a:r>
              <a:rPr b="1"/>
              <a:t>Day 08</a:t>
            </a:r>
            <a:r>
              <a:rPr/>
              <a:t> — Speed sprints</a:t>
            </a:r>
          </a:p>
          <a:p>
            <a:pPr lvl="0"/>
            <a:r>
              <a:rPr b="1"/>
              <a:t>Day 09</a:t>
            </a:r>
            <a:r>
              <a:rPr/>
              <a:t> — Mixed practice — combining ×11 and Nikhilam</a:t>
            </a:r>
          </a:p>
          <a:p>
            <a:pPr lvl="0"/>
            <a:r>
              <a:rPr b="1"/>
              <a:t>Day 10</a:t>
            </a:r>
            <a:r>
              <a:rPr/>
              <a:t> — Final assessment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module-11-multiplication-near-base - Darshana (60-min workshop)</dc:title>
  <dc:creator>IKS Curriculum - senior band</dc:creator>
  <cp:keywords/>
  <dcterms:created xsi:type="dcterms:W3CDTF">2026-05-28T02:11:11Z</dcterms:created>
  <dcterms:modified xsi:type="dcterms:W3CDTF">2026-05-28T02:11:11Z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