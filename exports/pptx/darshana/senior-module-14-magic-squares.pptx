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module-14-magic-squares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senior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14 — Magic Squares — Bhadragaṇita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Bhadragaṇita</a:t>
            </a:r>
            <a:r>
              <a:rPr/>
              <a:t> · </a:t>
            </a:r>
            <a:r>
              <a:rPr b="1"/>
              <a:t>Band:</a:t>
            </a:r>
            <a:r>
              <a:rPr/>
              <a:t> Senior (9-12)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Nārāyaṇa Paṇḍita’s 1356 CE magic-square algorithms.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14’s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 the Khajuraho 4×4 magic square (~10th c. CE) and Dürer’s Melencolia I 4×4 (1514). </a:t>
            </a:r>
            <a:r>
              <a:rPr i="1"/>
              <a:t>“Same combinatorial object. Today: Nārāyaṇa Paṇḍita’s 1356 CE algorithm — most rigorous pre-modern treatment of magic squares.”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Magic squares — combinatorics + history.</a:t>
            </a:r>
          </a:p>
          <a:p>
            <a:pPr lvl="0" indent="0" marL="0">
              <a:buNone/>
            </a:pPr>
            <a:r>
              <a:rPr b="1"/>
              <a:t>Algebra:</a:t>
            </a:r>
            <a:r>
              <a:rPr/>
              <a:t> - Magic constant M = n(n² + 1) / 2. - For n = 3: 15. For n = 4: 34. For n = 5: 65. - Number of essentially distinct 3 × 3 magic squares (using 1-9, up to symmetry): EXACTLY 1. - 4 × 4: 880 (Frenicle de Bessy, 1693). - 5 × 5: 275,305,224.</a:t>
            </a:r>
          </a:p>
          <a:p>
            <a:pPr lvl="0" indent="0" marL="0">
              <a:buNone/>
            </a:pPr>
            <a:r>
              <a:rPr b="1"/>
              <a:t>Nārāyaṇa Paṇḍita’s 1356 stair-step algorithm:</a:t>
            </a:r>
            <a:r>
              <a:rPr/>
              <a:t> - Place 1 in top-middle (or any specified start). - Move up-right; wrap with toroidal topology. - If destination occupied, move down instead.</a:t>
            </a:r>
          </a:p>
          <a:p>
            <a:pPr lvl="0" indent="0" marL="0">
              <a:buNone/>
            </a:pPr>
            <a:r>
              <a:rPr b="1"/>
              <a:t>Honest historical framing:</a:t>
            </a:r>
            <a:r>
              <a:rPr/>
              <a:t> - Lo Shu (China, ~9th c. BCE): earliest known 3 × 3 magic square. - Khajuraho (~10th c. CE): pan-diagonal 4 × 4 — sophisticated combinatorial property. - Gaṇita-kaumudī (1356 CE): rigorous algorithmic treatment. - Dürer (1514): European 4 × 4.</a:t>
            </a:r>
          </a:p>
          <a:p>
            <a:pPr lvl="0" indent="0" marL="0">
              <a:buNone/>
            </a:pPr>
            <a:r>
              <a:rPr/>
              <a:t>The mathematics is universal; the algorithmic systematisation by Nārāyaṇa is a genuine contribution to combinatorics.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Compare three magic squares.</a:t>
            </a:r>
            <a:r>
              <a:rPr/>
              <a:t> Khajuraho (4 × 4, pan-diagonal), Dürer (4 × 4, “ordinary”), and a stair-step 5 × 5. Identify what makes Khajuraho special.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 b="1"/>
              <a:t>Quoted reference.</a:t>
            </a:r>
            <a:r>
              <a:rPr/>
              <a:t> Nārāyaṇa Paṇḍita, </a:t>
            </a:r>
            <a:r>
              <a:rPr i="1"/>
              <a:t>Gaṇita-kaumudī</a:t>
            </a:r>
            <a:r>
              <a:rPr/>
              <a:t> (1356 CE), </a:t>
            </a:r>
            <a:r>
              <a:rPr i="1"/>
              <a:t>Bhadragaṇita</a:t>
            </a:r>
            <a:r>
              <a:rPr/>
              <a:t> chapter. The treatise systematises magic-square construction for any odd order. Translated and analysed by Kim Plofker in </a:t>
            </a:r>
            <a:r>
              <a:rPr i="1"/>
              <a:t>Mathematics in India</a:t>
            </a:r>
            <a:r>
              <a:rPr/>
              <a:t> (2009). Predates the most rigorous European treatments (Stifel 1544, Fermat 1640) by ~200 years.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Pan-diagonal 4 × 4 challenge.</a:t>
            </a:r>
            <a:r>
              <a:rPr/>
              <a:t> Construct a 4 × 4 magic square where ALL diagonals (including “broken” diagonals that wrap around) sum to 34. (Hint: the Khajuraho square is one such.) Time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“Nārāyaṇa’s 1356 work predates Stifel by ~200 years. Why is it absent from most Western histories of mathematics? Discuss the politics of mathematical historiography.”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Discover the 3 × 3</a:t>
            </a:r>
          </a:p>
          <a:p>
            <a:pPr lvl="0"/>
            <a:r>
              <a:rPr b="1"/>
              <a:t>Day 02</a:t>
            </a:r>
            <a:r>
              <a:rPr/>
              <a:t> — Magic constant</a:t>
            </a:r>
          </a:p>
          <a:p>
            <a:pPr lvl="0"/>
            <a:r>
              <a:rPr b="1"/>
              <a:t>Day 03</a:t>
            </a:r>
            <a:r>
              <a:rPr/>
              <a:t> — How many 3 × 3 magic squares?</a:t>
            </a:r>
          </a:p>
          <a:p>
            <a:pPr lvl="0"/>
            <a:r>
              <a:rPr b="1"/>
              <a:t>Day 04</a:t>
            </a:r>
            <a:r>
              <a:rPr/>
              <a:t> — Stair-step method</a:t>
            </a:r>
          </a:p>
          <a:p>
            <a:pPr lvl="0"/>
            <a:r>
              <a:rPr b="1"/>
              <a:t>Day 05</a:t>
            </a:r>
            <a:r>
              <a:rPr/>
              <a:t> — Practice — 5 × 5 and 7 × 7</a:t>
            </a:r>
          </a:p>
          <a:p>
            <a:pPr lvl="0"/>
            <a:r>
              <a:rPr b="1"/>
              <a:t>Day 06</a:t>
            </a:r>
            <a:r>
              <a:rPr/>
              <a:t> — 4 × 4 and the Khajuraho square</a:t>
            </a:r>
          </a:p>
          <a:p>
            <a:pPr lvl="0"/>
            <a:r>
              <a:rPr b="1"/>
              <a:t>Day 07</a:t>
            </a:r>
            <a:r>
              <a:rPr/>
              <a:t> — Historical context — Nārāyaṇa Paṇḍita</a:t>
            </a:r>
          </a:p>
          <a:p>
            <a:pPr lvl="0"/>
            <a:r>
              <a:rPr b="1"/>
              <a:t>Day 08</a:t>
            </a:r>
            <a:r>
              <a:rPr/>
              <a:t> — Cross-cultural — Lo Shu, Dürer, Indian</a:t>
            </a:r>
          </a:p>
          <a:p>
            <a:pPr lvl="0"/>
            <a:r>
              <a:rPr b="1"/>
              <a:t>Day 09</a:t>
            </a:r>
            <a:r>
              <a:rPr/>
              <a:t> — Design your own magic square</a:t>
            </a:r>
          </a:p>
          <a:p>
            <a:pPr lvl="0"/>
            <a:r>
              <a:rPr b="1"/>
              <a:t>Day 10</a:t>
            </a:r>
            <a:r>
              <a:rPr/>
              <a:t> — Final share + assessment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module-14-magic-squares - Darshana (60-min workshop)</dc:title>
  <dc:creator>IKS Curriculum - senior band</dc:creator>
  <cp:keywords/>
  <dcterms:created xsi:type="dcterms:W3CDTF">2026-05-28T02:11:14Z</dcterms:created>
  <dcterms:modified xsi:type="dcterms:W3CDTF">2026-05-28T02:11:14Z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