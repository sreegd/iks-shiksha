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module-08-yoga - Darshana (60-min workshop)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IKS Curriculum - senior band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Module 8 — Yoga and the Body (Darśana)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Sanskrit:</a:t>
            </a:r>
            <a:r>
              <a:rPr/>
              <a:t> </a:t>
            </a:r>
            <a:r>
              <a:rPr i="1"/>
              <a:t>Yoga</a:t>
            </a:r>
            <a:r>
              <a:rPr/>
              <a:t> · </a:t>
            </a:r>
            <a:r>
              <a:rPr b="1"/>
              <a:t>Band:</a:t>
            </a:r>
            <a:r>
              <a:rPr/>
              <a:t> Senior (9-12) · </a:t>
            </a:r>
            <a:r>
              <a:rPr b="1"/>
              <a:t>Duration:</a:t>
            </a:r>
            <a:r>
              <a:rPr/>
              <a:t> 60 min · </a:t>
            </a:r>
            <a:r>
              <a:rPr b="1"/>
              <a:t>Path:</a:t>
            </a:r>
            <a:r>
              <a:rPr/>
              <a:t> Darśana (Workshop)</a:t>
            </a:r>
          </a:p>
          <a:p>
            <a:pPr lvl="0" indent="0" marL="0">
              <a:buNone/>
            </a:pPr>
            <a:r>
              <a:rPr/>
              <a:t>Patañjali’s eight limbs and safe āsana practice.</a:t>
            </a:r>
          </a:p>
          <a:p>
            <a:pPr lvl="0" indent="0" marL="1270000">
              <a:buNone/>
            </a:pPr>
            <a:r>
              <a:rPr sz="2000" b="1"/>
              <a:t>Darśana note.</a:t>
            </a:r>
            <a:r>
              <a:rPr sz="2000"/>
              <a:t> This workshop condenses Module 8’s full 10-day arc into one hour. For the deeper version — daily lesson plans, quizzes, assessments, slide decks — switch to </a:t>
            </a:r>
            <a:r>
              <a:rPr sz="2000" b="1">
                <a:hlinkClick r:id="rId2"/>
              </a:rPr>
              <a:t>Adhyayana</a:t>
            </a:r>
            <a:r>
              <a:rPr sz="2000"/>
              <a:t> (the Full Course path).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Opening hook · 5 min</a:t>
            </a:r>
          </a:p>
          <a:p>
            <a:pPr lvl="0" indent="0" marL="0">
              <a:buNone/>
            </a:pPr>
            <a:r>
              <a:rPr/>
              <a:t>Project Patañjali’s Yogasūtra (~200 BCE-200 CE). 196 sūtras. Project the Aṣṭāṅga (eight-limbs) chapter — </a:t>
            </a:r>
            <a:r>
              <a:rPr i="1"/>
              <a:t>Sādhana-pāda</a:t>
            </a:r>
            <a:r>
              <a:rPr/>
              <a:t>, sūtras 28-29. </a:t>
            </a:r>
            <a:r>
              <a:rPr i="1"/>
              <a:t>“Modern global yoga = āsana + prāṇāyāma. Two of eight limbs. Today we see the full architecture.”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Core idea · 15 min</a:t>
            </a:r>
          </a:p>
          <a:p>
            <a:pPr lvl="0" indent="0" marL="0">
              <a:buNone/>
            </a:pPr>
            <a:r>
              <a:rPr b="1"/>
              <a:t>Patañjali’s Aṣṭāṅga Yoga — Yogasūtra (c. 200 BCE-200 CE).</a:t>
            </a:r>
          </a:p>
          <a:p>
            <a:pPr lvl="0" indent="-342900" marL="342900">
              <a:buAutoNum type="arabicPeriod"/>
            </a:pPr>
            <a:r>
              <a:rPr b="1"/>
              <a:t>Yamas</a:t>
            </a:r>
            <a:r>
              <a:rPr/>
              <a:t> (Sūtra 2.30): </a:t>
            </a:r>
            <a:r>
              <a:rPr i="1"/>
              <a:t>ahiṁsā, satya, asteya, brahmacarya, aparigraha</a:t>
            </a:r>
            <a:r>
              <a:rPr/>
              <a:t>. Universal ethics.</a:t>
            </a:r>
          </a:p>
          <a:p>
            <a:pPr lvl="0" indent="-342900" marL="342900">
              <a:buAutoNum type="arabicPeriod"/>
            </a:pPr>
            <a:r>
              <a:rPr b="1"/>
              <a:t>Niyamas</a:t>
            </a:r>
            <a:r>
              <a:rPr/>
              <a:t> (Sūtra 2.32): </a:t>
            </a:r>
            <a:r>
              <a:rPr i="1"/>
              <a:t>śauca, santoṣa, tapas, svādhyāya, īśvarapraṇidhāna</a:t>
            </a:r>
            <a:r>
              <a:rPr/>
              <a:t>. Personal observances.</a:t>
            </a:r>
          </a:p>
          <a:p>
            <a:pPr lvl="0" indent="-342900" marL="342900">
              <a:buAutoNum type="arabicPeriod"/>
            </a:pPr>
            <a:r>
              <a:rPr b="1"/>
              <a:t>Āsana</a:t>
            </a:r>
            <a:r>
              <a:rPr/>
              <a:t> (Sūtra 2.46): </a:t>
            </a:r>
            <a:r>
              <a:rPr i="1"/>
              <a:t>sthira-sukham āsanam</a:t>
            </a:r>
            <a:r>
              <a:rPr/>
              <a:t> — “steady and comfortable seat.” NOT primarily about flexibility.</a:t>
            </a:r>
          </a:p>
          <a:p>
            <a:pPr lvl="0" indent="-342900" marL="342900">
              <a:buAutoNum type="arabicPeriod"/>
            </a:pPr>
            <a:r>
              <a:rPr b="1"/>
              <a:t>Prāṇāyāma</a:t>
            </a:r>
            <a:r>
              <a:rPr/>
              <a:t> (Sūtra 2.49-53): breath regulation, modern parallel to autonomic-system entrainment. 5-8. </a:t>
            </a:r>
            <a:r>
              <a:rPr b="1"/>
              <a:t>Pratyāhāra → Samādhi</a:t>
            </a:r>
            <a:r>
              <a:rPr/>
              <a:t>: progressive meditative absorption.</a:t>
            </a:r>
          </a:p>
          <a:p>
            <a:pPr lvl="0" indent="0" marL="0">
              <a:buNone/>
            </a:pPr>
            <a:r>
              <a:rPr b="1"/>
              <a:t>Critical:</a:t>
            </a:r>
            <a:r>
              <a:rPr/>
              <a:t> Patañjali says āsana is “steady-comfortable seat” — for meditation. The modern flexibility-focused practice (e.g., Iyengar lineage) is a 20th-century reformation, not the original system. Honest framing matters.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Demonstration · 10 min</a:t>
            </a:r>
          </a:p>
          <a:p>
            <a:pPr lvl="0" indent="0" marL="0">
              <a:buNone/>
            </a:pPr>
            <a:r>
              <a:rPr b="1"/>
              <a:t>Source-text close read.</a:t>
            </a:r>
            <a:r>
              <a:rPr/>
              <a:t> Project Yogasūtra 2.46-48 (āsana definition). Compare with Iyengar’s </a:t>
            </a:r>
            <a:r>
              <a:rPr i="1"/>
              <a:t>Light on Yoga</a:t>
            </a:r>
            <a:r>
              <a:rPr/>
              <a:t> (1966) introduction. Discussion: what stayed same? What evolved?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moment · 5 min</a:t>
            </a:r>
          </a:p>
          <a:p>
            <a:pPr lvl="0" indent="0" marL="0">
              <a:buNone/>
            </a:pPr>
            <a:r>
              <a:rPr b="1"/>
              <a:t>Direct verse.</a:t>
            </a:r>
            <a:r>
              <a:rPr/>
              <a:t> Yogasūtra 1.2:</a:t>
            </a:r>
          </a:p>
          <a:p>
            <a:pPr lvl="0" indent="0" marL="1270000">
              <a:buNone/>
            </a:pPr>
            <a:r>
              <a:rPr sz="2000" i="1"/>
              <a:t>yogaḥ citta-vṛtti-nirodhaḥ</a:t>
            </a:r>
          </a:p>
          <a:p>
            <a:pPr lvl="0" indent="0" marL="0">
              <a:buNone/>
            </a:pPr>
            <a:r>
              <a:rPr/>
              <a:t>“Yoga is the cessation of the modifications of the mind-stuff.”</a:t>
            </a:r>
          </a:p>
          <a:p>
            <a:pPr lvl="0" indent="0" marL="0">
              <a:buNone/>
            </a:pPr>
            <a:r>
              <a:rPr/>
              <a:t>The entire eight-limb scaffolding is methodology for ONE goal: the </a:t>
            </a:r>
            <a:r>
              <a:rPr i="1"/>
              <a:t>citta-vṛtti-nirodha</a:t>
            </a:r>
            <a:r>
              <a:rPr/>
              <a:t>. Modern wellness-yoga has largely lost this framing.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Hands-on activity · 15 min</a:t>
            </a:r>
          </a:p>
          <a:p>
            <a:pPr lvl="0" indent="0" marL="0">
              <a:buNone/>
            </a:pPr>
            <a:r>
              <a:rPr b="1"/>
              <a:t>Compare three yoga traditions.</a:t>
            </a:r>
            <a:r>
              <a:rPr/>
              <a:t> Pairs research one: Patañjali Yogasūtra, Bhagavad Gītā ch. 6 (Dhyāna-Yoga), and the Haṭha Yoga Pradīpikā (~15th c. CE). Compare on: scope of practice, theological framing, treatment of the body.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Reflection + take-home · 10 min</a:t>
            </a:r>
          </a:p>
          <a:p>
            <a:pPr lvl="0" indent="0" marL="0">
              <a:buNone/>
            </a:pPr>
            <a:r>
              <a:rPr i="1"/>
              <a:t>“Yoga has been globalised, adapted, and commercialised since ~1960. What’s preserved? What’s lost? What’s added that wasn’t in the original?”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Go deeper into Adhyayana</a:t>
            </a:r>
          </a:p>
          <a:p>
            <a:pPr lvl="0" indent="0" marL="0">
              <a:buNone/>
            </a:pPr>
            <a:r>
              <a:rPr/>
              <a:t>The 10 days you’re skipping if you only do this workshop:</a:t>
            </a:r>
          </a:p>
          <a:p>
            <a:pPr lvl="0"/>
            <a:r>
              <a:rPr b="1"/>
              <a:t>Day 01</a:t>
            </a:r>
            <a:r>
              <a:rPr/>
              <a:t> — Yoga in your life — what is it really?</a:t>
            </a:r>
          </a:p>
          <a:p>
            <a:pPr lvl="0"/>
            <a:r>
              <a:rPr b="1"/>
              <a:t>Day 02</a:t>
            </a:r>
            <a:r>
              <a:rPr/>
              <a:t> — Yamas — five ethical restraints</a:t>
            </a:r>
          </a:p>
          <a:p>
            <a:pPr lvl="0"/>
            <a:r>
              <a:rPr b="1"/>
              <a:t>Day 03</a:t>
            </a:r>
            <a:r>
              <a:rPr/>
              <a:t> — Niyamas — five personal observances</a:t>
            </a:r>
          </a:p>
          <a:p>
            <a:pPr lvl="0"/>
            <a:r>
              <a:rPr b="1"/>
              <a:t>Day 04</a:t>
            </a:r>
            <a:r>
              <a:rPr/>
              <a:t> — Āsana — what Patañjali actually said</a:t>
            </a:r>
          </a:p>
          <a:p>
            <a:pPr lvl="0"/>
            <a:r>
              <a:rPr b="1"/>
              <a:t>Day 05</a:t>
            </a:r>
            <a:r>
              <a:rPr/>
              <a:t> — Prāṇāyāma — breath physiology</a:t>
            </a:r>
          </a:p>
          <a:p>
            <a:pPr lvl="0"/>
            <a:r>
              <a:rPr b="1"/>
              <a:t>Day 06</a:t>
            </a:r>
            <a:r>
              <a:rPr/>
              <a:t> — Pratyāhāra and Dhāraṇā — turning inward, focusing</a:t>
            </a:r>
          </a:p>
          <a:p>
            <a:pPr lvl="0"/>
            <a:r>
              <a:rPr b="1"/>
              <a:t>Day 07</a:t>
            </a:r>
            <a:r>
              <a:rPr/>
              <a:t> — Dhyāna — meditation as method</a:t>
            </a:r>
          </a:p>
          <a:p>
            <a:pPr lvl="0"/>
            <a:r>
              <a:rPr b="1"/>
              <a:t>Day 08</a:t>
            </a:r>
            <a:r>
              <a:rPr/>
              <a:t> — Samādhi — the goal</a:t>
            </a:r>
          </a:p>
          <a:p>
            <a:pPr lvl="0"/>
            <a:r>
              <a:rPr b="1"/>
              <a:t>Day 09</a:t>
            </a:r>
            <a:r>
              <a:rPr/>
              <a:t> — Modern yoga — what changed, what stayed</a:t>
            </a:r>
          </a:p>
          <a:p>
            <a:pPr lvl="0"/>
            <a:r>
              <a:rPr b="1"/>
              <a:t>Day 10</a:t>
            </a:r>
            <a:r>
              <a:rPr/>
              <a:t> — Personal practice plan + share</a:t>
            </a:r>
          </a:p>
          <a:p>
            <a:pPr lvl="0" indent="0" marL="0">
              <a:buNone/>
            </a:pPr>
            <a:r>
              <a:rPr/>
              <a:t>→ </a:t>
            </a:r>
            <a:r>
              <a:rPr b="1">
                <a:hlinkClick r:id="rId2"/>
              </a:rPr>
              <a:t>Open the Adhyayana track for this module</a:t>
            </a:r>
            <a:r>
              <a:rPr/>
              <a:t> to access all 10 days, the 4-audience PDFs, the slide deck, the quizzes, and the project rubric.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module-08-yoga - Darshana (60-min workshop)</dc:title>
  <dc:creator>IKS Curriculum - senior band</dc:creator>
  <cp:keywords/>
  <dcterms:created xsi:type="dcterms:W3CDTF">2026-05-28T02:11:08Z</dcterms:created>
  <dcterms:modified xsi:type="dcterms:W3CDTF">2026-05-28T02:11:08Z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