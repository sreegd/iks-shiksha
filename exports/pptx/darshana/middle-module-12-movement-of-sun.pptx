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module-12-movement-of-sun - Darshana (60-min workshop)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IKS Curriculum - middle band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12 — Movement of the Sun (Darśana)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Sanskrit:</a:t>
            </a:r>
            <a:r>
              <a:rPr/>
              <a:t> </a:t>
            </a:r>
            <a:r>
              <a:rPr i="1"/>
              <a:t>Sūrya-gati</a:t>
            </a:r>
            <a:r>
              <a:rPr/>
              <a:t> · </a:t>
            </a:r>
            <a:r>
              <a:rPr b="1"/>
              <a:t>Band:</a:t>
            </a:r>
            <a:r>
              <a:rPr/>
              <a:t> Middle (6-8) · </a:t>
            </a:r>
            <a:r>
              <a:rPr b="1"/>
              <a:t>Duration:</a:t>
            </a:r>
            <a:r>
              <a:rPr/>
              <a:t> 60 min · </a:t>
            </a:r>
            <a:r>
              <a:rPr b="1"/>
              <a:t>Path:</a:t>
            </a:r>
            <a:r>
              <a:rPr/>
              <a:t> Darśana (Workshop)</a:t>
            </a:r>
          </a:p>
          <a:p>
            <a:pPr lvl="0" indent="0" marL="0">
              <a:buNone/>
            </a:pPr>
            <a:r>
              <a:rPr/>
              <a:t>Solar year, solstices, equinoxes, and the 12 rāśis.</a:t>
            </a:r>
          </a:p>
          <a:p>
            <a:pPr lvl="0" indent="0" marL="1270000">
              <a:buNone/>
            </a:pPr>
            <a:r>
              <a:rPr sz="2000" b="1"/>
              <a:t>Darśana note.</a:t>
            </a:r>
            <a:r>
              <a:rPr sz="2000"/>
              <a:t> This workshop condenses Module 12’s full 10-day arc into one hour. For the deeper version — daily lesson plans, quizzes, assessments, slide decks — switch to </a:t>
            </a:r>
            <a:r>
              <a:rPr sz="2000" b="1">
                <a:hlinkClick r:id="rId2"/>
              </a:rPr>
              <a:t>Adhyayana</a:t>
            </a:r>
            <a:r>
              <a:rPr sz="2000"/>
              <a:t> (the Full Course path).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Opening hook · 5 min</a:t>
            </a:r>
          </a:p>
          <a:p>
            <a:pPr lvl="0" indent="0" marL="0">
              <a:buNone/>
            </a:pPr>
            <a:r>
              <a:rPr/>
              <a:t>Project a sunrise-direction composite (12 photos, one per month, same location). </a:t>
            </a:r>
            <a:r>
              <a:rPr i="1"/>
              <a:t>“The sunrise drifts north and south through the year. Why?”</a:t>
            </a:r>
            <a:r>
              <a:rPr/>
              <a:t> (Earth’s axial tilt.) </a:t>
            </a:r>
            <a:r>
              <a:rPr i="1"/>
              <a:t>“Today: the Indian framework — uttarāyaṇa, dakṣiṇāyana, and the 12 rāśis.”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Core idea · 15 min</a:t>
            </a:r>
          </a:p>
          <a:p>
            <a:pPr lvl="0" indent="0" marL="0">
              <a:buNone/>
            </a:pPr>
            <a:r>
              <a:rPr b="1"/>
              <a:t>The Sun’s annual journey:</a:t>
            </a:r>
          </a:p>
          <a:p>
            <a:pPr lvl="0" indent="-342900" marL="342900">
              <a:buAutoNum type="arabicPeriod"/>
            </a:pPr>
            <a:r>
              <a:rPr b="1"/>
              <a:t>Axial tilt</a:t>
            </a:r>
            <a:r>
              <a:rPr/>
              <a:t> (23.5°) → Sun’s apparent path drifts north/south.</a:t>
            </a:r>
          </a:p>
          <a:p>
            <a:pPr lvl="0" indent="-342900" marL="342900">
              <a:buAutoNum type="arabicPeriod"/>
            </a:pPr>
            <a:r>
              <a:rPr b="1"/>
              <a:t>Uttarāyaṇa</a:t>
            </a:r>
            <a:r>
              <a:rPr/>
              <a:t> (Dec 21 → June 21): Sun rises further north each day.</a:t>
            </a:r>
          </a:p>
          <a:p>
            <a:pPr lvl="0" indent="-342900" marL="342900">
              <a:buAutoNum type="arabicPeriod"/>
            </a:pPr>
            <a:r>
              <a:rPr b="1"/>
              <a:t>Dakṣiṇāyana</a:t>
            </a:r>
            <a:r>
              <a:rPr/>
              <a:t> (June 21 → Dec 21): Sun rises further south each day.</a:t>
            </a:r>
          </a:p>
          <a:p>
            <a:pPr lvl="0" indent="-342900" marL="342900">
              <a:buAutoNum type="arabicPeriod"/>
            </a:pPr>
            <a:r>
              <a:rPr b="1"/>
              <a:t>Solstices:</a:t>
            </a:r>
            <a:r>
              <a:rPr/>
              <a:t> June 21 (Sun farthest north), Dec 21 (farthest south).</a:t>
            </a:r>
          </a:p>
          <a:p>
            <a:pPr lvl="0" indent="-342900" marL="342900">
              <a:buAutoNum type="arabicPeriod"/>
            </a:pPr>
            <a:r>
              <a:rPr b="1"/>
              <a:t>Equinoxes:</a:t>
            </a:r>
            <a:r>
              <a:rPr/>
              <a:t> March 21, Sept 22 (Sun crosses the equator, day = night everywhere).</a:t>
            </a:r>
          </a:p>
          <a:p>
            <a:pPr lvl="0" indent="-342900" marL="342900">
              <a:buAutoNum type="arabicPeriod"/>
            </a:pPr>
            <a:r>
              <a:rPr b="1"/>
              <a:t>12 rāśis:</a:t>
            </a:r>
            <a:r>
              <a:rPr/>
              <a:t> the ecliptic divided into 12 × 30° segments. Sun travels through ~1 rāśi per month.</a:t>
            </a:r>
          </a:p>
          <a:p>
            <a:pPr lvl="0" indent="-342900" marL="342900">
              <a:buAutoNum type="arabicPeriod"/>
            </a:pPr>
            <a:r>
              <a:rPr b="1"/>
              <a:t>Saṅkrānti:</a:t>
            </a:r>
            <a:r>
              <a:rPr/>
              <a:t> the day Sun moves from one rāśi to the next. Makara Saṅkrānti (Sun enters Capricorn) ~ Jan 14.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Demonstration · 10 min</a:t>
            </a:r>
          </a:p>
          <a:p>
            <a:pPr lvl="0" indent="0" marL="0">
              <a:buNone/>
            </a:pPr>
            <a:r>
              <a:rPr/>
              <a:t>Globe + torch demo: tilt the globe, walk torch around. Show how axial tilt creates seasons. Compute today’s ayanāṁśa (use a panchanga app).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moment · 5 min</a:t>
            </a:r>
          </a:p>
          <a:p>
            <a:pPr lvl="0" indent="0" marL="0">
              <a:buNone/>
            </a:pPr>
            <a:r>
              <a:rPr/>
              <a:t>Paraphrase Sūrya-siddhānta, ch. 14: </a:t>
            </a:r>
            <a:r>
              <a:rPr i="1"/>
              <a:t>“The Sun travels along the ecliptic. In one year it completes one revolution through the 12 rāśis.”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Hands-on activity · 15 min</a:t>
            </a:r>
          </a:p>
          <a:p>
            <a:pPr lvl="0" indent="0" marL="0">
              <a:buNone/>
            </a:pPr>
            <a:r>
              <a:rPr b="1"/>
              <a:t>Personal solar calendar.</a:t>
            </a:r>
            <a:r>
              <a:rPr/>
              <a:t> Mark current month, ayanāṁśa, current rāśi, next saṅkrānti. Predict your birthday’s rāśi (use a panchanga). Compare with classmates.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Reflection + take-home · 10 min</a:t>
            </a:r>
          </a:p>
          <a:p>
            <a:pPr lvl="0" indent="0" marL="0">
              <a:buNone/>
            </a:pPr>
            <a:r>
              <a:rPr i="1"/>
              <a:t>“Why does Makara Saṅkrānti (Jan 14) not match the December solstice exactly? What does the gap tell us?”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Go deeper into Adhyayana</a:t>
            </a:r>
          </a:p>
          <a:p>
            <a:pPr lvl="0" indent="0" marL="0">
              <a:buNone/>
            </a:pPr>
            <a:r>
              <a:rPr/>
              <a:t>The 10 days you’re skipping if you only do this workshop:</a:t>
            </a:r>
          </a:p>
          <a:p>
            <a:pPr lvl="0"/>
            <a:r>
              <a:rPr b="1"/>
              <a:t>Day 01</a:t>
            </a:r>
            <a:r>
              <a:rPr/>
              <a:t> — Sun’s yearly path</a:t>
            </a:r>
          </a:p>
          <a:p>
            <a:pPr lvl="0"/>
            <a:r>
              <a:rPr b="1"/>
              <a:t>Day 02</a:t>
            </a:r>
            <a:r>
              <a:rPr/>
              <a:t> — Axial tilt and seasons</a:t>
            </a:r>
          </a:p>
          <a:p>
            <a:pPr lvl="0"/>
            <a:r>
              <a:rPr b="1"/>
              <a:t>Day 03</a:t>
            </a:r>
            <a:r>
              <a:rPr/>
              <a:t> — Uttarāyaṇa and Dakṣiṇāyana</a:t>
            </a:r>
          </a:p>
          <a:p>
            <a:pPr lvl="0"/>
            <a:r>
              <a:rPr b="1"/>
              <a:t>Day 04</a:t>
            </a:r>
            <a:r>
              <a:rPr/>
              <a:t> — Equinoxes — viṣuva</a:t>
            </a:r>
          </a:p>
          <a:p>
            <a:pPr lvl="0"/>
            <a:r>
              <a:rPr b="1"/>
              <a:t>Day 05</a:t>
            </a:r>
            <a:r>
              <a:rPr/>
              <a:t> — 12 rāśis</a:t>
            </a:r>
          </a:p>
          <a:p>
            <a:pPr lvl="0"/>
            <a:r>
              <a:rPr b="1"/>
              <a:t>Day 06</a:t>
            </a:r>
            <a:r>
              <a:rPr/>
              <a:t> — Saṅkrānti moments</a:t>
            </a:r>
          </a:p>
          <a:p>
            <a:pPr lvl="0"/>
            <a:r>
              <a:rPr b="1"/>
              <a:t>Day 07</a:t>
            </a:r>
            <a:r>
              <a:rPr/>
              <a:t> — Sāyana vs nirayana — the ayanāṁśa</a:t>
            </a:r>
          </a:p>
          <a:p>
            <a:pPr lvl="0"/>
            <a:r>
              <a:rPr b="1"/>
              <a:t>Day 08</a:t>
            </a:r>
            <a:r>
              <a:rPr/>
              <a:t> — Precession of equinoxes</a:t>
            </a:r>
          </a:p>
          <a:p>
            <a:pPr lvl="0"/>
            <a:r>
              <a:rPr b="1"/>
              <a:t>Day 09</a:t>
            </a:r>
            <a:r>
              <a:rPr/>
              <a:t> — Cross-cultural calendars — solar systems</a:t>
            </a:r>
          </a:p>
          <a:p>
            <a:pPr lvl="0"/>
            <a:r>
              <a:rPr b="1"/>
              <a:t>Day 10</a:t>
            </a:r>
            <a:r>
              <a:rPr/>
              <a:t> — Final share + personal calendar</a:t>
            </a:r>
          </a:p>
          <a:p>
            <a:pPr lvl="0" indent="0" marL="0">
              <a:buNone/>
            </a:pPr>
            <a:r>
              <a:rPr/>
              <a:t>→ </a:t>
            </a:r>
            <a:r>
              <a:rPr b="1">
                <a:hlinkClick r:id="rId2"/>
              </a:rPr>
              <a:t>Open the Adhyayana track for this module</a:t>
            </a:r>
            <a:r>
              <a:rPr/>
              <a:t> to access all 10 days, the 4-audience PDFs, the slide deck, the quizzes, and the project rubric.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module-12-movement-of-sun - Darshana (60-min workshop)</dc:title>
  <dc:creator>IKS Curriculum - middle band</dc:creator>
  <cp:keywords/>
  <dcterms:created xsi:type="dcterms:W3CDTF">2026-05-28T02:10:55Z</dcterms:created>
  <dcterms:modified xsi:type="dcterms:W3CDTF">2026-05-28T02:10:55Z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