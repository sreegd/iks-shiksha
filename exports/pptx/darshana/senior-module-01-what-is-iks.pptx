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module-01-what-is-iks - Darshana (60-min workshop)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IKS Curriculum - senior band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 What is IKS? (Darśana)</a:t>
            </a:r>
          </a:p>
        </p:txBody>
      </p:sp>
      <p:sp>
        <p:nvSpPr>
          <p:cNvPr id="3" name="Content Placeholder 2"/>
          <p:cNvSpPr>
            <a:spLocks noGrp="1"/>
          </p:cNvSpPr>
          <p:nvPr>
            <p:ph idx="1"/>
          </p:nvPr>
        </p:nvSpPr>
        <p:spPr/>
        <p:txBody>
          <a:bodyPr/>
          <a:lstStyle/>
          <a:p>
            <a:pPr lvl="0" indent="0" marL="0">
              <a:buNone/>
            </a:pPr>
            <a:r>
              <a:rPr b="1"/>
              <a:t>Sanskrit:</a:t>
            </a:r>
            <a:r>
              <a:rPr/>
              <a:t> </a:t>
            </a:r>
            <a:r>
              <a:rPr i="1"/>
              <a:t>Bhāratīya Jñāna-Paramparā</a:t>
            </a:r>
            <a:r>
              <a:rPr/>
              <a:t> · </a:t>
            </a:r>
            <a:r>
              <a:rPr b="1"/>
              <a:t>Band:</a:t>
            </a:r>
            <a:r>
              <a:rPr/>
              <a:t> Senior (9-12) · </a:t>
            </a:r>
            <a:r>
              <a:rPr b="1"/>
              <a:t>Duration:</a:t>
            </a:r>
            <a:r>
              <a:rPr/>
              <a:t> 60 min · </a:t>
            </a:r>
            <a:r>
              <a:rPr b="1"/>
              <a:t>Path:</a:t>
            </a:r>
            <a:r>
              <a:rPr/>
              <a:t> Darśana (Workshop)</a:t>
            </a:r>
          </a:p>
          <a:p>
            <a:pPr lvl="0" indent="0" marL="0">
              <a:buNone/>
            </a:pPr>
            <a:r>
              <a:rPr/>
              <a:t>The map of Indian Knowledge Systems.</a:t>
            </a:r>
          </a:p>
          <a:p>
            <a:pPr lvl="0" indent="0" marL="1270000">
              <a:buNone/>
            </a:pPr>
            <a:r>
              <a:rPr sz="2000" b="1"/>
              <a:t>Darśana note.</a:t>
            </a:r>
            <a:r>
              <a:rPr sz="2000"/>
              <a:t> This workshop condenses Module 1’s full 10-day arc into one hour. For the deeper version — daily lesson plans, quizzes, assessments, slide decks — switch to </a:t>
            </a:r>
            <a:r>
              <a:rPr sz="2000" b="1">
                <a:hlinkClick r:id="rId2"/>
              </a:rPr>
              <a:t>Adhyayana</a:t>
            </a:r>
            <a:r>
              <a:rPr sz="2000"/>
              <a:t> (the Full Course path).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Opening hook · 5 min</a:t>
            </a:r>
          </a:p>
          <a:p>
            <a:pPr lvl="0" indent="0" marL="0">
              <a:buNone/>
            </a:pPr>
            <a:r>
              <a:rPr/>
              <a:t>Show side-by-side: Āryabhaṭa’s value of π (3.1416, c. 499 CE) and Aryabhata-I’s heliocentric hint. Ask: </a:t>
            </a:r>
            <a:r>
              <a:rPr i="1"/>
              <a:t>“Which two of these are not in your science textbook? Why might that be?”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Core idea · 15 min</a:t>
            </a:r>
          </a:p>
          <a:p>
            <a:pPr lvl="0" indent="0" marL="0">
              <a:buNone/>
            </a:pPr>
            <a:r>
              <a:rPr b="1"/>
              <a:t>IKS = the documented Indian knowledge traditions, from the Saraswati-Sindhu civilisation (~3000 BCE) through the colonial period.</a:t>
            </a:r>
          </a:p>
          <a:p>
            <a:pPr lvl="0" indent="0" marL="0">
              <a:buNone/>
            </a:pPr>
            <a:r>
              <a:rPr/>
              <a:t>Three useful framings:</a:t>
            </a:r>
          </a:p>
          <a:p>
            <a:pPr lvl="0" indent="-342900" marL="342900">
              <a:buAutoNum type="arabicPeriod"/>
            </a:pPr>
            <a:r>
              <a:rPr b="1"/>
              <a:t>The Vedāṅga / Upaveda / Darśana taxonomy</a:t>
            </a:r>
            <a:r>
              <a:rPr/>
              <a:t> (canonical) — six Vedic limbs, four applied sciences, six philosophical schools.</a:t>
            </a:r>
          </a:p>
          <a:p>
            <a:pPr lvl="0" indent="-342900" marL="342900">
              <a:buAutoNum type="arabicPeriod"/>
            </a:pPr>
            <a:r>
              <a:rPr b="1"/>
              <a:t>The science-vs-religion problem.</a:t>
            </a:r>
            <a:r>
              <a:rPr/>
              <a:t> Some of IKS (jyotiṣa-as-astronomy, Āyurveda-as-medicine) maps onto empirical disciplines. Some (mantras-as-ritual, kāla-as-cosmology) does not. Distinguish carefully.</a:t>
            </a:r>
          </a:p>
          <a:p>
            <a:pPr lvl="0" indent="-342900" marL="342900">
              <a:buAutoNum type="arabicPeriod"/>
            </a:pPr>
            <a:r>
              <a:rPr b="1"/>
              <a:t>The historical question.</a:t>
            </a:r>
            <a:r>
              <a:rPr/>
              <a:t> Documented dates and authors: Pāṇini (~500 BCE, grammar), Caraka (~200 BCE, medicine), Āryabhaṭa (499 CE, astronomy), Bhāskara II (1150 CE, math). These are real scholars with verifiable corpora.</a:t>
            </a:r>
          </a:p>
          <a:p>
            <a:pPr lvl="0" indent="0" marL="0">
              <a:buNone/>
            </a:pPr>
            <a:r>
              <a:rPr/>
              <a:t>Honest framing: IKS is neither uniformly ancient nor uniformly scientific. It is a documented intellectual tradition with reform, debate, and dates.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Demonstration · 10 min</a:t>
                </a:r>
              </a:p>
              <a:p>
                <a:pPr lvl="0" indent="0" marL="0">
                  <a:buNone/>
                </a:pPr>
                <a:r>
                  <a:rPr b="1"/>
                  <a:t>Project Āryabhaṭa’s sine table</a:t>
                </a:r>
                <a:r>
                  <a:rPr/>
                  <a:t> (rough chart, 24 entries, c. 499 CE) and Madhava’s infinite series for π (~1400 CE, 250 years before Leibniz).</a:t>
                </a:r>
              </a:p>
              <a:p>
                <a:pPr lvl="0" indent="0" marL="0">
                  <a:buNone/>
                </a:pPr>
                <a:r>
                  <a:rPr/>
                  <a:t>Show the Mādhava formula:</a:t>
                </a:r>
              </a:p>
              <a:p>
                <a:pPr lvl="0" indent="0" marL="0">
                  <a:buNone/>
                </a:pPr>
                <a14:m>
                  <m:oMathPara xmlns:m="http://schemas.openxmlformats.org/officeDocument/2006/math">
                    <m:oMathParaPr>
                      <m:jc m:val="center"/>
                    </m:oMathParaPr>
                    <m:oMath>
                      <m:r>
                        <m:t>π</m:t>
                      </m:r>
                      <m:r>
                        <m:rPr>
                          <m:sty m:val="p"/>
                        </m:rPr>
                        <m:t>=</m:t>
                      </m:r>
                      <m:r>
                        <m:t>4</m:t>
                      </m:r>
                      <m:d>
                        <m:dPr>
                          <m:begChr m:val="("/>
                          <m:sepChr m:val=""/>
                          <m:endChr m:val=")"/>
                          <m:grow/>
                        </m:dPr>
                        <m:e>
                          <m:r>
                            <m:t>1</m:t>
                          </m:r>
                          <m:r>
                            <m:rPr>
                              <m:sty m:val="p"/>
                            </m:rPr>
                            <m:t>−</m:t>
                          </m:r>
                          <m:f>
                            <m:fPr>
                              <m:type m:val="bar"/>
                            </m:fPr>
                            <m:num>
                              <m:r>
                                <m:t>1</m:t>
                              </m:r>
                            </m:num>
                            <m:den>
                              <m:r>
                                <m:t>3</m:t>
                              </m:r>
                            </m:den>
                          </m:f>
                          <m:r>
                            <m:rPr>
                              <m:sty m:val="p"/>
                            </m:rPr>
                            <m:t>+</m:t>
                          </m:r>
                          <m:f>
                            <m:fPr>
                              <m:type m:val="bar"/>
                            </m:fPr>
                            <m:num>
                              <m:r>
                                <m:t>1</m:t>
                              </m:r>
                            </m:num>
                            <m:den>
                              <m:r>
                                <m:t>5</m:t>
                              </m:r>
                            </m:den>
                          </m:f>
                          <m:r>
                            <m:rPr>
                              <m:sty m:val="p"/>
                            </m:rPr>
                            <m:t>−</m:t>
                          </m:r>
                          <m:f>
                            <m:fPr>
                              <m:type m:val="bar"/>
                            </m:fPr>
                            <m:num>
                              <m:r>
                                <m:t>1</m:t>
                              </m:r>
                            </m:num>
                            <m:den>
                              <m:r>
                                <m:t>7</m:t>
                              </m:r>
                            </m:den>
                          </m:f>
                          <m:r>
                            <m:rPr>
                              <m:sty m:val="p"/>
                            </m:rPr>
                            <m:t>+</m:t>
                          </m:r>
                          <m:r>
                            <m:rPr>
                              <m:sty m:val="p"/>
                            </m:rPr>
                            <m:t>⋯</m:t>
                          </m:r>
                        </m:e>
                      </m:d>
                    </m:oMath>
                  </m:oMathPara>
                </a14:m>
              </a:p>
              <a:p>
                <a:pPr lvl="0" indent="0" marL="0">
                  <a:buNone/>
                </a:pPr>
                <a:r>
                  <a:rPr/>
                  <a:t>Discussion: </a:t>
                </a:r>
                <a:r>
                  <a:rPr i="1"/>
                  <a:t>“This is the Leibniz series, attested in Kerala 250 years before Leibniz. Why isn’t this in your maths textbook? What does its absence tell us about the politics of mathematical history?”</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Source moment · 5 min</a:t>
            </a:r>
          </a:p>
          <a:p>
            <a:pPr lvl="0" indent="0" marL="0">
              <a:buNone/>
            </a:pPr>
            <a:r>
              <a:rPr/>
              <a:t>Read aloud Āryabhaṭīya, </a:t>
            </a:r>
            <a:r>
              <a:rPr i="1"/>
              <a:t>Gaṇitapāda</a:t>
            </a:r>
            <a:r>
              <a:rPr/>
              <a:t> 1: </a:t>
            </a:r>
            <a:r>
              <a:rPr i="1"/>
              <a:t>“brahmā kṛtaṁ paramaṁ rāhuṁ ca śaśinaṁ ravim…”</a:t>
            </a:r>
            <a:r>
              <a:rPr/>
              <a:t> (the invocation), followed by Āryabhaṭa’s heliocentric hint in </a:t>
            </a:r>
            <a:r>
              <a:rPr i="1"/>
              <a:t>Gola-pāda</a:t>
            </a:r>
            <a:r>
              <a:rPr/>
              <a:t> — </a:t>
            </a:r>
            <a:r>
              <a:rPr i="1"/>
              <a:t>“the apparent westward motion of stars at the equator is due to the earth itself moving eastward.”</a:t>
            </a:r>
            <a:r>
              <a:rPr/>
              <a:t> Read alongside the matching paragraph from a 21st-c. NCERT physics textbook on Earth’s rotation.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Hands-on activity · 15 min</a:t>
            </a:r>
          </a:p>
          <a:p>
            <a:pPr lvl="0" indent="0" marL="0">
              <a:buNone/>
            </a:pPr>
            <a:r>
              <a:rPr b="1"/>
              <a:t>Source-criticism exercise.</a:t>
            </a:r>
            <a:r>
              <a:rPr/>
              <a:t> Distribute 4 short paragraphs (cut from popular media articles claiming “ancient Indian science discovered X”). Pairs evaluate each:</a:t>
            </a:r>
          </a:p>
          <a:p>
            <a:pPr lvl="0" indent="-342900" marL="342900">
              <a:buAutoNum type="arabicPeriod"/>
            </a:pPr>
            <a:r>
              <a:rPr/>
              <a:t>Is the claim verifiable? (Author? Date? Manuscript?)</a:t>
            </a:r>
          </a:p>
          <a:p>
            <a:pPr lvl="0" indent="-342900" marL="342900">
              <a:buAutoNum type="arabicPeriod"/>
            </a:pPr>
            <a:r>
              <a:rPr/>
              <a:t>What is the manuscript evidence?</a:t>
            </a:r>
          </a:p>
          <a:p>
            <a:pPr lvl="0" indent="-342900" marL="342900">
              <a:buAutoNum type="arabicPeriod"/>
            </a:pPr>
            <a:r>
              <a:rPr/>
              <a:t>Is the modern parallel accurate, exaggerated, or invented?</a:t>
            </a:r>
          </a:p>
          <a:p>
            <a:pPr lvl="0" indent="0" marL="0">
              <a:buNone/>
            </a:pPr>
            <a:r>
              <a:rPr/>
              <a:t>Each pair classifies the 4 claims as: </a:t>
            </a:r>
            <a:r>
              <a:rPr i="1"/>
              <a:t>real (documented)</a:t>
            </a:r>
            <a:r>
              <a:rPr/>
              <a:t>, </a:t>
            </a:r>
            <a:r>
              <a:rPr i="1"/>
              <a:t>partially exaggerated</a:t>
            </a:r>
            <a:r>
              <a:rPr/>
              <a:t>, </a:t>
            </a:r>
            <a:r>
              <a:rPr i="1"/>
              <a:t>anachronistic</a:t>
            </a:r>
            <a:r>
              <a:rPr/>
              <a:t>, </a:t>
            </a:r>
            <a:r>
              <a:rPr i="1"/>
              <a:t>fabricated</a:t>
            </a:r>
            <a:r>
              <a:rPr/>
              <a:t>. Class discusses.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 take-home · 10 min</a:t>
            </a:r>
          </a:p>
          <a:p>
            <a:pPr lvl="0" indent="0" marL="0">
              <a:buNone/>
            </a:pPr>
            <a:r>
              <a:rPr i="1"/>
              <a:t>“Distinguish three things: (1) what’s ancient AND scientifically valid, (2) what’s ancient AND historically interesting BUT no longer scientifically used, (3) what’s claimed as ancient BUT is actually a modern reconstruction. Give one example of each from your prior knowledge.”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 deeper into Adhyayana</a:t>
            </a:r>
          </a:p>
          <a:p>
            <a:pPr lvl="0" indent="0" marL="0">
              <a:buNone/>
            </a:pPr>
            <a:r>
              <a:rPr/>
              <a:t>The 10 days you’re skipping if you only do this workshop:</a:t>
            </a:r>
          </a:p>
          <a:p>
            <a:pPr lvl="0"/>
            <a:r>
              <a:rPr b="1"/>
              <a:t>Day 01</a:t>
            </a:r>
            <a:r>
              <a:rPr/>
              <a:t> — Why IKS now? The mapping problem</a:t>
            </a:r>
          </a:p>
          <a:p>
            <a:pPr lvl="0"/>
            <a:r>
              <a:rPr b="1"/>
              <a:t>Day 02</a:t>
            </a:r>
            <a:r>
              <a:rPr/>
              <a:t> — Vedas and Vedāṅgas: the six supporting sciences</a:t>
            </a:r>
          </a:p>
          <a:p>
            <a:pPr lvl="0"/>
            <a:r>
              <a:rPr b="1"/>
              <a:t>Day 03</a:t>
            </a:r>
            <a:r>
              <a:rPr/>
              <a:t> — Upavedas: applied disciplines</a:t>
            </a:r>
          </a:p>
          <a:p>
            <a:pPr lvl="0"/>
            <a:r>
              <a:rPr b="1"/>
              <a:t>Day 04</a:t>
            </a:r>
            <a:r>
              <a:rPr/>
              <a:t> — Itihāsa and Purāṇas: history-as-story</a:t>
            </a:r>
          </a:p>
          <a:p>
            <a:pPr lvl="0"/>
            <a:r>
              <a:rPr b="1"/>
              <a:t>Day 05</a:t>
            </a:r>
            <a:r>
              <a:rPr/>
              <a:t> — Six Darśanas: the philosophical schools</a:t>
            </a:r>
          </a:p>
          <a:p>
            <a:pPr lvl="0"/>
            <a:r>
              <a:rPr b="1"/>
              <a:t>Day 06</a:t>
            </a:r>
            <a:r>
              <a:rPr/>
              <a:t> — Named figures: Pāṇini to Āryabhaṭa</a:t>
            </a:r>
          </a:p>
          <a:p>
            <a:pPr lvl="0"/>
            <a:r>
              <a:rPr b="1"/>
              <a:t>Day 07</a:t>
            </a:r>
            <a:r>
              <a:rPr/>
              <a:t> — Source discipline: what we can verify</a:t>
            </a:r>
          </a:p>
          <a:p>
            <a:pPr lvl="0"/>
            <a:r>
              <a:rPr b="1"/>
              <a:t>Day 08</a:t>
            </a:r>
            <a:r>
              <a:rPr/>
              <a:t> — IKS meets modern science: bridges and tensions</a:t>
            </a:r>
          </a:p>
          <a:p>
            <a:pPr lvl="0"/>
            <a:r>
              <a:rPr b="1"/>
              <a:t>Day 09</a:t>
            </a:r>
            <a:r>
              <a:rPr/>
              <a:t> — NEP 2020 and IKS integration</a:t>
            </a:r>
          </a:p>
          <a:p>
            <a:pPr lvl="0"/>
            <a:r>
              <a:rPr b="1"/>
              <a:t>Day 10</a:t>
            </a:r>
            <a:r>
              <a:rPr/>
              <a:t> — Synthesis project: your map of IKS</a:t>
            </a:r>
          </a:p>
          <a:p>
            <a:pPr lvl="0" indent="0" marL="0">
              <a:buNone/>
            </a:pPr>
            <a:r>
              <a:rPr/>
              <a:t>→ </a:t>
            </a:r>
            <a:r>
              <a:rPr b="1">
                <a:hlinkClick r:id="rId2"/>
              </a:rPr>
              <a:t>Open the Adhyayana track for this module</a:t>
            </a:r>
            <a:r>
              <a:rPr/>
              <a:t> to access all 10 days, the 4-audience PDFs, the slide deck, the quizzes, and the project rubric.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module-01-what-is-iks - Darshana (60-min workshop)</dc:title>
  <dc:creator>IKS Curriculum - senior band</dc:creator>
  <cp:keywords/>
  <dcterms:created xsi:type="dcterms:W3CDTF">2026-05-28T02:11:00Z</dcterms:created>
  <dcterms:modified xsi:type="dcterms:W3CDTF">2026-05-28T02:11:00Z</dcterms:modified>
</cp:coreProperties>
</file>

<file path=docProps/custom.xml><?xml version="1.0" encoding="utf-8"?>
<Properties xmlns="http://schemas.openxmlformats.org/officeDocument/2006/custom-properties" xmlns:vt="http://schemas.openxmlformats.org/officeDocument/2006/docPropsVTypes"/>
</file>