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2867994" y="1315938"/>
            <a:ext cx="3407863" cy="177701"/>
          </a:xfrm>
          <a:prstGeom prst="rect">
            <a:avLst/>
          </a:prstGeom>
          <a:noFill/>
          <a:ln/>
        </p:spPr>
        <p:txBody>
          <a:bodyPr wrap="square" lIns="0" tIns="0" rIns="0" bIns="0" rtlCol="0" anchor="t"/>
          <a:lstStyle/>
          <a:p>
            <a:pPr algn="ctr" indent="0" marL="0">
              <a:lnSpc>
                <a:spcPts val="1400"/>
              </a:lnSpc>
              <a:spcAft>
                <a:spcPts val="400"/>
              </a:spcAft>
              <a:buNone/>
            </a:pPr>
            <a:r>
              <a:rPr lang="en-US" sz="1000" b="1" dirty="0">
                <a:solidFill>
                  <a:srgbClr val="997929"/>
                </a:solidFill>
                <a:latin typeface="Georgia" pitchFamily="34" charset="0"/>
                <a:ea typeface="Georgia" pitchFamily="34" charset="-122"/>
                <a:cs typeface="Georgia" pitchFamily="34" charset="-120"/>
              </a:rPr>
              <a:t>SENIOR · MODULE 01 — WHAT IS IKS</a:t>
            </a:r>
            <a:endParaRPr lang="en-US" sz="1000" dirty="0"/>
          </a:p>
        </p:txBody>
      </p:sp>
      <p:sp>
        <p:nvSpPr>
          <p:cNvPr id="4" name="Text 2"/>
          <p:cNvSpPr/>
          <p:nvPr/>
        </p:nvSpPr>
        <p:spPr>
          <a:xfrm>
            <a:off x="3528495" y="1544389"/>
            <a:ext cx="2087011" cy="584002"/>
          </a:xfrm>
          <a:prstGeom prst="rect">
            <a:avLst/>
          </a:prstGeom>
          <a:noFill/>
          <a:ln/>
        </p:spPr>
        <p:txBody>
          <a:bodyPr wrap="square" lIns="0" tIns="0" rIns="0" bIns="0" rtlCol="0" anchor="t"/>
          <a:lstStyle/>
          <a:p>
            <a:pPr algn="ctr" indent="0" marL="0">
              <a:lnSpc>
                <a:spcPts val="4600"/>
              </a:lnSpc>
              <a:spcAft>
                <a:spcPts val="1000"/>
              </a:spcAft>
              <a:buNone/>
            </a:pPr>
            <a:r>
              <a:rPr lang="en-US" sz="4000" b="1" dirty="0">
                <a:solidFill>
                  <a:srgbClr val="5D1D2E"/>
                </a:solidFill>
                <a:latin typeface="Times New Roman" pitchFamily="34" charset="0"/>
                <a:ea typeface="Times New Roman" pitchFamily="34" charset="-122"/>
                <a:cs typeface="Times New Roman" pitchFamily="34" charset="-120"/>
              </a:rPr>
              <a:t>Module 1</a:t>
            </a:r>
            <a:endParaRPr lang="en-US" sz="4000" dirty="0"/>
          </a:p>
        </p:txBody>
      </p:sp>
      <p:sp>
        <p:nvSpPr>
          <p:cNvPr id="5" name="Text 3"/>
          <p:cNvSpPr/>
          <p:nvPr/>
        </p:nvSpPr>
        <p:spPr>
          <a:xfrm>
            <a:off x="3664815" y="2331541"/>
            <a:ext cx="1814370" cy="396180"/>
          </a:xfrm>
          <a:prstGeom prst="rect">
            <a:avLst/>
          </a:prstGeom>
          <a:noFill/>
          <a:ln/>
        </p:spPr>
        <p:txBody>
          <a:bodyPr wrap="square" lIns="0" tIns="0" rIns="0" bIns="0" rtlCol="0" anchor="t"/>
          <a:lstStyle/>
          <a:p>
            <a:pPr algn="ctr" indent="0" marL="0">
              <a:lnSpc>
                <a:spcPts val="3120"/>
              </a:lnSpc>
              <a:spcBef>
                <a:spcPts val="600"/>
              </a:spcBef>
              <a:spcAft>
                <a:spcPts val="800"/>
              </a:spcAft>
              <a:buNone/>
            </a:pPr>
            <a:r>
              <a:rPr lang="en-US" sz="2600" dirty="0">
                <a:solidFill>
                  <a:srgbClr val="1A1A1A"/>
                </a:solidFill>
                <a:latin typeface="Times New Roman" pitchFamily="34" charset="0"/>
                <a:ea typeface="Times New Roman" pitchFamily="34" charset="-122"/>
                <a:cs typeface="Times New Roman" pitchFamily="34" charset="-120"/>
              </a:rPr>
              <a:t>What is IKS?</a:t>
            </a:r>
            <a:endParaRPr lang="en-US" sz="2600" dirty="0"/>
          </a:p>
        </p:txBody>
      </p:sp>
      <p:sp>
        <p:nvSpPr>
          <p:cNvPr id="6" name="Text 4"/>
          <p:cNvSpPr/>
          <p:nvPr/>
        </p:nvSpPr>
        <p:spPr>
          <a:xfrm>
            <a:off x="3535174" y="2867323"/>
            <a:ext cx="2073652" cy="213271"/>
          </a:xfrm>
          <a:prstGeom prst="rect">
            <a:avLst/>
          </a:prstGeom>
          <a:noFill/>
          <a:ln/>
        </p:spPr>
        <p:txBody>
          <a:bodyPr wrap="square" lIns="0" tIns="0" rIns="0" bIns="0" rtlCol="0" anchor="t"/>
          <a:lstStyle/>
          <a:p>
            <a:pPr algn="ctr"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Bhāratīya Jñāna-Paramparā</a:t>
            </a:r>
            <a:endParaRPr lang="en-US" sz="1200" dirty="0"/>
          </a:p>
        </p:txBody>
      </p:sp>
      <p:sp>
        <p:nvSpPr>
          <p:cNvPr id="7" name="Text 5"/>
          <p:cNvSpPr/>
          <p:nvPr/>
        </p:nvSpPr>
        <p:spPr>
          <a:xfrm>
            <a:off x="4028844" y="3499693"/>
            <a:ext cx="1086163" cy="213271"/>
          </a:xfrm>
          <a:prstGeom prst="rect">
            <a:avLst/>
          </a:prstGeom>
          <a:noFill/>
          <a:ln/>
        </p:spPr>
        <p:txBody>
          <a:bodyPr wrap="square" lIns="0" tIns="0" rIns="0" bIns="0" rtlCol="0" anchor="t"/>
          <a:lstStyle/>
          <a:p>
            <a:pPr algn="ctr" indent="0" marL="0">
              <a:lnSpc>
                <a:spcPts val="1680"/>
              </a:lnSpc>
              <a:spcBef>
                <a:spcPts val="3000"/>
              </a:spcBef>
              <a:spcAft>
                <a:spcPts val="300"/>
              </a:spcAft>
              <a:buNone/>
            </a:pPr>
            <a:r>
              <a:rPr lang="en-US" sz="1200" dirty="0">
                <a:solidFill>
                  <a:srgbClr val="5C5C5C"/>
                </a:solidFill>
                <a:latin typeface="Georgia" pitchFamily="34" charset="0"/>
                <a:ea typeface="Georgia" pitchFamily="34" charset="-122"/>
                <a:cs typeface="Georgia" pitchFamily="34" charset="-120"/>
              </a:rPr>
              <a:t>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Opening hook ·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Show side-by-side: Āryabhaṭa's value of π (3.1416, c. 499 CE) and Aryabhata-I's heliocentric hint. Ask: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"Which two of these are not in your science textbook? Why might that be?"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idea · 15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IKS = the documented Indian knowledge traditions, from the Saraswati-Sindhu civilisation (~3000 BCE) through the colonial period.</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Three useful framings:</a:t>
            </a:r>
            <a:endParaRPr lang="en-US" sz="1200" dirty="0"/>
          </a:p>
        </p:txBody>
      </p:sp>
      <p:sp>
        <p:nvSpPr>
          <p:cNvPr id="6" name="Text 4"/>
          <p:cNvSpPr/>
          <p:nvPr/>
        </p:nvSpPr>
        <p:spPr>
          <a:xfrm>
            <a:off x="634901" y="1675805"/>
            <a:ext cx="8102798" cy="13864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Vedāṅga / Upaveda / Darśana taxonomy</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(canonical) — six Vedic limbs, four applied sciences, six philosophical schools.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science-vs-religion problem.</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Some of IKS (jyotiṣa-as-astronomy, Āyurveda-as-medicine) maps onto empirical disciplines. Some (mantras-as-ritual, kāla-as-cosmology) does not. Distinguish carefully.</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historical question.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Documented dates and authors: Pāṇini (~500 BCE, grammar), Caraka (~200 BCE, medicine), Āryabhaṭa (499 CE, astronomy), Bhāskara II (1150 CE, math). These are real scholars with verifiable corpora.</a:t>
            </a:r>
            <a:endParaRPr lang="en-US" sz="1200" dirty="0"/>
          </a:p>
        </p:txBody>
      </p:sp>
      <p:sp>
        <p:nvSpPr>
          <p:cNvPr id="7" name="Text 5"/>
          <p:cNvSpPr/>
          <p:nvPr/>
        </p:nvSpPr>
        <p:spPr>
          <a:xfrm>
            <a:off x="406301" y="315113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Honest framing: IKS is neither uniformly ancient nor uniformly scientific. It is a documented intellectual tradition with reform, debate, and dates.</a:t>
            </a:r>
            <a:endParaRPr lang="en-US" sz="12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Demonstration · 10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Project Āryabhaṭa's sine table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(rough chart, 24 entries, c. 499 CE) and Madhava's infinite series for π (~1400 CE, 250 years before Leibniz).</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Show the Mādhava formula: $$\pi = 4 \left(1 - \frac{1}{3} + \frac{1}{5} - \frac{1}{7} + \cdots\right)$$</a:t>
            </a:r>
            <a:endParaRPr lang="en-US" sz="1200" dirty="0"/>
          </a:p>
        </p:txBody>
      </p:sp>
      <p:sp>
        <p:nvSpPr>
          <p:cNvPr id="6" name="Text 4"/>
          <p:cNvSpPr/>
          <p:nvPr/>
        </p:nvSpPr>
        <p:spPr>
          <a:xfrm>
            <a:off x="406301" y="16631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Discussion: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"This is the Leibniz series, attested in Kerala 250 years before Leibniz. Why isn't this in your maths textbook? What does its absence tell us about the politics of mathematical history?"</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Source moment · 5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Read aloud Āryabhaṭīya,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Gaṇitapāda</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1: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"brahmā kṛtaṁ paramaṁ rāhuṁ ca śaśinaṁ ravim..."</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(the invocation), followed by Āryabhaṭa's heliocentric hint in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Gola-pāda</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"the apparent westward motion of stars at the equator is due to the earth itself moving eastward."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Read alongside the matching paragraph from a 21st-c. NCERT physics textbook on Earth's rotation.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Hands-on activity · 15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Source-criticism exercise.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Distribute 4 short paragraphs (cut from popular media articles claiming "ancient Indian science discovered X"). Pairs evaluate each:</a:t>
            </a:r>
            <a:endParaRPr lang="en-US" sz="1200" dirty="0"/>
          </a:p>
        </p:txBody>
      </p:sp>
      <p:sp>
        <p:nvSpPr>
          <p:cNvPr id="5" name="Text 3"/>
          <p:cNvSpPr/>
          <p:nvPr/>
        </p:nvSpPr>
        <p:spPr>
          <a:xfrm>
            <a:off x="634901" y="1386334"/>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Is the claim verifiable? (Author? Date? Manuscript?)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What is the manuscript evidence?</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Is the modern parallel accurate, exaggerated, or invented?</a:t>
            </a:r>
            <a:endParaRPr lang="en-US" sz="1200" dirty="0"/>
          </a:p>
        </p:txBody>
      </p:sp>
      <p:sp>
        <p:nvSpPr>
          <p:cNvPr id="6" name="Text 4"/>
          <p:cNvSpPr/>
          <p:nvPr/>
        </p:nvSpPr>
        <p:spPr>
          <a:xfrm>
            <a:off x="406301" y="224462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Each pair classifies the 4 claims as: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real (documented)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partially exaggerated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anachronistic</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fabricated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Class discusses.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Reflection + take-home · 10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"Distinguish three things: (1) what's ancient AND scientifically valid, (2) what's ancient AND historically interesting BUT no longer scientifically used, (3) what's claimed as ancient BUT is actually a modern reconstruction. Give one example of each from your prior knowledge."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Go deeper into Adhyayana</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The full 10-day version of this module:</a:t>
            </a:r>
            <a:endParaRPr lang="en-US" sz="1200" dirty="0"/>
          </a:p>
        </p:txBody>
      </p:sp>
      <p:sp>
        <p:nvSpPr>
          <p:cNvPr id="5" name="Text 3"/>
          <p:cNvSpPr/>
          <p:nvPr/>
        </p:nvSpPr>
        <p:spPr>
          <a:xfrm>
            <a:off x="634901" y="1173063"/>
            <a:ext cx="8102798" cy="2475905"/>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01</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Why IKS now? The mapping problem</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02</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Vedas and Vedāṅgas: the six supporting sciences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03</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Upavedas: applied disciplines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04</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Itihāsa and Purāṇas: history-as-story</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05</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Six Darśanas: the philosophical schools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06</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Named figures: Pāṇini to Āryabhaṭa</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07</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Source discipline: what we can verify</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08</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IKS meets modern science: bridges and tensions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09</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NEP 2020 and IKS integration</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10</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Synthesis project: your map of IKS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01 — What Is Iks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01 — What Is Iks — Senior</dc:title>
  <dc:subject>PptxGenJS Presentation</dc:subject>
  <dc:creator>IKS Curriculum</dc:creator>
  <cp:lastModifiedBy>IKS Curriculum</cp:lastModifiedBy>
  <cp:revision>1</cp:revision>
  <dcterms:created xsi:type="dcterms:W3CDTF">2026-05-28T02:30:52Z</dcterms:created>
  <dcterms:modified xsi:type="dcterms:W3CDTF">2026-05-28T02:30:52Z</dcterms:modified>
</cp:coreProperties>
</file>