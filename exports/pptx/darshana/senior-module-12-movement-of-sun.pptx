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2" Type="http://schemas.openxmlformats.org/officeDocument/2006/relationships/viewProps" Target="viewProps.xml" /><Relationship Id="rId11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4" Type="http://schemas.openxmlformats.org/officeDocument/2006/relationships/tableStyles" Target="tableStyles.xml" /><Relationship Id="rId13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../" TargetMode="Externa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../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module-12-movement-of-sun - Darshana (60-min workshop)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IKS Curriculum - senior band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Module 12 — Movement of the Sun (Darśana)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Sanskrit:</a:t>
            </a:r>
            <a:r>
              <a:rPr/>
              <a:t> </a:t>
            </a:r>
            <a:r>
              <a:rPr i="1"/>
              <a:t>Sūrya-gati</a:t>
            </a:r>
            <a:r>
              <a:rPr/>
              <a:t> · </a:t>
            </a:r>
            <a:r>
              <a:rPr b="1"/>
              <a:t>Band:</a:t>
            </a:r>
            <a:r>
              <a:rPr/>
              <a:t> Senior (9-12) · </a:t>
            </a:r>
            <a:r>
              <a:rPr b="1"/>
              <a:t>Duration:</a:t>
            </a:r>
            <a:r>
              <a:rPr/>
              <a:t> 60 min · </a:t>
            </a:r>
            <a:r>
              <a:rPr b="1"/>
              <a:t>Path:</a:t>
            </a:r>
            <a:r>
              <a:rPr/>
              <a:t> Darśana (Workshop)</a:t>
            </a:r>
          </a:p>
          <a:p>
            <a:pPr lvl="0" indent="0" marL="0">
              <a:buNone/>
            </a:pPr>
            <a:r>
              <a:rPr/>
              <a:t>Solar year, solstices, equinoxes, and the 12 rāśis.</a:t>
            </a:r>
          </a:p>
          <a:p>
            <a:pPr lvl="0" indent="0" marL="1270000">
              <a:buNone/>
            </a:pPr>
            <a:r>
              <a:rPr sz="2000" b="1"/>
              <a:t>Darśana note.</a:t>
            </a:r>
            <a:r>
              <a:rPr sz="2000"/>
              <a:t> This workshop condenses Module 12’s full 10-day arc into one hour. For the deeper version — daily lesson plans, quizzes, assessments, slide decks — switch to </a:t>
            </a:r>
            <a:r>
              <a:rPr sz="2000" b="1">
                <a:hlinkClick r:id="rId2"/>
              </a:rPr>
              <a:t>Adhyayana</a:t>
            </a:r>
            <a:r>
              <a:rPr sz="2000"/>
              <a:t> (the Full Course path).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Opening hook · 5 min</a:t>
            </a:r>
          </a:p>
          <a:p>
            <a:pPr lvl="0" indent="0" marL="0">
              <a:buNone/>
            </a:pPr>
            <a:r>
              <a:rPr/>
              <a:t>Project: (a) Earth’s axial tilt diagram, (b) the 12 rāśis (sidereal zodiac), (c) the modern tropical zodiac. </a:t>
            </a:r>
            <a:r>
              <a:rPr i="1"/>
              <a:t>“Three frameworks, two ancient and one modern. They drift apart over millennia. Today: why.”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Core idea · 15 min</a:t>
            </a:r>
          </a:p>
          <a:p>
            <a:pPr lvl="0" indent="0" marL="0">
              <a:buNone/>
            </a:pPr>
            <a:r>
              <a:rPr b="1"/>
              <a:t>Earth-Sun astronomy + Indian framework.</a:t>
            </a:r>
          </a:p>
          <a:p>
            <a:pPr lvl="0" indent="-342900" marL="342900">
              <a:buAutoNum type="arabicPeriod"/>
            </a:pPr>
            <a:r>
              <a:rPr b="1"/>
              <a:t>Earth’s axial tilt</a:t>
            </a:r>
            <a:r>
              <a:rPr/>
              <a:t> (~23.4°) → annual variation of Sun’s declination → seasons.</a:t>
            </a:r>
          </a:p>
          <a:p>
            <a:pPr lvl="0" indent="-342900" marL="342900">
              <a:buAutoNum type="arabicPeriod"/>
            </a:pPr>
            <a:r>
              <a:rPr b="1"/>
              <a:t>Uttarāyaṇa</a:t>
            </a:r>
            <a:r>
              <a:rPr/>
              <a:t> in Indian tradition: starts at Dec solstice (modern view) OR Makara Saṅkrānti (~Jan 14, traditional view). The ~24-day gap is the </a:t>
            </a:r>
            <a:r>
              <a:rPr i="1"/>
              <a:t>ayanāṁśa</a:t>
            </a:r>
            <a:r>
              <a:rPr/>
              <a:t> — the precession-of-equinoxes difference between sāyana (tropical) and nirayana (sidereal) reference frames.</a:t>
            </a:r>
          </a:p>
          <a:p>
            <a:pPr lvl="0" indent="-342900" marL="342900">
              <a:buAutoNum type="arabicPeriod"/>
            </a:pPr>
            <a:r>
              <a:rPr b="1"/>
              <a:t>Precession:</a:t>
            </a:r>
            <a:r>
              <a:rPr/>
              <a:t> Earth’s axis wobbles with ~26,000-year period. Discovered ~130 BCE by Hipparchus. Independently computed by Indian astronomers (Bhāskara II, ~1150 CE). Today’s </a:t>
            </a:r>
            <a:r>
              <a:rPr i="1"/>
              <a:t>ayanāṁśa</a:t>
            </a:r>
            <a:r>
              <a:rPr/>
              <a:t> ~24°.</a:t>
            </a:r>
          </a:p>
          <a:p>
            <a:pPr lvl="0" indent="-342900" marL="342900">
              <a:buAutoNum type="arabicPeriod"/>
            </a:pPr>
            <a:r>
              <a:rPr b="1"/>
              <a:t>12 rāśis</a:t>
            </a:r>
            <a:r>
              <a:rPr/>
              <a:t> — sidereal zodiac, anchored to fixed stars. Tropical zodiac anchored to equinox. Drift apart by ~1° per 72 years.</a:t>
            </a:r>
          </a:p>
          <a:p>
            <a:pPr lvl="0" indent="0" marL="0">
              <a:buNone/>
            </a:pPr>
            <a:r>
              <a:rPr b="1"/>
              <a:t>Honest framing:</a:t>
            </a:r>
            <a:r>
              <a:rPr/>
              <a:t> the Indian framework (sidereal) and modern Western framework (tropical) are both valid astronomical conventions. They serve different purposes (Indian tradition: long-term star-anchored; modern: season-anchored).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Demonstration · 10 min</a:t>
            </a:r>
          </a:p>
          <a:p>
            <a:pPr lvl="0" indent="0" marL="0">
              <a:buNone/>
            </a:pPr>
            <a:r>
              <a:rPr b="1"/>
              <a:t>Sidereal vs tropical comparison.</a:t>
            </a:r>
            <a:r>
              <a:rPr/>
              <a:t> Use a sky-map app (Stellarium). Show where the Sun ACTUALLY is on March 21 vs where the tropical zodiac says Aries begins. Quantify the gap.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Source moment · 5 min</a:t>
            </a:r>
          </a:p>
          <a:p>
            <a:pPr lvl="0" indent="0" marL="0">
              <a:buNone/>
            </a:pPr>
            <a:r>
              <a:rPr b="1"/>
              <a:t>Direct verse.</a:t>
            </a:r>
            <a:r>
              <a:rPr/>
              <a:t> Sūrya-siddhānta 14.1:</a:t>
            </a:r>
          </a:p>
          <a:p>
            <a:pPr lvl="0" indent="0" marL="1270000">
              <a:buNone/>
            </a:pPr>
            <a:r>
              <a:rPr sz="2000" i="1"/>
              <a:t>bhānor varṣa-gatiḥ rāśi-dvādaśakaṁ kālaḥ sāyanam</a:t>
            </a:r>
          </a:p>
          <a:p>
            <a:pPr lvl="0" indent="0" marL="0">
              <a:buNone/>
            </a:pPr>
            <a:r>
              <a:rPr/>
              <a:t>“The Sun’s annual motion is twelve rāśis — this is the sāyana (with-ayana) year.”</a:t>
            </a:r>
          </a:p>
          <a:p>
            <a:pPr lvl="0" indent="0" marL="0">
              <a:buNone/>
            </a:pPr>
            <a:r>
              <a:rPr/>
              <a:t>Note the technical precision: </a:t>
            </a:r>
            <a:r>
              <a:rPr i="1"/>
              <a:t>sāyana</a:t>
            </a:r>
            <a:r>
              <a:rPr/>
              <a:t> specifies the reference frame. Indian astronomy distinguished sidereal and tropical conventions explicitly.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Hands-on activity · 15 min</a:t>
            </a:r>
          </a:p>
          <a:p>
            <a:pPr lvl="0" indent="0" marL="0">
              <a:buNone/>
            </a:pPr>
            <a:r>
              <a:rPr b="1"/>
              <a:t>Precession project pitch.</a:t>
            </a:r>
            <a:r>
              <a:rPr/>
              <a:t> Each student researches one named historical observation of precession (Hipparchus 130 BCE, Bhāskara II 1150 CE, Newton 1687). Present: who? where? what did they observe?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Reflection + take-home · 10 min</a:t>
            </a:r>
          </a:p>
          <a:p>
            <a:pPr lvl="0" indent="0" marL="0">
              <a:buNone/>
            </a:pPr>
            <a:r>
              <a:rPr i="1"/>
              <a:t>“Which is more useful in modern times — sāyana or nirayana? For which purpose? Defend with evidence.”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Go deeper into Adhyayana</a:t>
            </a:r>
          </a:p>
          <a:p>
            <a:pPr lvl="0" indent="0" marL="0">
              <a:buNone/>
            </a:pPr>
            <a:r>
              <a:rPr/>
              <a:t>The 10 days you’re skipping if you only do this workshop:</a:t>
            </a:r>
          </a:p>
          <a:p>
            <a:pPr lvl="0"/>
            <a:r>
              <a:rPr b="1"/>
              <a:t>Day 01</a:t>
            </a:r>
            <a:r>
              <a:rPr/>
              <a:t> — Sun’s yearly path</a:t>
            </a:r>
          </a:p>
          <a:p>
            <a:pPr lvl="0"/>
            <a:r>
              <a:rPr b="1"/>
              <a:t>Day 02</a:t>
            </a:r>
            <a:r>
              <a:rPr/>
              <a:t> — Axial tilt and seasons</a:t>
            </a:r>
          </a:p>
          <a:p>
            <a:pPr lvl="0"/>
            <a:r>
              <a:rPr b="1"/>
              <a:t>Day 03</a:t>
            </a:r>
            <a:r>
              <a:rPr/>
              <a:t> — Uttarāyaṇa and Dakṣiṇāyana</a:t>
            </a:r>
          </a:p>
          <a:p>
            <a:pPr lvl="0"/>
            <a:r>
              <a:rPr b="1"/>
              <a:t>Day 04</a:t>
            </a:r>
            <a:r>
              <a:rPr/>
              <a:t> — Equinoxes — viṣuva</a:t>
            </a:r>
          </a:p>
          <a:p>
            <a:pPr lvl="0"/>
            <a:r>
              <a:rPr b="1"/>
              <a:t>Day 05</a:t>
            </a:r>
            <a:r>
              <a:rPr/>
              <a:t> — 12 rāśis</a:t>
            </a:r>
          </a:p>
          <a:p>
            <a:pPr lvl="0"/>
            <a:r>
              <a:rPr b="1"/>
              <a:t>Day 06</a:t>
            </a:r>
            <a:r>
              <a:rPr/>
              <a:t> — Saṅkrānti moments</a:t>
            </a:r>
          </a:p>
          <a:p>
            <a:pPr lvl="0"/>
            <a:r>
              <a:rPr b="1"/>
              <a:t>Day 07</a:t>
            </a:r>
            <a:r>
              <a:rPr/>
              <a:t> — Sāyana vs nirayana — the ayanāṁśa</a:t>
            </a:r>
          </a:p>
          <a:p>
            <a:pPr lvl="0"/>
            <a:r>
              <a:rPr b="1"/>
              <a:t>Day 08</a:t>
            </a:r>
            <a:r>
              <a:rPr/>
              <a:t> — Precession of equinoxes</a:t>
            </a:r>
          </a:p>
          <a:p>
            <a:pPr lvl="0"/>
            <a:r>
              <a:rPr b="1"/>
              <a:t>Day 09</a:t>
            </a:r>
            <a:r>
              <a:rPr/>
              <a:t> — Cross-cultural calendars — solar systems</a:t>
            </a:r>
          </a:p>
          <a:p>
            <a:pPr lvl="0"/>
            <a:r>
              <a:rPr b="1"/>
              <a:t>Day 10</a:t>
            </a:r>
            <a:r>
              <a:rPr/>
              <a:t> — Final share + personal calendar</a:t>
            </a:r>
          </a:p>
          <a:p>
            <a:pPr lvl="0" indent="0" marL="0">
              <a:buNone/>
            </a:pPr>
            <a:r>
              <a:rPr/>
              <a:t>→ </a:t>
            </a:r>
            <a:r>
              <a:rPr b="1">
                <a:hlinkClick r:id="rId2"/>
              </a:rPr>
              <a:t>Open the Adhyayana track for this module</a:t>
            </a:r>
            <a:r>
              <a:rPr/>
              <a:t> to access all 10 days, the 4-audience PDFs, the slide deck, the quizzes, and the project rubric.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module-12-movement-of-sun - Darshana (60-min workshop)</dc:title>
  <dc:creator>IKS Curriculum - senior band</dc:creator>
  <cp:keywords/>
  <dcterms:created xsi:type="dcterms:W3CDTF">2026-05-28T02:11:12Z</dcterms:created>
  <dcterms:modified xsi:type="dcterms:W3CDTF">2026-05-28T02:11:12Z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