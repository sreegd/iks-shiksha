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module-14-magic-squares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14 — Magic Squares — Bhadragaṇita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Bhadragaṇita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Nārāyaṇa Paṇḍita’s 1356 CE magic-square algorithms.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14’s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Challenge: place 1-9 in a 3×3 grid so every row/column/diagonal sums to 15. Pause for tries. Reveal the answer. </a:t>
            </a:r>
            <a:r>
              <a:rPr i="1"/>
              <a:t>“This is a magic square. Today: how to make one for ANY odd size.”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Magic squares:</a:t>
            </a:r>
          </a:p>
          <a:p>
            <a:pPr lvl="0" indent="0" marL="0">
              <a:buNone/>
            </a:pPr>
            <a:r>
              <a:rPr/>
              <a:t>For an n × n square using 1 to n²: - Magic constant M = n(n² + 1) / 2. - 3 × 3 with 1-9: M = 15. - 4 × 4 with 1-16: M = 34. - 5 × 5 with 1-25: M = 65.</a:t>
            </a:r>
          </a:p>
          <a:p>
            <a:pPr lvl="0" indent="0" marL="0">
              <a:buNone/>
            </a:pPr>
            <a:r>
              <a:rPr b="1"/>
              <a:t>Stair-step method (odd n):</a:t>
            </a:r>
            <a:r>
              <a:rPr/>
              <a:t> 1. Place 1 in the top-middle. 2. From any cell, move up-right (wrap if off-grid). 3. If cell is occupied, move down instead.</a:t>
            </a:r>
          </a:p>
          <a:p>
            <a:pPr lvl="0" indent="0" marL="0">
              <a:buNone/>
            </a:pPr>
            <a:r>
              <a:rPr/>
              <a:t>Nārāyaṇa Paṇḍita’s </a:t>
            </a:r>
            <a:r>
              <a:rPr i="1"/>
              <a:t>Gaṇita-kaumudī</a:t>
            </a:r>
            <a:r>
              <a:rPr/>
              <a:t> (1356 CE) systematised this for any odd 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Build a 5 × 5 using stair-step.</a:t>
            </a:r>
            <a:r>
              <a:rPr/>
              <a:t> Live on board: place 1 top-middle. Move up-right. Wrap if needed. Build through 25. Verify M = 65.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Nārāyaṇa Paṇḍita, </a:t>
            </a:r>
            <a:r>
              <a:rPr i="1"/>
              <a:t>Gaṇita-kaumudī</a:t>
            </a:r>
            <a:r>
              <a:rPr/>
              <a:t> (1356 CE), ch. 14 </a:t>
            </a:r>
            <a:r>
              <a:rPr i="1"/>
              <a:t>Bhadragaṇita</a:t>
            </a:r>
            <a:r>
              <a:rPr/>
              <a:t>: </a:t>
            </a:r>
            <a:r>
              <a:rPr i="1"/>
              <a:t>“For any odd n, place 1 in the top-middle; move up-right; if the cell is occupied, move down. Continue until n² is placed.”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Build YOUR 5 × 5.</a:t>
            </a:r>
            <a:r>
              <a:rPr/>
              <a:t> Using stair-step. Verify M = 65. Pair-check.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“What makes a magic square ‘magic’? What’s the math behind it?”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Discover the 3 × 3</a:t>
            </a:r>
          </a:p>
          <a:p>
            <a:pPr lvl="0"/>
            <a:r>
              <a:rPr b="1"/>
              <a:t>Day 02</a:t>
            </a:r>
            <a:r>
              <a:rPr/>
              <a:t> — Magic constant</a:t>
            </a:r>
          </a:p>
          <a:p>
            <a:pPr lvl="0"/>
            <a:r>
              <a:rPr b="1"/>
              <a:t>Day 03</a:t>
            </a:r>
            <a:r>
              <a:rPr/>
              <a:t> — How many 3 × 3 magic squares?</a:t>
            </a:r>
          </a:p>
          <a:p>
            <a:pPr lvl="0"/>
            <a:r>
              <a:rPr b="1"/>
              <a:t>Day 04</a:t>
            </a:r>
            <a:r>
              <a:rPr/>
              <a:t> — Stair-step method</a:t>
            </a:r>
          </a:p>
          <a:p>
            <a:pPr lvl="0"/>
            <a:r>
              <a:rPr b="1"/>
              <a:t>Day 05</a:t>
            </a:r>
            <a:r>
              <a:rPr/>
              <a:t> — Practice — 5 × 5 and 7 × 7</a:t>
            </a:r>
          </a:p>
          <a:p>
            <a:pPr lvl="0"/>
            <a:r>
              <a:rPr b="1"/>
              <a:t>Day 06</a:t>
            </a:r>
            <a:r>
              <a:rPr/>
              <a:t> — 4 × 4 and the Khajuraho square</a:t>
            </a:r>
          </a:p>
          <a:p>
            <a:pPr lvl="0"/>
            <a:r>
              <a:rPr b="1"/>
              <a:t>Day 07</a:t>
            </a:r>
            <a:r>
              <a:rPr/>
              <a:t> — Historical context — Nārāyaṇa Paṇḍita</a:t>
            </a:r>
          </a:p>
          <a:p>
            <a:pPr lvl="0"/>
            <a:r>
              <a:rPr b="1"/>
              <a:t>Day 08</a:t>
            </a:r>
            <a:r>
              <a:rPr/>
              <a:t> — Cross-cultural — Lo Shu, Dürer, Indian</a:t>
            </a:r>
          </a:p>
          <a:p>
            <a:pPr lvl="0"/>
            <a:r>
              <a:rPr b="1"/>
              <a:t>Day 09</a:t>
            </a:r>
            <a:r>
              <a:rPr/>
              <a:t> — Design your own magic square</a:t>
            </a:r>
          </a:p>
          <a:p>
            <a:pPr lvl="0"/>
            <a:r>
              <a:rPr b="1"/>
              <a:t>Day 10</a:t>
            </a:r>
            <a:r>
              <a:rPr/>
              <a:t> — Final share +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module-14-magic-squares - Darshana (60-min workshop)</dc:title>
  <dc:creator>IKS Curriculum - middle band</dc:creator>
  <cp:keywords/>
  <dcterms:created xsi:type="dcterms:W3CDTF">2026-05-28T02:10:58Z</dcterms:created>
  <dcterms:modified xsi:type="dcterms:W3CDTF">2026-05-28T02:10:58Z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