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53230" y="1315938"/>
            <a:ext cx="363739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997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02 — PANCHABHUTA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528495" y="1544389"/>
            <a:ext cx="2087011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190336" y="2331541"/>
            <a:ext cx="4763327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Panchabhūta — The Five Elements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51501" y="2867323"/>
            <a:ext cx="84099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Pañcabhūta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8844" y="3499693"/>
            <a:ext cx="108616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C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Opening hook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the board: "Matter exists in solid, liquid, gas, plasma, and vacuum." Below: "The Sāṅkhya school of ~6th c. BCE Indian philosophy proposed: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pṛthvī, ap, tejas, vāyu, ākāśa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the same five categories, derived from observation. The classification is empirical. The cosmological wrapping is philosophical."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idea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Sāṅkhya derivation.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Sāṅkhya (Kapila, ~6th c. BCE) derives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pañcabhūta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from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tanmātras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(subtle qualities):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row: Element · Tanmātra · Sense.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462534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Ākāśa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śabda (sound) · hearing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Vāyu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sparśa (touch) · touch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Tejas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rūpa (form/colour) · sight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rasa (taste) · taste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Pṛthvī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gandha (smell) · smell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808387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pattern: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earth carries all five qualities (you can hear it, touch it, see it, taste it, smell it). Air carries only two (sound, touch). The taxonomy is a sense-perception hierarchy disguised as a matter classification.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3311128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bridge: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five states of matter (solid, liquid, gas, plasma, vacuum/space) are observationally similar but conceptually distinct. The Sāṅkhya scheme is 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sensory taxonomy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; the modern scheme is 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thermodynamic taxonomy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Both are valid descriptive frameworks at their level of abstraction.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Demonstration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Multi-sense identification challenge.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Place 5 covered samples (rock, water, candle [unlit], a paper fan, an empty box). Pairs identify each by: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386334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Sight only (lift cover briefly)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Touch only (with gloves to mute sense)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Hearing only (tap the sample, listen)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244626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"Which element was easiest to identify by which sense? Map your findings to the Sāṅkhya tanmātra scheme. Does the ancient categorisation match your modern empirical experience?"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 moment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verse (Senior).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Śrīmad-Bhāgavatam 3.26.36, with Sāṅkhya commentary: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73063"/>
            <a:ext cx="8331398" cy="61198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173063"/>
            <a:ext cx="0" cy="611981"/>
          </a:xfrm>
          <a:prstGeom prst="line">
            <a:avLst/>
          </a:prstGeom>
          <a:noFill/>
          <a:ln w="57150">
            <a:solidFill>
              <a:srgbClr val="9979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36356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mṛdutvaṁ kaṭhinatvaṁ ca śaityam uṣṇatvam eva ca /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etat sparśasya sparśatvaṁ tanmātratvaṁ nabhasvataḥ //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301" y="187389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"Softness, hardness, cold, and heat — these qualities of touch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sparśa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are the subtle attributes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tanmātra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of air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nabhasvat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2376636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 the sophistication: temperature is folded into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touch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as a quality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vāyu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This is consistent with classical Indian physiology, which treats temperature perception as a tactile sensation, not a separate sense.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Hands-on activity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Critical-categorisation exercise.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picks one modern phenomenon (laser, magnet, sound wave, gas pressure, plasma TV screen). They argue: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"Which element of the pañcabhūta best maps onto this phenomenon? Where does the mapping break down?"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5869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Pair-share. Class discussion focuses on the boundary cases — where ancient categories help vs where they constrain.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Reflection + take-home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"Sāṅkhya organises matter by sensory access. Modern physics organises by thermodynamic state. Both are descriptive frameworks; neither is universal truth. Argue for which framework is more useful for which questions, and where each falls short."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 deeper into Adhyayana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10-day version of this module: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47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Five friends — meeting the elements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Earth and water — solid and liquid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Five qualities, five senses (tanmātras)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Fire and air — energy and motion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Ākāśa — the fifth element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Modern parallels — states of matter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Pañcabhūta in Āyurveda — bridge to Module 4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Pañcabhūta in cuisine — six tastes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Pañcabhūta in nature — local examples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Synthesis project: build a pañcabhūta poster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02 — Panchabhuta — Senior</dc:title>
  <dc:subject>PptxGenJS Presentation</dc:subject>
  <dc:creator>IKS Curriculum</dc:creator>
  <cp:lastModifiedBy>IKS Curriculum</cp:lastModifiedBy>
  <cp:revision>1</cp:revision>
  <dcterms:created xsi:type="dcterms:W3CDTF">2026-05-28T02:30:56Z</dcterms:created>
  <dcterms:modified xsi:type="dcterms:W3CDTF">2026-05-28T02:30:56Z</dcterms:modified>
</cp:coreProperties>
</file>