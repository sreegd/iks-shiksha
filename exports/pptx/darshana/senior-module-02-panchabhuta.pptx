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module-02-panchabhuta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senior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2 — Panchabhūta — The Five Elements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Pañcabhūta</a:t>
            </a:r>
            <a:r>
              <a:rPr/>
              <a:t> · </a:t>
            </a:r>
            <a:r>
              <a:rPr b="1"/>
              <a:t>Band:</a:t>
            </a:r>
            <a:r>
              <a:rPr/>
              <a:t> Senior (9-12)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The classical Indian classification of matter.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2’s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On the board: “Matter exists in solid, liquid, gas, plasma, and vacuum.” Below: “The Sāṅkhya school of ~6th c. BCE Indian philosophy proposed: </a:t>
            </a:r>
            <a:r>
              <a:rPr i="1"/>
              <a:t>pṛthvī, ap, tejas, vāyu, ākāśa</a:t>
            </a:r>
            <a:r>
              <a:rPr/>
              <a:t> — the same five categories, derived from observation. The classification is empirical. The cosmological wrapping is philosophical.”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The Sāṅkhya derivation.</a:t>
            </a:r>
            <a:r>
              <a:rPr/>
              <a:t> Sāṅkhya (Kapila, ~6th c. BCE) derives the </a:t>
            </a:r>
            <a:r>
              <a:rPr i="1"/>
              <a:t>pañcabhūta</a:t>
            </a:r>
            <a:r>
              <a:rPr/>
              <a:t> from the </a:t>
            </a:r>
            <a:r>
              <a:rPr i="1"/>
              <a:t>tanmātras</a:t>
            </a:r>
            <a:r>
              <a:rPr/>
              <a:t> (subtle qualities):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Tanmātra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Sense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Ākāśa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śabda (sound)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Vāyu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sparśa (touch)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touch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Tejas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rūpa (form/colour)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rasa (taste)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Pṛthvī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gandha (smell)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Critical pattern:</a:t>
            </a:r>
            <a:r>
              <a:rPr/>
              <a:t> earth carries all five qualities (you can hear it, touch it, see it, taste it, smell it). Air carries only two (sound, touch). The taxonomy is a sense-perception hierarchy disguised as a matter classification.</a:t>
            </a:r>
          </a:p>
          <a:p>
            <a:pPr lvl="0" indent="0" marL="0">
              <a:buNone/>
            </a:pPr>
            <a:r>
              <a:rPr b="1"/>
              <a:t>Modern bridge:</a:t>
            </a:r>
            <a:r>
              <a:rPr/>
              <a:t> the five states of matter (solid, liquid, gas, plasma, vacuum/space) are observationally similar but conceptually distinct. The Sāṅkhya scheme is a </a:t>
            </a:r>
            <a:r>
              <a:rPr i="1"/>
              <a:t>sensory taxonomy</a:t>
            </a:r>
            <a:r>
              <a:rPr/>
              <a:t>; the modern scheme is a </a:t>
            </a:r>
            <a:r>
              <a:rPr i="1"/>
              <a:t>thermodynamic taxonomy</a:t>
            </a:r>
            <a:r>
              <a:rPr/>
              <a:t>. Both are valid descriptive frameworks at their level of abstraction.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Multi-sense identification challenge.</a:t>
            </a:r>
            <a:r>
              <a:rPr/>
              <a:t> Place 5 covered samples (rock, water, candle [unlit], a paper fan, an empty box). Pairs identify each by: - Sight only (lift cover briefly) - Touch only (with gloves to mute sense) - Hearing only (tap the sample, listen)</a:t>
            </a:r>
          </a:p>
          <a:p>
            <a:pPr lvl="0" indent="0" marL="0">
              <a:buNone/>
            </a:pPr>
            <a:r>
              <a:rPr/>
              <a:t>Discussion: </a:t>
            </a:r>
            <a:r>
              <a:rPr i="1"/>
              <a:t>“Which element was easiest to identify by which sense? Map your findings to the Sāṅkhya tanmātra scheme. Does the ancient categorisation match your modern empirical experience?”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 b="1"/>
              <a:t>Direct verse (Senior).</a:t>
            </a:r>
            <a:r>
              <a:rPr/>
              <a:t> Śrīmad-Bhāgavatam 3.26.36, with Sāṅkhya commentary:</a:t>
            </a:r>
          </a:p>
          <a:p>
            <a:pPr lvl="0" indent="0" marL="1270000">
              <a:buNone/>
            </a:pPr>
            <a:r>
              <a:rPr sz="2000" i="1"/>
              <a:t>mṛdutvaṁ kaṭhinatvaṁ ca śaityam uṣṇatvam eva ca /</a:t>
            </a:r>
            <a:r>
              <a:rPr sz="2000"/>
              <a:t> </a:t>
            </a:r>
            <a:r>
              <a:rPr sz="2000" i="1"/>
              <a:t>etat sparśasya sparśatvaṁ tanmātratvaṁ nabhasvataḥ //</a:t>
            </a:r>
          </a:p>
          <a:p>
            <a:pPr lvl="0" indent="0" marL="0">
              <a:buNone/>
            </a:pPr>
            <a:r>
              <a:rPr/>
              <a:t>“Softness, hardness, cold, and heat — these qualities of touch (</a:t>
            </a:r>
            <a:r>
              <a:rPr i="1"/>
              <a:t>sparśa</a:t>
            </a:r>
            <a:r>
              <a:rPr/>
              <a:t>) are the subtle attributes (</a:t>
            </a:r>
            <a:r>
              <a:rPr i="1"/>
              <a:t>tanmātra</a:t>
            </a:r>
            <a:r>
              <a:rPr/>
              <a:t>) of air (</a:t>
            </a:r>
            <a:r>
              <a:rPr i="1"/>
              <a:t>nabhasvat</a:t>
            </a:r>
            <a:r>
              <a:rPr/>
              <a:t>).”</a:t>
            </a:r>
          </a:p>
          <a:p>
            <a:pPr lvl="0" indent="0" marL="0">
              <a:buNone/>
            </a:pPr>
            <a:r>
              <a:rPr/>
              <a:t>Note the sophistication: temperature is folded into </a:t>
            </a:r>
            <a:r>
              <a:rPr i="1"/>
              <a:t>touch</a:t>
            </a:r>
            <a:r>
              <a:rPr/>
              <a:t> as a quality of </a:t>
            </a:r>
            <a:r>
              <a:rPr i="1"/>
              <a:t>vāyu</a:t>
            </a:r>
            <a:r>
              <a:rPr/>
              <a:t>. This is consistent with classical Indian physiology, which treats temperature perception as a tactile sensation, not a separate sense.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Critical-categorisation exercise.</a:t>
            </a:r>
            <a:r>
              <a:rPr/>
              <a:t> Each student picks one modern phenomenon (laser, magnet, sound wave, gas pressure, plasma TV screen). They argue: </a:t>
            </a:r>
            <a:r>
              <a:rPr i="1"/>
              <a:t>“Which element of the pañcabhūta best maps onto this phenomenon? Where does the mapping break down?”</a:t>
            </a:r>
          </a:p>
          <a:p>
            <a:pPr lvl="0" indent="0" marL="0">
              <a:buNone/>
            </a:pPr>
            <a:r>
              <a:rPr/>
              <a:t>Pair-share. Class discussion focuses on the boundary cases — where ancient categories help vs where they constrain.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“Sāṅkhya organises matter by sensory access. Modern physics organises by thermodynamic state. Both are descriptive frameworks; neither is universal truth. Argue for which framework is more useful for which questions, and where each falls short.”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Five friends — meeting the elements</a:t>
            </a:r>
          </a:p>
          <a:p>
            <a:pPr lvl="0"/>
            <a:r>
              <a:rPr b="1"/>
              <a:t>Day 02</a:t>
            </a:r>
            <a:r>
              <a:rPr/>
              <a:t> — Earth and water — solid and liquid</a:t>
            </a:r>
          </a:p>
          <a:p>
            <a:pPr lvl="0"/>
            <a:r>
              <a:rPr b="1"/>
              <a:t>Day 03</a:t>
            </a:r>
            <a:r>
              <a:rPr/>
              <a:t> — Five qualities, five senses (tanmātras)</a:t>
            </a:r>
          </a:p>
          <a:p>
            <a:pPr lvl="0"/>
            <a:r>
              <a:rPr b="1"/>
              <a:t>Day 04</a:t>
            </a:r>
            <a:r>
              <a:rPr/>
              <a:t> — Fire and air — energy and motion</a:t>
            </a:r>
          </a:p>
          <a:p>
            <a:pPr lvl="0"/>
            <a:r>
              <a:rPr b="1"/>
              <a:t>Day 05</a:t>
            </a:r>
            <a:r>
              <a:rPr/>
              <a:t> — Ākāśa — the fifth element</a:t>
            </a:r>
          </a:p>
          <a:p>
            <a:pPr lvl="0"/>
            <a:r>
              <a:rPr b="1"/>
              <a:t>Day 06</a:t>
            </a:r>
            <a:r>
              <a:rPr/>
              <a:t> — Modern parallels — states of matter</a:t>
            </a:r>
          </a:p>
          <a:p>
            <a:pPr lvl="0"/>
            <a:r>
              <a:rPr b="1"/>
              <a:t>Day 07</a:t>
            </a:r>
            <a:r>
              <a:rPr/>
              <a:t> — Pañcabhūta in Āyurveda — bridge to Module 4</a:t>
            </a:r>
          </a:p>
          <a:p>
            <a:pPr lvl="0"/>
            <a:r>
              <a:rPr b="1"/>
              <a:t>Day 08</a:t>
            </a:r>
            <a:r>
              <a:rPr/>
              <a:t> — Pañcabhūta in cuisine — six tastes</a:t>
            </a:r>
          </a:p>
          <a:p>
            <a:pPr lvl="0"/>
            <a:r>
              <a:rPr b="1"/>
              <a:t>Day 09</a:t>
            </a:r>
            <a:r>
              <a:rPr/>
              <a:t> — Pañcabhūta in nature — local examples</a:t>
            </a:r>
          </a:p>
          <a:p>
            <a:pPr lvl="0"/>
            <a:r>
              <a:rPr b="1"/>
              <a:t>Day 10</a:t>
            </a:r>
            <a:r>
              <a:rPr/>
              <a:t> — Synthesis project: build a pañcabhūta poster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module-02-panchabhuta - Darshana (60-min workshop)</dc:title>
  <dc:creator>IKS Curriculum - senior band</dc:creator>
  <cp:keywords/>
  <dcterms:created xsi:type="dcterms:W3CDTF">2026-05-28T02:11:01Z</dcterms:created>
  <dcterms:modified xsi:type="dcterms:W3CDTF">2026-05-28T02:11:01Z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