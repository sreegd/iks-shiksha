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module-12-movement-of-sun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12 — Movement of the Sun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Sūrya-gati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Solar year, solstices, equinoxes, and the 12 rāśis.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12’s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 i="1"/>
              <a:t>“Where did the sun rise today? Where will it set?”</a:t>
            </a:r>
            <a:r>
              <a:rPr/>
              <a:t> Point. </a:t>
            </a:r>
            <a:r>
              <a:rPr i="1"/>
              <a:t>“Did you know the sunrise direction CHANGES through the year? Today we learn why.”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The Sun moves on a big yearly path:</a:t>
            </a:r>
          </a:p>
          <a:p>
            <a:pPr lvl="0"/>
            <a:r>
              <a:rPr b="1"/>
              <a:t>Uttarāyaṇa (उत्तरायण)</a:t>
            </a:r>
            <a:r>
              <a:rPr/>
              <a:t> — northward course — Dec to June — days get longer</a:t>
            </a:r>
          </a:p>
          <a:p>
            <a:pPr lvl="0"/>
            <a:r>
              <a:rPr b="1"/>
              <a:t>Dakṣiṇāyana (दक्षिणायन)</a:t>
            </a:r>
            <a:r>
              <a:rPr/>
              <a:t> — southward course — June to Dec — days get shorter</a:t>
            </a:r>
          </a:p>
          <a:p>
            <a:pPr lvl="0" indent="0" marL="0">
              <a:buNone/>
            </a:pPr>
            <a:r>
              <a:rPr/>
              <a:t>Two special days: - </a:t>
            </a:r>
            <a:r>
              <a:rPr b="1"/>
              <a:t>Solstice</a:t>
            </a:r>
            <a:r>
              <a:rPr/>
              <a:t> — sun is at its farthest north (June) or south (Dec) - </a:t>
            </a:r>
            <a:r>
              <a:rPr b="1"/>
              <a:t>Equinox</a:t>
            </a:r>
            <a:r>
              <a:rPr/>
              <a:t> — day = night (March 21, Sept 22)</a:t>
            </a:r>
          </a:p>
          <a:p>
            <a:pPr lvl="0" indent="0" marL="0">
              <a:buNone/>
            </a:pPr>
            <a:r>
              <a:rPr/>
              <a:t>12 zodiac signs (rāśis) for 12 months: chant them — Meṣa, Vṛṣabha, Mithuna, Karkaṭa, Siṁha, Kanyā, Tulā, Vṛścika, Dhanus, Makara, Kumbha, Mīna.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In a sunny window: mark today’s sunrise direction. Compare with a marked sunrise direction from 3 months ago (or imagine). Show the chant: </a:t>
            </a:r>
            <a:r>
              <a:rPr i="1"/>
              <a:t>“Uttarāyaṇa! Dakṣiṇāyana!”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the story of how the Sun visits 12 houses (rāśis) each year, taking one month at each — like a friend visiting 12 cousins.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Each child marks 4 special days on a year-circle (Mar 21, Jun 21, Sep 22, Dec 21) and labels them. Decorate.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Each child says one thing they learned about the Sun. Cheer.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Sun’s yearly path</a:t>
            </a:r>
          </a:p>
          <a:p>
            <a:pPr lvl="0"/>
            <a:r>
              <a:rPr b="1"/>
              <a:t>Day 02</a:t>
            </a:r>
            <a:r>
              <a:rPr/>
              <a:t> — Axial tilt and seasons</a:t>
            </a:r>
          </a:p>
          <a:p>
            <a:pPr lvl="0"/>
            <a:r>
              <a:rPr b="1"/>
              <a:t>Day 03</a:t>
            </a:r>
            <a:r>
              <a:rPr/>
              <a:t> — Uttarāyaṇa and Dakṣiṇāyana</a:t>
            </a:r>
          </a:p>
          <a:p>
            <a:pPr lvl="0"/>
            <a:r>
              <a:rPr b="1"/>
              <a:t>Day 04</a:t>
            </a:r>
            <a:r>
              <a:rPr/>
              <a:t> — Equinoxes — viṣuva</a:t>
            </a:r>
          </a:p>
          <a:p>
            <a:pPr lvl="0"/>
            <a:r>
              <a:rPr b="1"/>
              <a:t>Day 05</a:t>
            </a:r>
            <a:r>
              <a:rPr/>
              <a:t> — 12 rāśis</a:t>
            </a:r>
          </a:p>
          <a:p>
            <a:pPr lvl="0"/>
            <a:r>
              <a:rPr b="1"/>
              <a:t>Day 06</a:t>
            </a:r>
            <a:r>
              <a:rPr/>
              <a:t> — Saṅkrānti moments</a:t>
            </a:r>
          </a:p>
          <a:p>
            <a:pPr lvl="0"/>
            <a:r>
              <a:rPr b="1"/>
              <a:t>Day 07</a:t>
            </a:r>
            <a:r>
              <a:rPr/>
              <a:t> — Sāyana vs nirayana — the ayanāṁśa</a:t>
            </a:r>
          </a:p>
          <a:p>
            <a:pPr lvl="0"/>
            <a:r>
              <a:rPr b="1"/>
              <a:t>Day 08</a:t>
            </a:r>
            <a:r>
              <a:rPr/>
              <a:t> — Precession of equinoxes</a:t>
            </a:r>
          </a:p>
          <a:p>
            <a:pPr lvl="0"/>
            <a:r>
              <a:rPr b="1"/>
              <a:t>Day 09</a:t>
            </a:r>
            <a:r>
              <a:rPr/>
              <a:t> — Cross-cultural calendars — solar systems</a:t>
            </a:r>
          </a:p>
          <a:p>
            <a:pPr lvl="0"/>
            <a:r>
              <a:rPr b="1"/>
              <a:t>Day 10</a:t>
            </a:r>
            <a:r>
              <a:rPr/>
              <a:t> — Final share + personal calendar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module-12-movement-of-sun - Darshana (60-min workshop)</dc:title>
  <dc:creator>IKS Curriculum - primary band</dc:creator>
  <cp:keywords/>
  <dcterms:created xsi:type="dcterms:W3CDTF">2026-05-28T02:10:39Z</dcterms:created>
  <dcterms:modified xsi:type="dcterms:W3CDTF">2026-05-28T02:10:39Z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