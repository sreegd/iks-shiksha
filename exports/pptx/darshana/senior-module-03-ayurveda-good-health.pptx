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module-03-ayurveda-good-health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senior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3 — Āyurveda and Good Health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Āyurveda</a:t>
            </a:r>
            <a:r>
              <a:rPr/>
              <a:t> · </a:t>
            </a:r>
            <a:r>
              <a:rPr b="1"/>
              <a:t>Band:</a:t>
            </a:r>
            <a:r>
              <a:rPr/>
              <a:t> Senior (9-12)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The science of life — daily routine, diet, and well-being.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3’s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 i="1"/>
              <a:t>“Modern medicine is reactive — you go when something is wrong. Āyurveda is preventive — you live so that things don’t go wrong. Today we examine the framework: dinacharya (daily routine), ahāra (diet), and tridoṣa (the three constitutional types). All as wellness lens — NOT diagnosis.”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Āyurveda as Indian preventive medicine.</a:t>
            </a:r>
          </a:p>
          <a:p>
            <a:pPr lvl="0" indent="-342900" marL="342900">
              <a:buAutoNum type="arabicPeriod"/>
            </a:pPr>
            <a:r>
              <a:rPr b="1"/>
              <a:t>Dinacarya</a:t>
            </a:r>
            <a:r>
              <a:rPr/>
              <a:t> (daily routine, codified in Aṣṭāṅga Hṛdaya, </a:t>
            </a:r>
            <a:r>
              <a:rPr i="1"/>
              <a:t>Sūtrasthāna</a:t>
            </a:r>
            <a:r>
              <a:rPr/>
              <a:t> 2). Sleep, wake, food, exercise, elimination — each at appropriate time. Modern: circadian biology shows ~85% of human physiology has circadian rhythm. Misalignment correlates with metabolic and cognitive impairment.</a:t>
            </a:r>
          </a:p>
          <a:p>
            <a:pPr lvl="0" indent="-342900" marL="342900">
              <a:buAutoNum type="arabicPeriod"/>
            </a:pPr>
            <a:r>
              <a:rPr b="1"/>
              <a:t>Ahāra</a:t>
            </a:r>
            <a:r>
              <a:rPr/>
              <a:t> (diet, </a:t>
            </a:r>
            <a:r>
              <a:rPr i="1"/>
              <a:t>Sūtrasthāna</a:t>
            </a:r>
            <a:r>
              <a:rPr/>
              <a:t> 5). The six tastes (</a:t>
            </a:r>
            <a:r>
              <a:rPr i="1"/>
              <a:t>ṣaḍ-rasa</a:t>
            </a:r>
            <a:r>
              <a:rPr/>
              <a:t>) — each meal should ideally include several. Sweet alone (modern diet) is the most common modern misalignment. </a:t>
            </a:r>
            <a:r>
              <a:rPr i="1"/>
              <a:t>Ṛtucharya</a:t>
            </a:r>
            <a:r>
              <a:rPr/>
              <a:t> (seasonal eating) — light and bitter in summer (pitta-rich), warm and oily in winter (vāta-rich).</a:t>
            </a:r>
          </a:p>
          <a:p>
            <a:pPr lvl="0" indent="-342900" marL="342900">
              <a:buAutoNum type="arabicPeriod"/>
            </a:pPr>
            <a:r>
              <a:rPr b="1"/>
              <a:t>Tridoṣa</a:t>
            </a:r>
            <a:r>
              <a:rPr/>
              <a:t> (Caraka </a:t>
            </a:r>
            <a:r>
              <a:rPr i="1"/>
              <a:t>Sūtrasthāna</a:t>
            </a:r>
            <a:r>
              <a:rPr/>
              <a:t> 1.57). </a:t>
            </a:r>
            <a:r>
              <a:rPr i="1"/>
              <a:t>Prakṛti</a:t>
            </a:r>
            <a:r>
              <a:rPr/>
              <a:t> (innate constitution) vs </a:t>
            </a:r>
            <a:r>
              <a:rPr i="1"/>
              <a:t>vikṛti</a:t>
            </a:r>
            <a:r>
              <a:rPr/>
              <a:t> (current state). Self-knowledge as the first step of self-care.</a:t>
            </a:r>
          </a:p>
          <a:p>
            <a:pPr lvl="0" indent="0" marL="0">
              <a:buNone/>
            </a:pPr>
            <a:r>
              <a:rPr b="1"/>
              <a:t>CRITICAL CAVEAT, REPEATED:</a:t>
            </a:r>
            <a:r>
              <a:rPr/>
              <a:t> this is a wellness lens, NOT a diagnostic system. For health concerns, see a doctor.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Source-text reading.</a:t>
            </a:r>
            <a:r>
              <a:rPr/>
              <a:t> Read aloud Aṣṭāṅga Hṛdaya, </a:t>
            </a:r>
            <a:r>
              <a:rPr i="1"/>
              <a:t>Sūtrasthāna</a:t>
            </a:r>
            <a:r>
              <a:rPr/>
              <a:t> 2.1–5 (a brief stanza on dinacarya). Discuss: how much of this is </a:t>
            </a:r>
            <a:r>
              <a:rPr i="1"/>
              <a:t>empirical</a:t>
            </a:r>
            <a:r>
              <a:rPr/>
              <a:t> (testable by modern science), how much is </a:t>
            </a:r>
            <a:r>
              <a:rPr i="1"/>
              <a:t>prescriptive</a:t>
            </a:r>
            <a:r>
              <a:rPr/>
              <a:t> (a values judgment), how much is </a:t>
            </a:r>
            <a:r>
              <a:rPr i="1"/>
              <a:t>symbolic</a:t>
            </a:r>
            <a:r>
              <a:rPr/>
              <a:t> (cultural-religious framing).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 b="1"/>
              <a:t>Quoted verse.</a:t>
            </a:r>
            <a:r>
              <a:rPr/>
              <a:t> Caraka Saṁhitā, </a:t>
            </a:r>
            <a:r>
              <a:rPr i="1"/>
              <a:t>Sūtrasthāna</a:t>
            </a:r>
            <a:r>
              <a:rPr/>
              <a:t> 1.41:</a:t>
            </a:r>
          </a:p>
          <a:p>
            <a:pPr lvl="0" indent="0" marL="1270000">
              <a:buNone/>
            </a:pPr>
            <a:r>
              <a:rPr sz="2000" i="1"/>
              <a:t>prayojanaṁ ca asya svastha-svāsthya-rakṣaṇam āturasya vikāra-praśamanaṁ ca</a:t>
            </a:r>
          </a:p>
          <a:p>
            <a:pPr lvl="0" indent="0" marL="0">
              <a:buNone/>
            </a:pPr>
            <a:r>
              <a:rPr/>
              <a:t>“The purpose of this is the preservation of health in the healthy AND the alleviation of disorders in the diseased.”</a:t>
            </a:r>
          </a:p>
          <a:p>
            <a:pPr lvl="0" indent="0" marL="0">
              <a:buNone/>
            </a:pPr>
            <a:r>
              <a:rPr/>
              <a:t>Note the syntactic priority: </a:t>
            </a:r>
            <a:r>
              <a:rPr i="1"/>
              <a:t>svastha-svāsthya-rakṣaṇam</a:t>
            </a:r>
            <a:r>
              <a:rPr/>
              <a:t> (healthy-people’s-health-preservation) comes FIRST. The discipline is fundamentally preventive.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One-week dinacarya self-audit.</a:t>
            </a:r>
            <a:r>
              <a:rPr/>
              <a:t> Each student logs their actual sleep/wake/food times for ONE typical week (or recalls last week). Identify 2 misalignments with Āyurveda recommendations. Propose ONE specific change to test for 2 weeks. Honest reflection: </a:t>
            </a:r>
            <a:r>
              <a:rPr i="1"/>
              <a:t>“What’s preventing me from making this change?”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“Āyurveda articulates a wellness framework. Modern medicine articulates a disease framework. Argue: which framework does our society currently OVER-prioritise? Which is UNDER-prioritised? What would balanced integration look like?”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What is Āyurveda? Definition + scope</a:t>
            </a:r>
          </a:p>
          <a:p>
            <a:pPr lvl="0"/>
            <a:r>
              <a:rPr b="1"/>
              <a:t>Day 02</a:t>
            </a:r>
            <a:r>
              <a:rPr/>
              <a:t> — Tridoṣa — vāta, pitta, kapha</a:t>
            </a:r>
          </a:p>
          <a:p>
            <a:pPr lvl="0"/>
            <a:r>
              <a:rPr b="1"/>
              <a:t>Day 03</a:t>
            </a:r>
            <a:r>
              <a:rPr/>
              <a:t> — Dinacarya — daily routine</a:t>
            </a:r>
          </a:p>
          <a:p>
            <a:pPr lvl="0"/>
            <a:r>
              <a:rPr b="1"/>
              <a:t>Day 04</a:t>
            </a:r>
            <a:r>
              <a:rPr/>
              <a:t> — Ahāra — food + the six tastes</a:t>
            </a:r>
          </a:p>
          <a:p>
            <a:pPr lvl="0"/>
            <a:r>
              <a:rPr b="1"/>
              <a:t>Day 05</a:t>
            </a:r>
            <a:r>
              <a:rPr/>
              <a:t> — Ṛtucarya — seasonal eating</a:t>
            </a:r>
          </a:p>
          <a:p>
            <a:pPr lvl="0"/>
            <a:r>
              <a:rPr b="1"/>
              <a:t>Day 06</a:t>
            </a:r>
            <a:r>
              <a:rPr/>
              <a:t> — Sleep, exercise, elimination</a:t>
            </a:r>
          </a:p>
          <a:p>
            <a:pPr lvl="0"/>
            <a:r>
              <a:rPr b="1"/>
              <a:t>Day 07</a:t>
            </a:r>
            <a:r>
              <a:rPr/>
              <a:t> — Caraka, Suśruta, Vāgbhaṭa — the three Āyurveda authors</a:t>
            </a:r>
          </a:p>
          <a:p>
            <a:pPr lvl="0"/>
            <a:r>
              <a:rPr b="1"/>
              <a:t>Day 08</a:t>
            </a:r>
            <a:r>
              <a:rPr/>
              <a:t> — Bridge to modern science — circadian, microbiome</a:t>
            </a:r>
          </a:p>
          <a:p>
            <a:pPr lvl="0"/>
            <a:r>
              <a:rPr b="1"/>
              <a:t>Day 09</a:t>
            </a:r>
            <a:r>
              <a:rPr/>
              <a:t> — Critical reading — Āyurveda claims vs evidence</a:t>
            </a:r>
          </a:p>
          <a:p>
            <a:pPr lvl="0"/>
            <a:r>
              <a:rPr b="1"/>
              <a:t>Day 10</a:t>
            </a:r>
            <a:r>
              <a:rPr/>
              <a:t> — Synthesis: personal wellness plan + class share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module-03-ayurveda-good-health - Darshana (60-min workshop)</dc:title>
  <dc:creator>IKS Curriculum - senior band</dc:creator>
  <cp:keywords/>
  <dcterms:created xsi:type="dcterms:W3CDTF">2026-05-28T02:11:02Z</dcterms:created>
  <dcterms:modified xsi:type="dcterms:W3CDTF">2026-05-28T02:11:02Z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