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module-06-moon-phases-tithi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6 — Moon Phases and Tithi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Candra-pakṣa, Tithi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The moon’s monthly cycle and the Indian lunar calendar.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6’s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a year-long animation of moon phases. </a:t>
            </a:r>
            <a:r>
              <a:rPr i="1"/>
              <a:t>“~29.5 days from full moon to full moon. Indian astronomy divides this into 30 lunar days called tithis. Why 30 and not 29 or 30 sometimes? Today we find 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Moon-month framework:</a:t>
            </a:r>
          </a:p>
          <a:p>
            <a:pPr lvl="0"/>
            <a:r>
              <a:rPr b="1"/>
              <a:t>Synodic month:</a:t>
            </a:r>
            <a:r>
              <a:rPr/>
              <a:t> ~29.5 days from one full moon to the next.</a:t>
            </a:r>
          </a:p>
          <a:p>
            <a:pPr lvl="0"/>
            <a:r>
              <a:rPr b="1"/>
              <a:t>Tithi:</a:t>
            </a:r>
            <a:r>
              <a:rPr/>
              <a:t> 1/30th of synodic month — NOT a 24-hour day. Tithi length varies (~20-26 hours).</a:t>
            </a:r>
          </a:p>
          <a:p>
            <a:pPr lvl="0"/>
            <a:r>
              <a:rPr b="1"/>
              <a:t>Pakṣa:</a:t>
            </a:r>
            <a:r>
              <a:rPr/>
              <a:t> half-month, 15 tithis. </a:t>
            </a:r>
            <a:r>
              <a:rPr i="1"/>
              <a:t>Śukla</a:t>
            </a:r>
            <a:r>
              <a:rPr/>
              <a:t> (bright/waxing) or </a:t>
            </a:r>
            <a:r>
              <a:rPr i="1"/>
              <a:t>Kṛṣṇa</a:t>
            </a:r>
            <a:r>
              <a:rPr/>
              <a:t> (dark/waning).</a:t>
            </a:r>
          </a:p>
          <a:p>
            <a:pPr lvl="0"/>
            <a:r>
              <a:rPr b="1"/>
              <a:t>Pañcāṅga:</a:t>
            </a:r>
            <a:r>
              <a:rPr/>
              <a:t> the five-limbed Indian calendar with tithi, vāra (weekday), nakṣatra, yoga, karaṇa.</a:t>
            </a:r>
          </a:p>
          <a:p>
            <a:pPr lvl="0" indent="0" marL="0">
              <a:buNone/>
            </a:pPr>
            <a:r>
              <a:rPr b="1"/>
              <a:t>Why eclipses?</a:t>
            </a:r>
            <a:r>
              <a:rPr/>
              <a:t> Solar eclipse only on amāvasyā (new moon). Lunar eclipse only on pūrṇimā (full moon). Both require alignment of Sun-Moon-Earth.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Live computation: pick today’s date, look up the lunar elongation (in degrees) from any pañcāṅga app. Compute the tithi by dividing by 12°. Compare with the published pañcāṅga.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Sūrya-siddhānta, ch. 2: </a:t>
            </a:r>
            <a:r>
              <a:rPr i="1"/>
              <a:t>“The tithi is the time required for the Moon to gain 12° of longitudinal separation from the Sun. There are 30 tithis in a synodic month.”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Build a class tithi calendar</a:t>
            </a:r>
            <a:r>
              <a:rPr/>
              <a:t> for the current month. Each student fills in 2-3 dates with tithi, pakṣa, and one cultural festival or saint’s day if any.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“Why does India use two calendars (lunar pañcāṅga + Gregorian solar) in daily life? What does each handle better?”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The moon’s shape — why it changes</a:t>
            </a:r>
          </a:p>
          <a:p>
            <a:pPr lvl="0"/>
            <a:r>
              <a:rPr b="1"/>
              <a:t>Day 02</a:t>
            </a:r>
            <a:r>
              <a:rPr/>
              <a:t> — Pakṣa — bright and dark fortnights</a:t>
            </a:r>
          </a:p>
          <a:p>
            <a:pPr lvl="0"/>
            <a:r>
              <a:rPr b="1"/>
              <a:t>Day 03</a:t>
            </a:r>
            <a:r>
              <a:rPr/>
              <a:t> — 15 tithis — names and computation</a:t>
            </a:r>
          </a:p>
          <a:p>
            <a:pPr lvl="0"/>
            <a:r>
              <a:rPr b="1"/>
              <a:t>Day 04</a:t>
            </a:r>
            <a:r>
              <a:rPr/>
              <a:t> — Building a tithi calendar</a:t>
            </a:r>
          </a:p>
          <a:p>
            <a:pPr lvl="0"/>
            <a:r>
              <a:rPr b="1"/>
              <a:t>Day 05</a:t>
            </a:r>
            <a:r>
              <a:rPr/>
              <a:t> — Lunar months and festivals</a:t>
            </a:r>
          </a:p>
          <a:p>
            <a:pPr lvl="0"/>
            <a:r>
              <a:rPr b="1"/>
              <a:t>Day 06</a:t>
            </a:r>
            <a:r>
              <a:rPr/>
              <a:t> — Pañcāṅga — the five limbs</a:t>
            </a:r>
          </a:p>
          <a:p>
            <a:pPr lvl="0"/>
            <a:r>
              <a:rPr b="1"/>
              <a:t>Day 07</a:t>
            </a:r>
            <a:r>
              <a:rPr/>
              <a:t> — Eclipse geometry</a:t>
            </a:r>
          </a:p>
          <a:p>
            <a:pPr lvl="0"/>
            <a:r>
              <a:rPr b="1"/>
              <a:t>Day 08</a:t>
            </a:r>
            <a:r>
              <a:rPr/>
              <a:t> — Modern lunar science — phases, libration, tides</a:t>
            </a:r>
          </a:p>
          <a:p>
            <a:pPr lvl="0"/>
            <a:r>
              <a:rPr b="1"/>
              <a:t>Day 09</a:t>
            </a:r>
            <a:r>
              <a:rPr/>
              <a:t> — Cross-cultural calendars — Hijri, Chinese, Hebrew</a:t>
            </a:r>
          </a:p>
          <a:p>
            <a:pPr lvl="0"/>
            <a:r>
              <a:rPr b="1"/>
              <a:t>Day 10</a:t>
            </a:r>
            <a:r>
              <a:rPr/>
              <a:t> — Synthesis quiz + moon diary share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module-06-moon-phases-tithi - Darshana (60-min workshop)</dc:title>
  <dc:creator>IKS Curriculum - middle band</dc:creator>
  <cp:keywords/>
  <dcterms:created xsi:type="dcterms:W3CDTF">2026-05-28T02:10:49Z</dcterms:created>
  <dcterms:modified xsi:type="dcterms:W3CDTF">2026-05-28T02:10:49Z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