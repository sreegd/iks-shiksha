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module-02-panchabhuta - Darshana (60-min workshop)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IKS Curriculum - primary band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Module 2 — Panchabhūta — The Five Elements (Darśana)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Sanskrit:</a:t>
            </a:r>
            <a:r>
              <a:rPr/>
              <a:t> </a:t>
            </a:r>
            <a:r>
              <a:rPr i="1"/>
              <a:t>Pañcabhūta</a:t>
            </a:r>
            <a:r>
              <a:rPr/>
              <a:t> · </a:t>
            </a:r>
            <a:r>
              <a:rPr b="1"/>
              <a:t>Band:</a:t>
            </a:r>
            <a:r>
              <a:rPr/>
              <a:t> Primary (3-5) · </a:t>
            </a:r>
            <a:r>
              <a:rPr b="1"/>
              <a:t>Duration:</a:t>
            </a:r>
            <a:r>
              <a:rPr/>
              <a:t> 60 min · </a:t>
            </a:r>
            <a:r>
              <a:rPr b="1"/>
              <a:t>Path:</a:t>
            </a:r>
            <a:r>
              <a:rPr/>
              <a:t> Darśana (Workshop)</a:t>
            </a:r>
          </a:p>
          <a:p>
            <a:pPr lvl="0" indent="0" marL="0">
              <a:buNone/>
            </a:pPr>
            <a:r>
              <a:rPr/>
              <a:t>The classical Indian classification of matter.</a:t>
            </a:r>
          </a:p>
          <a:p>
            <a:pPr lvl="0" indent="0" marL="1270000">
              <a:buNone/>
            </a:pPr>
            <a:r>
              <a:rPr sz="2000" b="1"/>
              <a:t>Darśana note.</a:t>
            </a:r>
            <a:r>
              <a:rPr sz="2000"/>
              <a:t> This workshop condenses Module 2’s full 10-day arc into one hour. For the deeper version — daily lesson plans, quizzes, assessments, slide decks — switch to </a:t>
            </a:r>
            <a:r>
              <a:rPr sz="2000" b="1">
                <a:hlinkClick r:id="rId2"/>
              </a:rPr>
              <a:t>Adhyayana</a:t>
            </a:r>
            <a:r>
              <a:rPr sz="2000"/>
              <a:t> (the Full Course path).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Opening hook · 5 min</a:t>
            </a:r>
          </a:p>
          <a:p>
            <a:pPr lvl="0" indent="0" marL="0">
              <a:buNone/>
            </a:pPr>
            <a:r>
              <a:rPr/>
              <a:t>Hold a glass of water. </a:t>
            </a:r>
            <a:r>
              <a:rPr i="1"/>
              <a:t>“What can water do?”</a:t>
            </a:r>
            <a:r>
              <a:rPr/>
              <a:t> (Flow, splash, freeze, evaporate.) Now an ice cube. </a:t>
            </a:r>
            <a:r>
              <a:rPr i="1"/>
              <a:t>“Still water?”</a:t>
            </a:r>
            <a:r>
              <a:rPr/>
              <a:t> (Yes — different form.) </a:t>
            </a:r>
            <a:r>
              <a:rPr i="1"/>
              <a:t>“In India long ago, people said matter has FIVE basic forms — like five friends. Today we meet them.”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Core idea · 15 min</a:t>
            </a:r>
          </a:p>
          <a:p>
            <a:pPr lvl="0" indent="0" marL="0">
              <a:buNone/>
            </a:pPr>
            <a:r>
              <a:rPr b="1"/>
              <a:t>Meet the five friends:</a:t>
            </a:r>
            <a:r>
              <a:rPr/>
              <a:t> - </a:t>
            </a:r>
            <a:r>
              <a:rPr b="1"/>
              <a:t>Pṛthvī (पृथ्वी)</a:t>
            </a:r>
            <a:r>
              <a:rPr/>
              <a:t> — Earth. </a:t>
            </a:r>
            <a:r>
              <a:rPr i="1"/>
              <a:t>Solid stuff.</a:t>
            </a:r>
            <a:r>
              <a:rPr/>
              <a:t> Rocks, mountains, bones. - </a:t>
            </a:r>
            <a:r>
              <a:rPr b="1"/>
              <a:t>Ap (अप्)</a:t>
            </a:r>
            <a:r>
              <a:rPr/>
              <a:t> — Water. </a:t>
            </a:r>
            <a:r>
              <a:rPr i="1"/>
              <a:t>Liquid stuff.</a:t>
            </a:r>
            <a:r>
              <a:rPr/>
              <a:t> Rivers, blood, juice. - </a:t>
            </a:r>
            <a:r>
              <a:rPr b="1"/>
              <a:t>Tejas (तेजस्)</a:t>
            </a:r>
            <a:r>
              <a:rPr/>
              <a:t> — Fire. </a:t>
            </a:r>
            <a:r>
              <a:rPr i="1"/>
              <a:t>Warm stuff.</a:t>
            </a:r>
            <a:r>
              <a:rPr/>
              <a:t> Sun, candles, body warmth. - </a:t>
            </a:r>
            <a:r>
              <a:rPr b="1"/>
              <a:t>Vāyu (वायु)</a:t>
            </a:r>
            <a:r>
              <a:rPr/>
              <a:t> — Air. </a:t>
            </a:r>
            <a:r>
              <a:rPr i="1"/>
              <a:t>Moving stuff.</a:t>
            </a:r>
            <a:r>
              <a:rPr/>
              <a:t> Wind, breath, the smell of food. - </a:t>
            </a:r>
            <a:r>
              <a:rPr b="1"/>
              <a:t>Ākāśa (आकाश)</a:t>
            </a:r>
            <a:r>
              <a:rPr/>
              <a:t> — Space. </a:t>
            </a:r>
            <a:r>
              <a:rPr i="1"/>
              <a:t>Where everything fits.</a:t>
            </a:r>
            <a:r>
              <a:rPr/>
              <a:t> The room, the sky, the gap between hands.</a:t>
            </a:r>
          </a:p>
          <a:p>
            <a:pPr lvl="0" indent="0" marL="0">
              <a:buNone/>
            </a:pPr>
            <a:r>
              <a:rPr/>
              <a:t>Make a hand sign for each friend. Practice 3 times.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Demonstration · 10 min</a:t>
            </a:r>
          </a:p>
          <a:p>
            <a:pPr lvl="0" indent="0" marL="0">
              <a:buNone/>
            </a:pPr>
            <a:r>
              <a:rPr b="1"/>
              <a:t>Element walk.</a:t>
            </a:r>
            <a:r>
              <a:rPr/>
              <a:t> Stand in a line. The teacher names one element; children mime it: - Pṛthvī → stand strong like a mountain - Ap → wave arms like water - Tejas → flicker like a flame - Vāyu → blow softly - Ākāśa → spread arms wide and breathe deep</a:t>
            </a:r>
          </a:p>
          <a:p>
            <a:pPr lvl="0" indent="0" marL="0">
              <a:buNone/>
            </a:pPr>
            <a:r>
              <a:rPr/>
              <a:t>Repeat 3 times, faster each time. Cheer at the end.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Source moment · 5 min</a:t>
            </a:r>
          </a:p>
          <a:p>
            <a:pPr lvl="0" indent="0" marL="0">
              <a:buNone/>
            </a:pPr>
            <a:r>
              <a:rPr/>
              <a:t>Tell the story of </a:t>
            </a:r>
            <a:r>
              <a:rPr i="1"/>
              <a:t>Pañcabhūta</a:t>
            </a:r>
            <a:r>
              <a:rPr/>
              <a:t> as five family members of Earth. </a:t>
            </a:r>
            <a:r>
              <a:rPr i="1"/>
              <a:t>“They each have a job. Pṛthvī gives us food. Ap gives us drinks. Tejas warms us. Vāyu brings us smells and breath. Ākāśa makes room for everyone.”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Hands-on activity · 15 min</a:t>
            </a:r>
          </a:p>
          <a:p>
            <a:pPr lvl="0" indent="0" marL="0">
              <a:buNone/>
            </a:pPr>
            <a:r>
              <a:rPr b="1"/>
              <a:t>Five-friends drawing.</a:t>
            </a:r>
            <a:r>
              <a:rPr/>
              <a:t> Each child folds a paper into 5 sections. In each section, draw something for that element (sun for tejas, balloon for vāyu, river for ap, mountain for pṛthvī, sky for ākāśa). Decorate. Share.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Reflection + take-home · 10 min</a:t>
            </a:r>
          </a:p>
          <a:p>
            <a:pPr lvl="0" indent="0" marL="0">
              <a:buNone/>
            </a:pPr>
            <a:r>
              <a:rPr/>
              <a:t>Each child names their favourite element and why. Group hug at the end (representing ākāśa connecting everyone).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Go deeper into Adhyayana</a:t>
            </a:r>
          </a:p>
          <a:p>
            <a:pPr lvl="0" indent="0" marL="0">
              <a:buNone/>
            </a:pPr>
            <a:r>
              <a:rPr/>
              <a:t>The 10 days you’re skipping if you only do this workshop:</a:t>
            </a:r>
          </a:p>
          <a:p>
            <a:pPr lvl="0"/>
            <a:r>
              <a:rPr b="1"/>
              <a:t>Day 01</a:t>
            </a:r>
            <a:r>
              <a:rPr/>
              <a:t> — Five friends — meeting the elements</a:t>
            </a:r>
          </a:p>
          <a:p>
            <a:pPr lvl="0"/>
            <a:r>
              <a:rPr b="1"/>
              <a:t>Day 02</a:t>
            </a:r>
            <a:r>
              <a:rPr/>
              <a:t> — Earth and water — solid and liquid</a:t>
            </a:r>
          </a:p>
          <a:p>
            <a:pPr lvl="0"/>
            <a:r>
              <a:rPr b="1"/>
              <a:t>Day 03</a:t>
            </a:r>
            <a:r>
              <a:rPr/>
              <a:t> — Five qualities, five senses (tanmātras)</a:t>
            </a:r>
          </a:p>
          <a:p>
            <a:pPr lvl="0"/>
            <a:r>
              <a:rPr b="1"/>
              <a:t>Day 04</a:t>
            </a:r>
            <a:r>
              <a:rPr/>
              <a:t> — Fire and air — energy and motion</a:t>
            </a:r>
          </a:p>
          <a:p>
            <a:pPr lvl="0"/>
            <a:r>
              <a:rPr b="1"/>
              <a:t>Day 05</a:t>
            </a:r>
            <a:r>
              <a:rPr/>
              <a:t> — Ākāśa — the fifth element</a:t>
            </a:r>
          </a:p>
          <a:p>
            <a:pPr lvl="0"/>
            <a:r>
              <a:rPr b="1"/>
              <a:t>Day 06</a:t>
            </a:r>
            <a:r>
              <a:rPr/>
              <a:t> — Modern parallels — states of matter</a:t>
            </a:r>
          </a:p>
          <a:p>
            <a:pPr lvl="0"/>
            <a:r>
              <a:rPr b="1"/>
              <a:t>Day 07</a:t>
            </a:r>
            <a:r>
              <a:rPr/>
              <a:t> — Pañcabhūta in Āyurveda — bridge to Module 4</a:t>
            </a:r>
          </a:p>
          <a:p>
            <a:pPr lvl="0"/>
            <a:r>
              <a:rPr b="1"/>
              <a:t>Day 08</a:t>
            </a:r>
            <a:r>
              <a:rPr/>
              <a:t> — Pañcabhūta in cuisine — six tastes</a:t>
            </a:r>
          </a:p>
          <a:p>
            <a:pPr lvl="0"/>
            <a:r>
              <a:rPr b="1"/>
              <a:t>Day 09</a:t>
            </a:r>
            <a:r>
              <a:rPr/>
              <a:t> — Pañcabhūta in nature — local examples</a:t>
            </a:r>
          </a:p>
          <a:p>
            <a:pPr lvl="0"/>
            <a:r>
              <a:rPr b="1"/>
              <a:t>Day 10</a:t>
            </a:r>
            <a:r>
              <a:rPr/>
              <a:t> — Synthesis project: build a pañcabhūta poster</a:t>
            </a:r>
          </a:p>
          <a:p>
            <a:pPr lvl="0" indent="0" marL="0">
              <a:buNone/>
            </a:pPr>
            <a:r>
              <a:rPr/>
              <a:t>→ </a:t>
            </a:r>
            <a:r>
              <a:rPr b="1">
                <a:hlinkClick r:id="rId2"/>
              </a:rPr>
              <a:t>Open the Adhyayana track for this module</a:t>
            </a:r>
            <a:r>
              <a:rPr/>
              <a:t> to access all 10 days, the 4-audience PDFs, the slide deck, the quizzes, and the project rubric.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module-02-panchabhuta - Darshana (60-min workshop)</dc:title>
  <dc:creator>IKS Curriculum - primary band</dc:creator>
  <cp:keywords/>
  <dcterms:created xsi:type="dcterms:W3CDTF">2026-05-28T02:10:27Z</dcterms:created>
  <dcterms:modified xsi:type="dcterms:W3CDTF">2026-05-28T02:10:27Z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