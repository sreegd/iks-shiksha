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module-13-indic-ecology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middle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13 — Indic Ecology — Vasudhaiva Kuṭumbakam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Vasudhaiva Kuṭumbakam</a:t>
            </a:r>
            <a:r>
              <a:rPr/>
              <a:t> · </a:t>
            </a:r>
            <a:r>
              <a:rPr b="1"/>
              <a:t>Band:</a:t>
            </a:r>
            <a:r>
              <a:rPr/>
              <a:t> Middle (6-8)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“The world is one family” — Indian ecological frameworks.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13’s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Project the verse: </a:t>
            </a:r>
            <a:r>
              <a:rPr i="1"/>
              <a:t>“vasudhaiva kuṭumbakam”</a:t>
            </a:r>
            <a:r>
              <a:rPr/>
              <a:t> — </a:t>
            </a:r>
            <a:r>
              <a:rPr i="1"/>
              <a:t>“the Earth itself is one family.”</a:t>
            </a:r>
            <a:r>
              <a:rPr/>
              <a:t> (Mahā Upaniṣad 6.71-73.) </a:t>
            </a:r>
            <a:r>
              <a:rPr i="1"/>
              <a:t>“This is the framework. Today we look at the practices — sacred groves, yajña, ahiṁsā — that came from it.”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Indic ecology framework:</a:t>
            </a:r>
          </a:p>
          <a:p>
            <a:pPr lvl="0" indent="-342900" marL="342900">
              <a:buAutoNum type="arabicPeriod"/>
            </a:pPr>
            <a:r>
              <a:rPr b="1"/>
              <a:t>Vasudhaiva Kuṭumbakam</a:t>
            </a:r>
            <a:r>
              <a:rPr/>
              <a:t> (Mahā Upaniṣad 6.71-73): the Earth is one family. Universal moral inclusion.</a:t>
            </a:r>
          </a:p>
          <a:p>
            <a:pPr lvl="0" indent="-342900" marL="342900">
              <a:buAutoNum type="arabicPeriod"/>
            </a:pPr>
            <a:r>
              <a:rPr b="1"/>
              <a:t>Sacred groves (devarakāḍu, sarpa-kāvu):</a:t>
            </a:r>
            <a:r>
              <a:rPr/>
              <a:t> community-protected forests, ~13,000 documented across India. Biodiversity hotspots, water-table protection.</a:t>
            </a:r>
          </a:p>
          <a:p>
            <a:pPr lvl="0" indent="-342900" marL="342900">
              <a:buAutoNum type="arabicPeriod"/>
            </a:pPr>
            <a:r>
              <a:rPr b="1"/>
              <a:t>Yajña (Bhagavad Gītā 3.10-14):</a:t>
            </a:r>
            <a:r>
              <a:rPr/>
              <a:t> the ecological cycle — every taking is part of a give-and-take with the larger system.</a:t>
            </a:r>
          </a:p>
          <a:p>
            <a:pPr lvl="0" indent="-342900" marL="342900">
              <a:buAutoNum type="arabicPeriod"/>
            </a:pPr>
            <a:r>
              <a:rPr b="1"/>
              <a:t>Ahiṁsā:</a:t>
            </a:r>
            <a:r>
              <a:rPr/>
              <a:t> non-harming, extended to non-human life.</a:t>
            </a:r>
          </a:p>
          <a:p>
            <a:pPr lvl="0" indent="-342900" marL="342900">
              <a:buAutoNum type="arabicPeriod"/>
            </a:pPr>
            <a:r>
              <a:rPr b="1"/>
              <a:t>Five elements (pañcabhūta):</a:t>
            </a:r>
            <a:r>
              <a:rPr/>
              <a:t> ecological substrate — air, water, fire, earth, space. Pollution = imbalance.</a:t>
            </a:r>
          </a:p>
          <a:p>
            <a:pPr lvl="0" indent="0" marL="0">
              <a:buNone/>
            </a:pPr>
            <a:r>
              <a:rPr b="1"/>
              <a:t>Climate context:</a:t>
            </a:r>
            <a:r>
              <a:rPr/>
              <a:t> these are frameworks. Practice was uneven. Don’t romanticise.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Local sacred-grove research.</a:t>
            </a:r>
            <a:r>
              <a:rPr/>
              <a:t> Pairs research one named sacred grove (e.g., Mawphlang in Meghalaya, Sarguja in Chhattisgarh, Karnataka coast devarakāḍu). 5 minutes. Quick presentation.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Paraphrase Mahā Upaniṣad 6.71-73: </a:t>
            </a:r>
            <a:r>
              <a:rPr i="1"/>
              <a:t>“The narrow-minded ask ‘is this mine or yours?’ For the noble-minded, the whole Earth is one family.”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Local environmental project pitch.</a:t>
            </a:r>
            <a:r>
              <a:rPr/>
              <a:t> Pairs design one local environmental action: tree planting, river cleanup, school waste reduction. Present.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“Which Indic framework most surprises you? Which would you adapt to your daily life?”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Vasudhaiva kuṭumbakam — the founding verse</a:t>
            </a:r>
          </a:p>
          <a:p>
            <a:pPr lvl="0"/>
            <a:r>
              <a:rPr b="1"/>
              <a:t>Day 02</a:t>
            </a:r>
            <a:r>
              <a:rPr/>
              <a:t> — Five elements as ecological frame</a:t>
            </a:r>
          </a:p>
          <a:p>
            <a:pPr lvl="0"/>
            <a:r>
              <a:rPr b="1"/>
              <a:t>Day 03</a:t>
            </a:r>
            <a:r>
              <a:rPr/>
              <a:t> — Rivers as sacred</a:t>
            </a:r>
          </a:p>
          <a:p>
            <a:pPr lvl="0"/>
            <a:r>
              <a:rPr b="1"/>
              <a:t>Day 04</a:t>
            </a:r>
            <a:r>
              <a:rPr/>
              <a:t> — Sacred groves</a:t>
            </a:r>
          </a:p>
          <a:p>
            <a:pPr lvl="0"/>
            <a:r>
              <a:rPr b="1"/>
              <a:t>Day 05</a:t>
            </a:r>
            <a:r>
              <a:rPr/>
              <a:t> — Yajña cycle — Gītā 3.10-14</a:t>
            </a:r>
          </a:p>
          <a:p>
            <a:pPr lvl="0"/>
            <a:r>
              <a:rPr b="1"/>
              <a:t>Day 06</a:t>
            </a:r>
            <a:r>
              <a:rPr/>
              <a:t> — Pṛthivī Sūkta — Atharva Veda 12.1</a:t>
            </a:r>
          </a:p>
          <a:p>
            <a:pPr lvl="0"/>
            <a:r>
              <a:rPr b="1"/>
              <a:t>Day 07</a:t>
            </a:r>
            <a:r>
              <a:rPr/>
              <a:t> — Iṣopaniṣad mantra 1</a:t>
            </a:r>
          </a:p>
          <a:p>
            <a:pPr lvl="0"/>
            <a:r>
              <a:rPr b="1"/>
              <a:t>Day 08</a:t>
            </a:r>
            <a:r>
              <a:rPr/>
              <a:t> — Climate change context</a:t>
            </a:r>
          </a:p>
          <a:p>
            <a:pPr lvl="0"/>
            <a:r>
              <a:rPr b="1"/>
              <a:t>Day 09</a:t>
            </a:r>
            <a:r>
              <a:rPr/>
              <a:t> — From ancient to action</a:t>
            </a:r>
          </a:p>
          <a:p>
            <a:pPr lvl="0"/>
            <a:r>
              <a:rPr b="1"/>
              <a:t>Day 10</a:t>
            </a:r>
            <a:r>
              <a:rPr/>
              <a:t> — Project pitch + assessment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module-13-indic-ecology - Darshana (60-min workshop)</dc:title>
  <dc:creator>IKS Curriculum - middle band</dc:creator>
  <cp:keywords/>
  <dcterms:created xsi:type="dcterms:W3CDTF">2026-05-28T02:10:56Z</dcterms:created>
  <dcterms:modified xsi:type="dcterms:W3CDTF">2026-05-28T02:10:56Z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