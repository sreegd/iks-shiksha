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module-13-indic-ecology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senior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13 — Indic Ecology — Vasudhaiva Kuṭumbakam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Vasudhaiva Kuṭumbakam</a:t>
            </a:r>
            <a:r>
              <a:rPr/>
              <a:t> · </a:t>
            </a:r>
            <a:r>
              <a:rPr b="1"/>
              <a:t>Band:</a:t>
            </a:r>
            <a:r>
              <a:rPr/>
              <a:t> Senior (9-12)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“The world is one family” — Indian ecological frameworks.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13’s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Project: (a) Mahā Upaniṣad 6.71-73, (b) IPCC AR6 climate-emergency declaration. </a:t>
            </a:r>
            <a:r>
              <a:rPr i="1"/>
              <a:t>“2500 years separate them, yet they ask the same questions: how do humans relate to the non-human? Today’s workshop reads classical Indian ecology against modern climate ethics.”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Indic ecology — frameworks and the climate present.</a:t>
            </a:r>
          </a:p>
          <a:p>
            <a:pPr lvl="0" indent="-342900" marL="342900">
              <a:buAutoNum type="arabicPeriod"/>
            </a:pPr>
            <a:r>
              <a:rPr b="1"/>
              <a:t>Vasudhaiva Kuṭumbakam</a:t>
            </a:r>
            <a:r>
              <a:rPr/>
              <a:t> (Mahā Upaniṣad 6.71-73). Origin verse for “Earth as family” framing. Used today in Indian foreign policy, environmental rhetoric.</a:t>
            </a:r>
          </a:p>
          <a:p>
            <a:pPr lvl="0" indent="-342900" marL="342900">
              <a:buAutoNum type="arabicPeriod"/>
            </a:pPr>
            <a:r>
              <a:rPr b="1"/>
              <a:t>Atharva Veda Pṛthivī Sūkta (12.1):</a:t>
            </a:r>
            <a:r>
              <a:rPr/>
              <a:t> 63-verse hymn to Earth as goddess and substrate. Read alongside Lovelock’s Gaia hypothesis (1979).</a:t>
            </a:r>
          </a:p>
          <a:p>
            <a:pPr lvl="0" indent="-342900" marL="342900">
              <a:buAutoNum type="arabicPeriod"/>
            </a:pPr>
            <a:r>
              <a:rPr b="1"/>
              <a:t>Iṣopaniṣad 1:</a:t>
            </a:r>
            <a:r>
              <a:rPr/>
              <a:t> </a:t>
            </a:r>
            <a:r>
              <a:rPr i="1"/>
              <a:t>īśāvāsyam idaṁ sarvam</a:t>
            </a:r>
            <a:r>
              <a:rPr/>
              <a:t> — “all this is to be inhabited by the divine.” Foundational sustainability ethic.</a:t>
            </a:r>
          </a:p>
          <a:p>
            <a:pPr lvl="0" indent="-342900" marL="342900">
              <a:buAutoNum type="arabicPeriod"/>
            </a:pPr>
            <a:r>
              <a:rPr b="1"/>
              <a:t>Bhagavad Gītā 3.10-14:</a:t>
            </a:r>
            <a:r>
              <a:rPr/>
              <a:t> yajña cycle. Modern parallel: ecological reciprocity in indigenous-knowledge frameworks (Robin Wall Kimmerer, </a:t>
            </a:r>
            <a:r>
              <a:rPr i="1"/>
              <a:t>Braiding Sweetgrass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Sacred groves:</a:t>
            </a:r>
            <a:r>
              <a:rPr/>
              <a:t> ~13,000 in India (Gadgil &amp; Vartak 1981). Biodiversity = species/area significantly higher than non-protected.</a:t>
            </a:r>
          </a:p>
          <a:p>
            <a:pPr lvl="0" indent="0" marL="0">
              <a:buNone/>
            </a:pPr>
            <a:r>
              <a:rPr b="1"/>
              <a:t>Honest framing:</a:t>
            </a:r>
            <a:r>
              <a:rPr/>
              <a:t> ancient practice was imperfect. Soil erosion, hunting pressures, caste-restricted access existed. Use the FRAMEWORKS to inspire modern practice; don’t mythologise pre-modern practice.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 b="1"/>
              <a:t>Source-critical reading.</a:t>
            </a:r>
            <a:r>
              <a:rPr/>
              <a:t> Project (a) Mahā Upaniṣad 6.71-73, (b) IPCC AR6 SPM excerpt. Pairs identify: where do the ethical claims overlap? Where do they diverge? Where does one fill a gap the other has?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 b="1"/>
              <a:t>Direct verse.</a:t>
            </a:r>
            <a:r>
              <a:rPr/>
              <a:t> Mahā Upaniṣad 6.71-73:</a:t>
            </a:r>
          </a:p>
          <a:p>
            <a:pPr lvl="0" indent="0" marL="1270000">
              <a:buNone/>
            </a:pPr>
            <a:r>
              <a:rPr sz="2000" i="1"/>
              <a:t>ayaṁ nijaḥ paro veti gaṇanā laghu-cetasām /</a:t>
            </a:r>
            <a:r>
              <a:rPr sz="2000"/>
              <a:t> </a:t>
            </a:r>
            <a:r>
              <a:rPr sz="2000" i="1"/>
              <a:t>udāra-caritānāṁ tu vasudhaiva kuṭumbakam //</a:t>
            </a:r>
          </a:p>
          <a:p>
            <a:pPr lvl="0" indent="0" marL="0">
              <a:buNone/>
            </a:pPr>
            <a:r>
              <a:rPr/>
              <a:t>“The reckoning of ‘this is mine, that is another’s’ belongs to the narrow-minded. To the noble-hearted, the Earth itself is one family.”</a:t>
            </a:r>
          </a:p>
          <a:p>
            <a:pPr lvl="0" indent="0" marL="0">
              <a:buNone/>
            </a:pPr>
            <a:r>
              <a:rPr/>
              <a:t>Note: NOT “all humans” — </a:t>
            </a:r>
            <a:r>
              <a:rPr i="1"/>
              <a:t>vasudhā</a:t>
            </a:r>
            <a:r>
              <a:rPr/>
              <a:t> (Earth) includes all life, all elements. The moral scope is the entire biosphere.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Climate-ethics essay.</a:t>
            </a:r>
            <a:r>
              <a:rPr/>
              <a:t> Each student writes 400 words: </a:t>
            </a:r>
            <a:r>
              <a:rPr i="1"/>
              <a:t>“Indic ecology and modern climate ethics both ask: how should humans treat the non-human? Compare ONE specific principle from each tradition. Where do they agree? Diverge?”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“India is the world’s 3rd-largest CO2 emitter (2024). Its tradition includes vasudhaiva kuṭumbakam. Discuss the gap. What’s needed to close it?”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Vasudhaiva kuṭumbakam — the founding verse</a:t>
            </a:r>
          </a:p>
          <a:p>
            <a:pPr lvl="0"/>
            <a:r>
              <a:rPr b="1"/>
              <a:t>Day 02</a:t>
            </a:r>
            <a:r>
              <a:rPr/>
              <a:t> — Five elements as ecological frame</a:t>
            </a:r>
          </a:p>
          <a:p>
            <a:pPr lvl="0"/>
            <a:r>
              <a:rPr b="1"/>
              <a:t>Day 03</a:t>
            </a:r>
            <a:r>
              <a:rPr/>
              <a:t> — Rivers as sacred</a:t>
            </a:r>
          </a:p>
          <a:p>
            <a:pPr lvl="0"/>
            <a:r>
              <a:rPr b="1"/>
              <a:t>Day 04</a:t>
            </a:r>
            <a:r>
              <a:rPr/>
              <a:t> — Sacred groves</a:t>
            </a:r>
          </a:p>
          <a:p>
            <a:pPr lvl="0"/>
            <a:r>
              <a:rPr b="1"/>
              <a:t>Day 05</a:t>
            </a:r>
            <a:r>
              <a:rPr/>
              <a:t> — Yajña cycle — Gītā 3.10-14</a:t>
            </a:r>
          </a:p>
          <a:p>
            <a:pPr lvl="0"/>
            <a:r>
              <a:rPr b="1"/>
              <a:t>Day 06</a:t>
            </a:r>
            <a:r>
              <a:rPr/>
              <a:t> — Pṛthivī Sūkta — Atharva Veda 12.1</a:t>
            </a:r>
          </a:p>
          <a:p>
            <a:pPr lvl="0"/>
            <a:r>
              <a:rPr b="1"/>
              <a:t>Day 07</a:t>
            </a:r>
            <a:r>
              <a:rPr/>
              <a:t> — Iṣopaniṣad mantra 1</a:t>
            </a:r>
          </a:p>
          <a:p>
            <a:pPr lvl="0"/>
            <a:r>
              <a:rPr b="1"/>
              <a:t>Day 08</a:t>
            </a:r>
            <a:r>
              <a:rPr/>
              <a:t> — Climate change context</a:t>
            </a:r>
          </a:p>
          <a:p>
            <a:pPr lvl="0"/>
            <a:r>
              <a:rPr b="1"/>
              <a:t>Day 09</a:t>
            </a:r>
            <a:r>
              <a:rPr/>
              <a:t> — From ancient to action</a:t>
            </a:r>
          </a:p>
          <a:p>
            <a:pPr lvl="0"/>
            <a:r>
              <a:rPr b="1"/>
              <a:t>Day 10</a:t>
            </a:r>
            <a:r>
              <a:rPr/>
              <a:t> — Project pitch + assessment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module-13-indic-ecology - Darshana (60-min workshop)</dc:title>
  <dc:creator>IKS Curriculum - senior band</dc:creator>
  <cp:keywords/>
  <dcterms:created xsi:type="dcterms:W3CDTF">2026-05-28T02:11:13Z</dcterms:created>
  <dcterms:modified xsi:type="dcterms:W3CDTF">2026-05-28T02:11:13Z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