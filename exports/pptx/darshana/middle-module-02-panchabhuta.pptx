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module-02-panchabhuta - Darshana (60-min workshop)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IKS Curriculum - middle band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Module 2 — Panchabhūta — The Five Elements (Darśana)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Sanskrit:</a:t>
            </a:r>
            <a:r>
              <a:rPr/>
              <a:t> </a:t>
            </a:r>
            <a:r>
              <a:rPr i="1"/>
              <a:t>Pañcabhūta</a:t>
            </a:r>
            <a:r>
              <a:rPr/>
              <a:t> · </a:t>
            </a:r>
            <a:r>
              <a:rPr b="1"/>
              <a:t>Band:</a:t>
            </a:r>
            <a:r>
              <a:rPr/>
              <a:t> Middle (6-8) · </a:t>
            </a:r>
            <a:r>
              <a:rPr b="1"/>
              <a:t>Duration:</a:t>
            </a:r>
            <a:r>
              <a:rPr/>
              <a:t> 60 min · </a:t>
            </a:r>
            <a:r>
              <a:rPr b="1"/>
              <a:t>Path:</a:t>
            </a:r>
            <a:r>
              <a:rPr/>
              <a:t> Darśana (Workshop)</a:t>
            </a:r>
          </a:p>
          <a:p>
            <a:pPr lvl="0" indent="0" marL="0">
              <a:buNone/>
            </a:pPr>
            <a:r>
              <a:rPr/>
              <a:t>The classical Indian classification of matter.</a:t>
            </a:r>
          </a:p>
          <a:p>
            <a:pPr lvl="0" indent="0" marL="1270000">
              <a:buNone/>
            </a:pPr>
            <a:r>
              <a:rPr sz="2000" b="1"/>
              <a:t>Darśana note.</a:t>
            </a:r>
            <a:r>
              <a:rPr sz="2000"/>
              <a:t> This workshop condenses Module 2’s full 10-day arc into one hour. For the deeper version — daily lesson plans, quizzes, assessments, slide decks — switch to </a:t>
            </a:r>
            <a:r>
              <a:rPr sz="2000" b="1">
                <a:hlinkClick r:id="rId2"/>
              </a:rPr>
              <a:t>Adhyayana</a:t>
            </a:r>
            <a:r>
              <a:rPr sz="2000"/>
              <a:t> (the Full Course path).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Opening hook · 5 min</a:t>
            </a:r>
          </a:p>
          <a:p>
            <a:pPr lvl="0" indent="0" marL="0">
              <a:buNone/>
            </a:pPr>
            <a:r>
              <a:rPr/>
              <a:t>Project a candle being lit. </a:t>
            </a:r>
            <a:r>
              <a:rPr i="1"/>
              <a:t>“What just happened? Wax (earth-like solid) → fire (heat) → air (gas, you can feel it) → space (the room’s air carries the heat). One simple act involves four of the five elements.”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Core idea · 15 min</a:t>
            </a:r>
          </a:p>
          <a:p>
            <a:pPr lvl="0" indent="0" marL="0">
              <a:buNone/>
            </a:pPr>
            <a:r>
              <a:rPr b="1"/>
              <a:t>The five elements: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Sanskrit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 parallel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Observable property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Pṛthvī (पृथ्वी)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Solid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Hardness, density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 (अप्)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Liquid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Cohesion, flow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Tejas (तेजस्)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Plasma / energy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Heat, light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Vāyu (वायु)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Mobility, expansion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Ākāśa (आकाश)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Vacuum / space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Containment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idea:</a:t>
            </a:r>
            <a:r>
              <a:rPr/>
              <a:t> Sāṅkhya philosophy treats these as five categories of phenomena, not separate substances. Modern physics likewise: solid, liquid, gas, plasma, and… space (the vacuum is a thing, with Higgs field and zero-point energy).</a:t>
            </a:r>
          </a:p>
          <a:p>
            <a:pPr lvl="0" indent="0" marL="0">
              <a:buNone/>
            </a:pPr>
            <a:r>
              <a:rPr/>
              <a:t>The mapping is not perfect — but the categorisation is empirically reasonable.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Demonstration · 10 min</a:t>
            </a:r>
          </a:p>
          <a:p>
            <a:pPr lvl="0" indent="0" marL="0">
              <a:buNone/>
            </a:pPr>
            <a:r>
              <a:rPr b="1"/>
              <a:t>State-change demo.</a:t>
            </a:r>
            <a:r>
              <a:rPr/>
              <a:t> With one ice cube, one candle flame, and one cup of water: observe ice (pṛthvī-like) → water (ap-like) → steam (vāyu-like) → diffuses (ākāśa-like). The candle flame stays </a:t>
            </a:r>
            <a:r>
              <a:rPr i="1"/>
              <a:t>tejas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Draw the cycle on the board. </a:t>
            </a:r>
            <a:r>
              <a:rPr i="1"/>
              <a:t>“This is the Indian classification of matter — observable, testable, with one observation: ākāśa is what allows the transitions, the medium that everything else moves through.”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moment · 5 min</a:t>
            </a:r>
          </a:p>
          <a:p>
            <a:pPr lvl="0" indent="0" marL="0">
              <a:buNone/>
            </a:pPr>
            <a:r>
              <a:rPr/>
              <a:t>Paraphrase from Śrīmad-Bhāgavatam 3.26.49: </a:t>
            </a:r>
            <a:r>
              <a:rPr i="1"/>
              <a:t>“From the five subtle elements (tanmātras), the five gross elements (pañcabhūta) emerge — earth, water, fire, air, and space. These pervade the entire physical world.”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Hands-on activity · 15 min</a:t>
            </a:r>
          </a:p>
          <a:p>
            <a:pPr lvl="0" indent="0" marL="0">
              <a:buNone/>
            </a:pPr>
            <a:r>
              <a:rPr b="1"/>
              <a:t>Element census of your classroom.</a:t>
            </a:r>
            <a:r>
              <a:rPr/>
              <a:t> Pairs walk around the room and identify ONE item for each element. List them on a worksheet. Compare with another pair. Discussion: </a:t>
            </a:r>
            <a:r>
              <a:rPr i="1"/>
              <a:t>“Which element was hardest to find? Why?”</a:t>
            </a:r>
            <a:r>
              <a:rPr/>
              <a:t> (Often ākāśa — students struggle to think of “empty space” as an element. That’s the pedagogical point.)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Reflection + take-home · 10 min</a:t>
            </a:r>
          </a:p>
          <a:p>
            <a:pPr lvl="0" indent="0" marL="0">
              <a:buNone/>
            </a:pPr>
            <a:r>
              <a:rPr i="1"/>
              <a:t>“Which element is most overlooked in modern thinking? Why might ancient frameworks have foregrounded it more?”</a:t>
            </a:r>
            <a:r>
              <a:rPr/>
              <a:t> — 3 sentences.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Go deeper into Adhyayana</a:t>
            </a:r>
          </a:p>
          <a:p>
            <a:pPr lvl="0" indent="0" marL="0">
              <a:buNone/>
            </a:pPr>
            <a:r>
              <a:rPr/>
              <a:t>The 10 days you’re skipping if you only do this workshop:</a:t>
            </a:r>
          </a:p>
          <a:p>
            <a:pPr lvl="0"/>
            <a:r>
              <a:rPr b="1"/>
              <a:t>Day 01</a:t>
            </a:r>
            <a:r>
              <a:rPr/>
              <a:t> — Five friends — meeting the elements</a:t>
            </a:r>
          </a:p>
          <a:p>
            <a:pPr lvl="0"/>
            <a:r>
              <a:rPr b="1"/>
              <a:t>Day 02</a:t>
            </a:r>
            <a:r>
              <a:rPr/>
              <a:t> — Earth and water — solid and liquid</a:t>
            </a:r>
          </a:p>
          <a:p>
            <a:pPr lvl="0"/>
            <a:r>
              <a:rPr b="1"/>
              <a:t>Day 03</a:t>
            </a:r>
            <a:r>
              <a:rPr/>
              <a:t> — Five qualities, five senses (tanmātras)</a:t>
            </a:r>
          </a:p>
          <a:p>
            <a:pPr lvl="0"/>
            <a:r>
              <a:rPr b="1"/>
              <a:t>Day 04</a:t>
            </a:r>
            <a:r>
              <a:rPr/>
              <a:t> — Fire and air — energy and motion</a:t>
            </a:r>
          </a:p>
          <a:p>
            <a:pPr lvl="0"/>
            <a:r>
              <a:rPr b="1"/>
              <a:t>Day 05</a:t>
            </a:r>
            <a:r>
              <a:rPr/>
              <a:t> — Ākāśa — the fifth element</a:t>
            </a:r>
          </a:p>
          <a:p>
            <a:pPr lvl="0"/>
            <a:r>
              <a:rPr b="1"/>
              <a:t>Day 06</a:t>
            </a:r>
            <a:r>
              <a:rPr/>
              <a:t> — Modern parallels — states of matter</a:t>
            </a:r>
          </a:p>
          <a:p>
            <a:pPr lvl="0"/>
            <a:r>
              <a:rPr b="1"/>
              <a:t>Day 07</a:t>
            </a:r>
            <a:r>
              <a:rPr/>
              <a:t> — Pañcabhūta in Āyurveda — bridge to Module 4</a:t>
            </a:r>
          </a:p>
          <a:p>
            <a:pPr lvl="0"/>
            <a:r>
              <a:rPr b="1"/>
              <a:t>Day 08</a:t>
            </a:r>
            <a:r>
              <a:rPr/>
              <a:t> — Pañcabhūta in cuisine — six tastes</a:t>
            </a:r>
          </a:p>
          <a:p>
            <a:pPr lvl="0"/>
            <a:r>
              <a:rPr b="1"/>
              <a:t>Day 09</a:t>
            </a:r>
            <a:r>
              <a:rPr/>
              <a:t> — Pañcabhūta in nature — local examples</a:t>
            </a:r>
          </a:p>
          <a:p>
            <a:pPr lvl="0"/>
            <a:r>
              <a:rPr b="1"/>
              <a:t>Day 10</a:t>
            </a:r>
            <a:r>
              <a:rPr/>
              <a:t> — Synthesis project: build a pañcabhūta poster</a:t>
            </a:r>
          </a:p>
          <a:p>
            <a:pPr lvl="0" indent="0" marL="0">
              <a:buNone/>
            </a:pPr>
            <a:r>
              <a:rPr/>
              <a:t>→ </a:t>
            </a:r>
            <a:r>
              <a:rPr b="1">
                <a:hlinkClick r:id="rId2"/>
              </a:rPr>
              <a:t>Open the Adhyayana track for this module</a:t>
            </a:r>
            <a:r>
              <a:rPr/>
              <a:t> to access all 10 days, the 4-audience PDFs, the slide deck, the quizzes, and the project rubric.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module-02-panchabhuta - Darshana (60-min workshop)</dc:title>
  <dc:creator>IKS Curriculum - middle band</dc:creator>
  <cp:keywords/>
  <dcterms:created xsi:type="dcterms:W3CDTF">2026-05-28T02:10:44Z</dcterms:created>
  <dcterms:modified xsi:type="dcterms:W3CDTF">2026-05-28T02:10:44Z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