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module-06-moon-phases-tithi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senior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6 — Moon Phases and Tithi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Candra-pakṣa, Tithi</a:t>
            </a:r>
            <a:r>
              <a:rPr/>
              <a:t> · </a:t>
            </a:r>
            <a:r>
              <a:rPr b="1"/>
              <a:t>Band:</a:t>
            </a:r>
            <a:r>
              <a:rPr/>
              <a:t> Senior (9-12)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The moon’s monthly cycle and the Indian lunar calendar.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6’s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Show side-by-side: (a) NASA’s lunar phase diagram for the current month, (b) a panchanga page for the same month. Same astronomy, two frameworks. </a:t>
            </a:r>
            <a:r>
              <a:rPr i="1"/>
              <a:t>“How do they correspond? Where do they diverge?”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Lunisolar astronomy + Indian calendar.</a:t>
            </a:r>
          </a:p>
          <a:p>
            <a:pPr lvl="0" indent="-342900" marL="342900">
              <a:buAutoNum type="arabicPeriod"/>
            </a:pPr>
            <a:r>
              <a:rPr b="1"/>
              <a:t>Synodic month</a:t>
            </a:r>
            <a:r>
              <a:rPr/>
              <a:t> (~29.530589 days, modern measurement). Indian astronomy: same value within ~0.001 days, established by Sūrya-siddhānta and refined by Bhāskara II.</a:t>
            </a:r>
          </a:p>
          <a:p>
            <a:pPr lvl="0" indent="-342900" marL="342900">
              <a:buAutoNum type="arabicPeriod"/>
            </a:pPr>
            <a:r>
              <a:rPr b="1"/>
              <a:t>Tithi computation.</a:t>
            </a:r>
            <a:r>
              <a:rPr/>
              <a:t> True tithi = elongation of Moon-Sun angle / 12°. Varies because moon’s orbital speed varies (Kepler’s 2nd law).</a:t>
            </a:r>
          </a:p>
          <a:p>
            <a:pPr lvl="0" indent="-342900" marL="342900">
              <a:buAutoNum type="arabicPeriod"/>
            </a:pPr>
            <a:r>
              <a:rPr b="1"/>
              <a:t>Pañcāṅga five limbs.</a:t>
            </a:r>
            <a:r>
              <a:rPr/>
              <a:t> Tithi (lunar day), vāra (weekday), nakṣatra (27 lunar mansions), yoga (Sun-Moon longitudinal sum), karaṇa (half-tithi). Each is a precise astronomical computation.</a:t>
            </a:r>
          </a:p>
          <a:p>
            <a:pPr lvl="0" indent="-342900" marL="342900">
              <a:buAutoNum type="arabicPeriod"/>
            </a:pPr>
            <a:r>
              <a:rPr b="1"/>
              <a:t>Eclipse geometry.</a:t>
            </a:r>
            <a:r>
              <a:rPr/>
              <a:t> Why solar eclipses only at new moon: Moon must be between Sun and Earth, occurring only at conjunction. Why not every new moon: lunar orbit tilted ~5.14° from ecliptic; eclipse requires near-node passage.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Critical reading.</a:t>
            </a:r>
            <a:r>
              <a:rPr/>
              <a:t> Compare Sūrya-siddhānta’s tithi calculation with the modern Drik Pañcāṅga (web). Both use the same underlying astronomy. Discussion: where do they differ in conventions (sidereal vs tropical reference frames)?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 b="1"/>
              <a:t>Direct verse.</a:t>
            </a:r>
            <a:r>
              <a:rPr/>
              <a:t> Sūrya-siddhānta 2.66:</a:t>
            </a:r>
          </a:p>
          <a:p>
            <a:pPr lvl="0" indent="0" marL="1270000">
              <a:buNone/>
            </a:pPr>
            <a:r>
              <a:rPr sz="2000" i="1"/>
              <a:t>bhāgāḥ ṣaṣṭi-guṇāḥ proktās tithayo dvi-guṇās tathā</a:t>
            </a:r>
          </a:p>
          <a:p>
            <a:pPr lvl="0" indent="0" marL="0">
              <a:buNone/>
            </a:pPr>
            <a:r>
              <a:rPr/>
              <a:t>“Sixty divisions are stated; thus the tithis are twice that (× 60 / 12 = 30).”</a:t>
            </a:r>
          </a:p>
          <a:p>
            <a:pPr lvl="0" indent="0" marL="0">
              <a:buNone/>
            </a:pPr>
            <a:r>
              <a:rPr/>
              <a:t>The verse encodes the 12°-per-tithi rule that defines the lunar day.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Eclipse prediction exercise.</a:t>
            </a:r>
            <a:r>
              <a:rPr/>
              <a:t> Using a published table, identify the next 3 solar and lunar eclipses visible from your region. Predict which months / tithis. Discuss: how does ancient and modern eclipse-prediction differ in precision?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 i="1"/>
              <a:t>“Indian classical astronomy achieved ~99.9% precision on synodic month calculation by ~500 CE. What does this tell us about (a) the empirical sophistication of pre-modern Indian science, (b) the limits of attempting modern claims from this evidence?”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The moon’s shape — why it changes</a:t>
            </a:r>
          </a:p>
          <a:p>
            <a:pPr lvl="0"/>
            <a:r>
              <a:rPr b="1"/>
              <a:t>Day 02</a:t>
            </a:r>
            <a:r>
              <a:rPr/>
              <a:t> — Pakṣa — bright and dark fortnights</a:t>
            </a:r>
          </a:p>
          <a:p>
            <a:pPr lvl="0"/>
            <a:r>
              <a:rPr b="1"/>
              <a:t>Day 03</a:t>
            </a:r>
            <a:r>
              <a:rPr/>
              <a:t> — 15 tithis — names and computation</a:t>
            </a:r>
          </a:p>
          <a:p>
            <a:pPr lvl="0"/>
            <a:r>
              <a:rPr b="1"/>
              <a:t>Day 04</a:t>
            </a:r>
            <a:r>
              <a:rPr/>
              <a:t> — Building a tithi calendar</a:t>
            </a:r>
          </a:p>
          <a:p>
            <a:pPr lvl="0"/>
            <a:r>
              <a:rPr b="1"/>
              <a:t>Day 05</a:t>
            </a:r>
            <a:r>
              <a:rPr/>
              <a:t> — Lunar months and festivals</a:t>
            </a:r>
          </a:p>
          <a:p>
            <a:pPr lvl="0"/>
            <a:r>
              <a:rPr b="1"/>
              <a:t>Day 06</a:t>
            </a:r>
            <a:r>
              <a:rPr/>
              <a:t> — Pañcāṅga — the five limbs</a:t>
            </a:r>
          </a:p>
          <a:p>
            <a:pPr lvl="0"/>
            <a:r>
              <a:rPr b="1"/>
              <a:t>Day 07</a:t>
            </a:r>
            <a:r>
              <a:rPr/>
              <a:t> — Eclipse geometry</a:t>
            </a:r>
          </a:p>
          <a:p>
            <a:pPr lvl="0"/>
            <a:r>
              <a:rPr b="1"/>
              <a:t>Day 08</a:t>
            </a:r>
            <a:r>
              <a:rPr/>
              <a:t> — Modern lunar science — phases, libration, tides</a:t>
            </a:r>
          </a:p>
          <a:p>
            <a:pPr lvl="0"/>
            <a:r>
              <a:rPr b="1"/>
              <a:t>Day 09</a:t>
            </a:r>
            <a:r>
              <a:rPr/>
              <a:t> — Cross-cultural calendars — Hijri, Chinese, Hebrew</a:t>
            </a:r>
          </a:p>
          <a:p>
            <a:pPr lvl="0"/>
            <a:r>
              <a:rPr b="1"/>
              <a:t>Day 10</a:t>
            </a:r>
            <a:r>
              <a:rPr/>
              <a:t> — Synthesis quiz + moon diary share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module-06-moon-phases-tithi - Darshana (60-min workshop)</dc:title>
  <dc:creator>IKS Curriculum - senior band</dc:creator>
  <cp:keywords/>
  <dcterms:created xsi:type="dcterms:W3CDTF">2026-05-28T02:11:06Z</dcterms:created>
  <dcterms:modified xsi:type="dcterms:W3CDTF">2026-05-28T02:11:06Z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