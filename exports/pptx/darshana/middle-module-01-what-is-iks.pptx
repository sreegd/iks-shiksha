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module-01-what-is-iks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middle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1 — What is IKS?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Bhāratīya Jñāna-Paramparā</a:t>
            </a:r>
            <a:r>
              <a:rPr/>
              <a:t> · </a:t>
            </a:r>
            <a:r>
              <a:rPr b="1"/>
              <a:t>Band:</a:t>
            </a:r>
            <a:r>
              <a:rPr/>
              <a:t> Middle (6-8)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The map of Indian Knowledge Systems.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1’s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/>
              <a:t>Project the </a:t>
            </a:r>
            <a:r>
              <a:rPr i="1"/>
              <a:t>Lothal dockyard</a:t>
            </a:r>
            <a:r>
              <a:rPr/>
              <a:t> (Indus Valley, ~2500 BCE). </a:t>
            </a:r>
            <a:r>
              <a:rPr i="1"/>
              <a:t>“What does this tell you about Indian engineering 4500 years ago?”</a:t>
            </a:r>
            <a:r>
              <a:rPr/>
              <a:t> — pause for guesses. India’s knowledge traditions are old, varied, and documented.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IKS = the documented knowledge traditions of the Indian subcontinent.</a:t>
            </a:r>
            <a:r>
              <a:rPr/>
              <a:t> Three frameworks:</a:t>
            </a:r>
          </a:p>
          <a:p>
            <a:pPr lvl="0" indent="-342900" marL="342900">
              <a:buAutoNum type="arabicPeriod"/>
            </a:pPr>
            <a:r>
              <a:rPr b="1"/>
              <a:t>Vedāṅgas (six limbs of the Veda)</a:t>
            </a:r>
            <a:r>
              <a:rPr/>
              <a:t> — śikṣā, kalpa, vyākaraṇa, nirukta, chandas, jyotiṣa. The “supporting sciences” of Vedic studies.</a:t>
            </a:r>
          </a:p>
          <a:p>
            <a:pPr lvl="0" indent="-342900" marL="342900">
              <a:buAutoNum type="arabicPeriod"/>
            </a:pPr>
            <a:r>
              <a:rPr b="1"/>
              <a:t>Upavedas (applied sciences)</a:t>
            </a:r>
            <a:r>
              <a:rPr/>
              <a:t> — Āyurveda (medicine), Dhanurveda (martial science), Gandharvaveda (music/dance/drama), Sthāpatya-veda (architecture).</a:t>
            </a:r>
          </a:p>
          <a:p>
            <a:pPr lvl="0" indent="-342900" marL="342900">
              <a:buAutoNum type="arabicPeriod"/>
            </a:pPr>
            <a:r>
              <a:rPr b="1"/>
              <a:t>Six Darśanas</a:t>
            </a:r>
            <a:r>
              <a:rPr/>
              <a:t> (philosophical schools): Nyāya, Vaiśeṣika, Sāṅkhya, Yoga, Mīmāṁsā, Vedānta — each is a coherent argument structure, not a religion.</a:t>
            </a:r>
          </a:p>
          <a:p>
            <a:pPr lvl="0" indent="0" marL="0">
              <a:buNone/>
            </a:pPr>
            <a:r>
              <a:rPr/>
              <a:t>The point: this is a documented intellectual tradition with internal disagreement, evidence rules, and reform — much like Western philosophy. Treat it that way.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 b="1"/>
              <a:t>Compare two timelines</a:t>
            </a:r>
            <a:r>
              <a:rPr/>
              <a:t> on the board: - Pāṇini’s </a:t>
            </a:r>
            <a:r>
              <a:rPr i="1"/>
              <a:t>Aṣṭādhyāyī</a:t>
            </a:r>
            <a:r>
              <a:rPr/>
              <a:t> — grammar with ~4000 rules, c. 500 BCE - The first European systematic grammar (Robert Lowth) — 1762 CE</a:t>
            </a:r>
          </a:p>
          <a:p>
            <a:pPr lvl="0" indent="0" marL="0">
              <a:buNone/>
            </a:pPr>
            <a:r>
              <a:rPr/>
              <a:t>Difference: ~2200 years. Discussion: </a:t>
            </a:r>
            <a:r>
              <a:rPr i="1"/>
              <a:t>“What does this tell us about (a) the depth of Indian linguistics, (b) why Pāṇini’s framework is still studied at MIT linguistics programs?”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/>
              <a:t>Read aloud: </a:t>
            </a:r>
            <a:r>
              <a:rPr i="1"/>
              <a:t>“vidyā dadāti vinayaṁ vinayād yāti pātratām”</a:t>
            </a:r>
            <a:r>
              <a:rPr/>
              <a:t> — “Learning brings humility; from humility comes worthiness.” (Subhāṣita, traditional.) The traditional epistemology values intellectual humility — a useful framing for any source-checking practice.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 b="1"/>
              <a:t>Map an Upaveda.</a:t>
            </a:r>
            <a:r>
              <a:rPr/>
              <a:t> Divide class into 4 groups (Āyurveda, Dhanurveda, Gandharvaveda, Sthāpatya). Each group has 12 minutes to: 1. Look up one famous practitioner of that field (Caraka, Suśruta, Bharata’s Nāṭyaśāstra, Viśvakarmā tradition). 2. Find one modern-day descendant institution (AIIMS Ayurveda program, ICCR for arts, IIT-Roorkee architecture history). 3. Draw a one-page connection diagram: ancient → medieval → modern.</a:t>
            </a:r>
          </a:p>
          <a:p>
            <a:pPr lvl="0" indent="0" marL="0">
              <a:buNone/>
            </a:pPr>
            <a:r>
              <a:rPr/>
              <a:t>Each group presents 2 minutes.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 i="1"/>
              <a:t>“What’s one thing about IKS you want to learn more about? Why?”</a:t>
            </a:r>
            <a:r>
              <a:rPr/>
              <a:t> — written in 3 sentences. Pairs swap and respond.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Why IKS now? The mapping problem</a:t>
            </a:r>
          </a:p>
          <a:p>
            <a:pPr lvl="0"/>
            <a:r>
              <a:rPr b="1"/>
              <a:t>Day 02</a:t>
            </a:r>
            <a:r>
              <a:rPr/>
              <a:t> — Vedas and Vedāṅgas: the six supporting sciences</a:t>
            </a:r>
          </a:p>
          <a:p>
            <a:pPr lvl="0"/>
            <a:r>
              <a:rPr b="1"/>
              <a:t>Day 03</a:t>
            </a:r>
            <a:r>
              <a:rPr/>
              <a:t> — Upavedas: applied disciplines</a:t>
            </a:r>
          </a:p>
          <a:p>
            <a:pPr lvl="0"/>
            <a:r>
              <a:rPr b="1"/>
              <a:t>Day 04</a:t>
            </a:r>
            <a:r>
              <a:rPr/>
              <a:t> — Itihāsa and Purāṇas: history-as-story</a:t>
            </a:r>
          </a:p>
          <a:p>
            <a:pPr lvl="0"/>
            <a:r>
              <a:rPr b="1"/>
              <a:t>Day 05</a:t>
            </a:r>
            <a:r>
              <a:rPr/>
              <a:t> — Six Darśanas: the philosophical schools</a:t>
            </a:r>
          </a:p>
          <a:p>
            <a:pPr lvl="0"/>
            <a:r>
              <a:rPr b="1"/>
              <a:t>Day 06</a:t>
            </a:r>
            <a:r>
              <a:rPr/>
              <a:t> — Named figures: Pāṇini to Āryabhaṭa</a:t>
            </a:r>
          </a:p>
          <a:p>
            <a:pPr lvl="0"/>
            <a:r>
              <a:rPr b="1"/>
              <a:t>Day 07</a:t>
            </a:r>
            <a:r>
              <a:rPr/>
              <a:t> — Source discipline: what we can verify</a:t>
            </a:r>
          </a:p>
          <a:p>
            <a:pPr lvl="0"/>
            <a:r>
              <a:rPr b="1"/>
              <a:t>Day 08</a:t>
            </a:r>
            <a:r>
              <a:rPr/>
              <a:t> — IKS meets modern science: bridges and tensions</a:t>
            </a:r>
          </a:p>
          <a:p>
            <a:pPr lvl="0"/>
            <a:r>
              <a:rPr b="1"/>
              <a:t>Day 09</a:t>
            </a:r>
            <a:r>
              <a:rPr/>
              <a:t> — NEP 2020 and IKS integration</a:t>
            </a:r>
          </a:p>
          <a:p>
            <a:pPr lvl="0"/>
            <a:r>
              <a:rPr b="1"/>
              <a:t>Day 10</a:t>
            </a:r>
            <a:r>
              <a:rPr/>
              <a:t> — Synthesis project: your map of IKS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module-01-what-is-iks - Darshana (60-min workshop)</dc:title>
  <dc:creator>IKS Curriculum - middle band</dc:creator>
  <cp:keywords/>
  <dcterms:created xsi:type="dcterms:W3CDTF">2026-05-28T02:10:43Z</dcterms:created>
  <dcterms:modified xsi:type="dcterms:W3CDTF">2026-05-28T02:10:43Z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