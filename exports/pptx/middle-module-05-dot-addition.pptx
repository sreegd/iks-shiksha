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902148" y="1315938"/>
            <a:ext cx="3339703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00"/>
              </a:lnSpc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FE4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MODULE 05 — DOT ADDITION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336765" y="1544389"/>
            <a:ext cx="2470469" cy="5840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600"/>
              </a:lnSpc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2778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Module 5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1081253" y="2331541"/>
            <a:ext cx="6981346" cy="396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12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26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Bindu Paddhati — The Dot Method of Addition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686221" y="2867323"/>
            <a:ext cx="1771409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Grades 6–8 · 10 sessions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49338" y="3499693"/>
            <a:ext cx="1045175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spcBef>
                <a:spcPts val="30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5A6B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902148" y="1458218"/>
            <a:ext cx="3339703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00"/>
              </a:lnSpc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FE4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MODULE 05 — DOT ADDITION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595719" y="1686669"/>
            <a:ext cx="5952414" cy="5840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600"/>
              </a:lnSpc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2778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fast can you add?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482801" y="2435721"/>
            <a:ext cx="2178397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5728 + 3417 + 6892 + 4536 = ?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077029" y="2725192"/>
            <a:ext cx="2989793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long would it take you? Make a guess.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49338" y="3357563"/>
            <a:ext cx="1045175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spcBef>
                <a:spcPts val="30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5A6B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2778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dot method — first look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909042"/>
            <a:ext cx="8331398" cy="1301353"/>
          </a:xfrm>
          <a:prstGeom prst="rect">
            <a:avLst/>
          </a:prstGeom>
          <a:solidFill>
            <a:srgbClr val="F4F8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30113" y="909042"/>
            <a:ext cx="0" cy="1301353"/>
          </a:xfrm>
          <a:prstGeom prst="line">
            <a:avLst/>
          </a:prstGeom>
          <a:noFill/>
          <a:ln w="47625">
            <a:solidFill>
              <a:srgbClr val="27788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31627" y="1035993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 ·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31627" y="1210568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5728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31627" y="1385143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3417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31627" y="1559719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6892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31627" y="1734294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4536+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31627" y="1908870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  ← write 3, carry 2 (the dots)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06301" y="2299246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answer. Different speed.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Module 05 — Dot Addition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2778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you'll learn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34901" y="909042"/>
            <a:ext cx="8102798" cy="769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Scan a column for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pairs that make 10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 a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dot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above each "completion."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off: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units digit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carry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(= number of dots).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767334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Day 5, you'll re-do this problem 50%+ faster.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Module 05 — Dot Addition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2778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foundational skill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Five 10-Pairs: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560314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Recall any partner in under 1 second.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Module 05 — Dot Addition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2778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procedure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909042"/>
            <a:ext cx="8331398" cy="1301353"/>
          </a:xfrm>
          <a:prstGeom prst="rect">
            <a:avLst/>
          </a:prstGeom>
          <a:solidFill>
            <a:srgbClr val="F4F8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30113" y="909042"/>
            <a:ext cx="0" cy="1301353"/>
          </a:xfrm>
          <a:prstGeom prst="line">
            <a:avLst/>
          </a:prstGeom>
          <a:noFill/>
          <a:ln w="47625">
            <a:solidFill>
              <a:srgbClr val="27788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31627" y="1035993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 Running total = 0.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31627" y="1210568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 Scan top to bottom.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31627" y="1385143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 When total ≥ 10: mark a dot, subtract 10.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31627" y="1559719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4. End: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31627" y="1734294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– Final total = units digit.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31627" y="1908870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– Dot count = carry.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Module 05 — Dot Addition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2778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Worked example: one column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909042"/>
            <a:ext cx="8331398" cy="1999655"/>
          </a:xfrm>
          <a:prstGeom prst="rect">
            <a:avLst/>
          </a:prstGeom>
          <a:solidFill>
            <a:srgbClr val="F4F8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30113" y="909042"/>
            <a:ext cx="0" cy="1999655"/>
          </a:xfrm>
          <a:prstGeom prst="line">
            <a:avLst/>
          </a:prstGeom>
          <a:noFill/>
          <a:ln w="47625">
            <a:solidFill>
              <a:srgbClr val="27788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31627" y="1035993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31627" y="1210568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31627" y="1385143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  ·   (+7 makes 16, dot, total = 6)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31627" y="1559719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31627" y="1734294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  ·   (+8 makes 13, dot, total = 3)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31627" y="1908870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31627" y="2083445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31627" y="2258020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__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31627" y="2432596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     ← units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31627" y="2607171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dots = carry 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06301" y="2997547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check: 6+3+7+5+8+4+2 = 35. ✓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Module 05 — Dot Addition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2778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Multi-column with carries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909042"/>
            <a:ext cx="8331398" cy="1301353"/>
          </a:xfrm>
          <a:prstGeom prst="rect">
            <a:avLst/>
          </a:prstGeom>
          <a:solidFill>
            <a:srgbClr val="F4F8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30113" y="909042"/>
            <a:ext cx="0" cy="1301353"/>
          </a:xfrm>
          <a:prstGeom prst="line">
            <a:avLst/>
          </a:prstGeom>
          <a:noFill/>
          <a:ln w="47625">
            <a:solidFill>
              <a:srgbClr val="27788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31627" y="1035993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 ·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31627" y="1210568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5728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31627" y="1385143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3417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31627" y="1559719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6892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31627" y="1734294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4536 +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31627" y="1908870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06301" y="2299246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dots become the carry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to the next column.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Module 05 — Dot Addition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2778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it works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909042"/>
            <a:ext cx="8331398" cy="1150144"/>
          </a:xfrm>
          <a:prstGeom prst="rect">
            <a:avLst/>
          </a:prstGeom>
          <a:solidFill>
            <a:srgbClr val="F4F8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34876" y="909042"/>
            <a:ext cx="0" cy="1150144"/>
          </a:xfrm>
          <a:prstGeom prst="line">
            <a:avLst/>
          </a:prstGeom>
          <a:noFill/>
          <a:ln w="57150">
            <a:solidFill>
              <a:srgbClr val="FE444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92051" y="1099542"/>
            <a:ext cx="797338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dot represents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b="1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 used up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92051" y="1368623"/>
            <a:ext cx="797338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 in this column = 1 in the next.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92051" y="1637705"/>
            <a:ext cx="797338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 the dot count IS the carry.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06301" y="2148036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magic. Just good notation.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Module 05 — Dot Addition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2778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historical note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dot method is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one of Tirthaji's 16 sūtras.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185863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is a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20th-century pedagogical technique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inspired by: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34901" y="1487984"/>
            <a:ext cx="810279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Sūtra 7: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Sankalana Vyavakalanābhyām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"by addition and by subtraction"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Sūtra 8: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Pūraṇāpūraṇābhyāṁ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"by completing or non-completing"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2102495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We'll be honest about the difference.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Module 05 — Dot Addition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2778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Mental addition: numbers near a base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add a number close to 10, 20, 30, ...: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198513"/>
            <a:ext cx="8102798" cy="769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Round UP to the base.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Subtract the deficiency.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2069455"/>
            <a:ext cx="8331398" cy="603052"/>
          </a:xfrm>
          <a:prstGeom prst="rect">
            <a:avLst/>
          </a:prstGeom>
          <a:solidFill>
            <a:srgbClr val="F4F8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430113" y="2069455"/>
            <a:ext cx="0" cy="603052"/>
          </a:xfrm>
          <a:prstGeom prst="line">
            <a:avLst/>
          </a:prstGeom>
          <a:noFill/>
          <a:ln w="47625">
            <a:solidFill>
              <a:srgbClr val="27788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1627" y="2196405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33 + 9 = 33 + 10 − 1 = 42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31627" y="2370981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55 + 48 = 55 + 50 − 2 = 103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Module 05 — Dot Addition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902148" y="1313408"/>
            <a:ext cx="3339703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00"/>
              </a:lnSpc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FE4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MODULE 05 — DOT ADDITION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463129" y="1541859"/>
            <a:ext cx="4217741" cy="5840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600"/>
              </a:lnSpc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2778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Sūtra #7 named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450012" y="2290911"/>
            <a:ext cx="2243977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Sankalana Vyavakalanābhyām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484017" y="2580382"/>
            <a:ext cx="2175817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"by addition and by subtraction"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442030" y="2869853"/>
            <a:ext cx="4259791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mental near-base technique is </a:t>
            </a:r>
            <a:pPr algn="ctr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exactly</a:t>
            </a:r>
            <a:pPr algn="ctr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this sūtra in action.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049338" y="3502223"/>
            <a:ext cx="1045175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spcBef>
                <a:spcPts val="30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5A6B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902148" y="1313408"/>
            <a:ext cx="3339703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00"/>
              </a:lnSpc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FE4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MODULE 05 — DOT ADDITION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24358" y="1541859"/>
            <a:ext cx="7695283" cy="5840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600"/>
              </a:lnSpc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2778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1 baseline → Day 5 retest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044934" y="2290911"/>
            <a:ext cx="1054132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problem.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239369" y="2580382"/>
            <a:ext cx="4665262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1 (standard algorithm): your time Day 5 (dot method): your time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452897" y="2869853"/>
            <a:ext cx="2238057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visible speedup is the proof.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049338" y="3502223"/>
            <a:ext cx="1045175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spcBef>
                <a:spcPts val="30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5A6B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902148" y="1313408"/>
            <a:ext cx="3339703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00"/>
              </a:lnSpc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FE4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MODULE 05 — DOT ADDITION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05193" y="1541859"/>
            <a:ext cx="7933465" cy="5840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600"/>
              </a:lnSpc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2778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Activity: Column Drill (Day 4)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703679" y="2290911"/>
            <a:ext cx="1736494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multi-column problems.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902391" y="2580382"/>
            <a:ext cx="1339069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Pair self-correction.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958316" y="2869853"/>
            <a:ext cx="3227368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end of class: 4×4-digit sum in under 60 sec.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049338" y="3502223"/>
            <a:ext cx="1045175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spcBef>
                <a:spcPts val="30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5A6B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902148" y="1021407"/>
            <a:ext cx="3339703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00"/>
              </a:lnSpc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FE4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MODULE 05 — DOT ADDITION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22987" y="1249859"/>
            <a:ext cx="8498026" cy="11680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600"/>
              </a:lnSpc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2778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Activity: Near-Base Drill (Day 7)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876281" y="2582912"/>
            <a:ext cx="139129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mental additions.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070260" y="2872383"/>
            <a:ext cx="5003331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Round 1 individual. Round 2 paired. Round 3 chorus. Round 4 quick-fire.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448647" y="3161854"/>
            <a:ext cx="2246558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Target: under 3 sec per problem.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049338" y="3794224"/>
            <a:ext cx="1045175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spcBef>
                <a:spcPts val="30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5A6B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2778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project (Days 8–10)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 ONE format: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198513"/>
            <a:ext cx="8102798" cy="769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60-second teaching video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teach Grade 4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Printed workbook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20 problems, worked solutions, answer key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Comparative data project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baseline + retest times from 5–10 people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Module 05 — Dot Addition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2778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we'll grade you 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34901" y="909042"/>
            <a:ext cx="8102798" cy="12570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 demonstrated correctly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(×2)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of sources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(×1.5) — must cite a PDF section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Audience suitability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(×1.5)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Originality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(×1)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Communication / craft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(×1)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2254895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 the rubric.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Module 05 — Dot Addition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2778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Sources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34901" y="909042"/>
            <a:ext cx="8102798" cy="769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Vedic Mathematics Batch1.pdf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(Vedic Cultural Center, Sammamish WA) — §5.2–5.5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Microsoft Word - sutras1.pdf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Tirthaji's 16 sūtras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Vedic_Maths.pdf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(ISKCON Desire Tree) — practice exercises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767334"/>
            <a:ext cx="8498026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in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sources.md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Module 05 — Dot Addition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2778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10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34901" y="909042"/>
            <a:ext cx="8102798" cy="769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15-min summative quiz (closed notebook)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3-min project presentations + 1-min Q&amp;A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Reflection slip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Module 05 — Dot Addition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2778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you take home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34901" y="909042"/>
            <a:ext cx="8102798" cy="10132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Fluent 10-pair recall.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4-digit, 5-addend column addition by scanning, not serial addition.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Honest understanding of what "Vedic math" includes and what it doesn't.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artefact you can share with a younger student.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Module 05 — Dot Addition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902148" y="1747689"/>
            <a:ext cx="3339703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00"/>
              </a:lnSpc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FE4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MODULE 05 — DOT ADDITION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090388" y="1976140"/>
            <a:ext cx="2963076" cy="5840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600"/>
              </a:lnSpc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2778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Questions?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049338" y="3068092"/>
            <a:ext cx="1045175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spcBef>
                <a:spcPts val="30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5A6B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902148" y="1602879"/>
            <a:ext cx="3339703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00"/>
              </a:lnSpc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FE4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MODULE 05 — DOT ADDITION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170539" y="1831330"/>
            <a:ext cx="2802922" cy="5840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600"/>
              </a:lnSpc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2778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126910" y="2580382"/>
            <a:ext cx="890031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śubham astu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49338" y="3212753"/>
            <a:ext cx="1045175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spcBef>
                <a:spcPts val="30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5A6B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05 — Dot Addition — Middle</dc:title>
  <dc:subject>PptxGenJS Presentation</dc:subject>
  <dc:creator>IKS Curriculum</dc:creator>
  <cp:lastModifiedBy>IKS Curriculum</cp:lastModifiedBy>
  <cp:revision>1</cp:revision>
  <dcterms:created xsi:type="dcterms:W3CDTF">2026-05-25T02:41:03Z</dcterms:created>
  <dcterms:modified xsi:type="dcterms:W3CDTF">2026-05-25T02:41:03Z</dcterms:modified>
</cp:coreProperties>
</file>