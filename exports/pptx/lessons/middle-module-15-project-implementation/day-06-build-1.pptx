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101501"/>
          </a:xfrm>
          <a:prstGeom prst="rect">
            <a:avLst/>
          </a:prstGeom>
          <a:solidFill>
            <a:srgbClr val="277884"/>
          </a:solidFill>
          <a:ln/>
        </p:spPr>
        <p:txBody>
          <a:bodyPr wrap="square" rtlCol="0" anchor="ctr"/>
          <a:lstStyle/>
          <a:p>
            <a:pPr indent="0" marL="0">
              <a:buNone/>
            </a:pPr>
            <a:endParaRPr lang="en-US" dirty="0"/>
          </a:p>
        </p:txBody>
      </p:sp>
      <p:sp>
        <p:nvSpPr>
          <p:cNvPr id="3" name="Text 1"/>
          <p:cNvSpPr/>
          <p:nvPr/>
        </p:nvSpPr>
        <p:spPr>
          <a:xfrm>
            <a:off x="406301" y="380851"/>
            <a:ext cx="8498026" cy="350490"/>
          </a:xfrm>
          <a:prstGeom prst="rect">
            <a:avLst/>
          </a:prstGeom>
          <a:noFill/>
          <a:ln/>
        </p:spPr>
        <p:txBody>
          <a:bodyPr wrap="square" lIns="0" tIns="0" rIns="0" bIns="0" rtlCol="0" anchor="t"/>
          <a:lstStyle/>
          <a:p>
            <a:pPr algn="l" indent="0" marL="0">
              <a:lnSpc>
                <a:spcPts val="2760"/>
              </a:lnSpc>
              <a:spcAft>
                <a:spcPts val="1000"/>
              </a:spcAft>
              <a:buNone/>
            </a:pPr>
            <a:r>
              <a:rPr lang="en-US" sz="2400" b="1" dirty="0">
                <a:solidFill>
                  <a:srgbClr val="277884"/>
                </a:solidFill>
                <a:latin typeface="Georgia" pitchFamily="34" charset="0"/>
                <a:ea typeface="Georgia" pitchFamily="34" charset="-122"/>
                <a:cs typeface="Georgia" pitchFamily="34" charset="-120"/>
              </a:rPr>
              <a:t>Day 6 — Build Session 1</a:t>
            </a:r>
            <a:endParaRPr lang="en-US" sz="2400" dirty="0"/>
          </a:p>
        </p:txBody>
      </p:sp>
      <p:sp>
        <p:nvSpPr>
          <p:cNvPr id="4" name="Text 2"/>
          <p:cNvSpPr/>
          <p:nvPr/>
        </p:nvSpPr>
        <p:spPr>
          <a:xfrm>
            <a:off x="406301" y="896392"/>
            <a:ext cx="8498026" cy="21327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b="1" dirty="0">
                <a:solidFill>
                  <a:srgbClr val="1C2833"/>
                </a:solidFill>
                <a:latin typeface="Arial" pitchFamily="34" charset="0"/>
                <a:ea typeface="Arial" pitchFamily="34" charset="-122"/>
                <a:cs typeface="Arial" pitchFamily="34" charset="-120"/>
              </a:rPr>
              <a:t>Module:</a:t>
            </a:r>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 Project Implementation · </a:t>
            </a:r>
            <a:pPr algn="l" indent="0" marL="0">
              <a:lnSpc>
                <a:spcPts val="1680"/>
              </a:lnSpc>
              <a:spcBef>
                <a:spcPts val="300"/>
              </a:spcBef>
              <a:spcAft>
                <a:spcPts val="300"/>
              </a:spcAft>
              <a:buNone/>
            </a:pPr>
            <a:r>
              <a:rPr lang="en-US" sz="1200" b="1" dirty="0">
                <a:solidFill>
                  <a:srgbClr val="1C2833"/>
                </a:solidFill>
                <a:latin typeface="Arial" pitchFamily="34" charset="0"/>
                <a:ea typeface="Arial" pitchFamily="34" charset="-122"/>
                <a:cs typeface="Arial" pitchFamily="34" charset="-120"/>
              </a:rPr>
              <a:t>Band:</a:t>
            </a:r>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 Middle · </a:t>
            </a:r>
            <a:pPr algn="l" indent="0" marL="0">
              <a:lnSpc>
                <a:spcPts val="1680"/>
              </a:lnSpc>
              <a:spcBef>
                <a:spcPts val="300"/>
              </a:spcBef>
              <a:spcAft>
                <a:spcPts val="300"/>
              </a:spcAft>
              <a:buNone/>
            </a:pPr>
            <a:r>
              <a:rPr lang="en-US" sz="1200" b="1" dirty="0">
                <a:solidFill>
                  <a:srgbClr val="1C2833"/>
                </a:solidFill>
                <a:latin typeface="Arial" pitchFamily="34" charset="0"/>
                <a:ea typeface="Arial" pitchFamily="34" charset="-122"/>
                <a:cs typeface="Arial" pitchFamily="34" charset="-120"/>
              </a:rPr>
              <a:t>Time:</a:t>
            </a:r>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 45 min</a:t>
            </a:r>
            <a:endParaRPr lang="en-US" sz="1200" dirty="0"/>
          </a:p>
        </p:txBody>
      </p:sp>
      <p:sp>
        <p:nvSpPr>
          <p:cNvPr id="5" name="Text 3"/>
          <p:cNvSpPr/>
          <p:nvPr/>
        </p:nvSpPr>
        <p:spPr>
          <a:xfrm>
            <a:off x="406301" y="1223963"/>
            <a:ext cx="8498026" cy="274290"/>
          </a:xfrm>
          <a:prstGeom prst="rect">
            <a:avLst/>
          </a:prstGeom>
          <a:noFill/>
          <a:ln/>
        </p:spPr>
        <p:txBody>
          <a:bodyPr wrap="square" lIns="0" tIns="0" rIns="0" bIns="0" rtlCol="0" anchor="t"/>
          <a:lstStyle/>
          <a:p>
            <a:pPr algn="l" indent="0" marL="0">
              <a:lnSpc>
                <a:spcPts val="2160"/>
              </a:lnSpc>
              <a:spcBef>
                <a:spcPts val="600"/>
              </a:spcBef>
              <a:spcAft>
                <a:spcPts val="800"/>
              </a:spcAft>
              <a:buNone/>
            </a:pPr>
            <a:r>
              <a:rPr lang="en-US" sz="1800" b="1" dirty="0">
                <a:solidFill>
                  <a:srgbClr val="FE4447"/>
                </a:solidFill>
                <a:latin typeface="Georgia" pitchFamily="34" charset="0"/>
                <a:ea typeface="Georgia" pitchFamily="34" charset="-122"/>
                <a:cs typeface="Georgia" pitchFamily="34" charset="-120"/>
              </a:rPr>
              <a:t>Learning objective</a:t>
            </a:r>
            <a:endParaRPr lang="en-US" sz="1800" dirty="0"/>
          </a:p>
        </p:txBody>
      </p:sp>
      <p:sp>
        <p:nvSpPr>
          <p:cNvPr id="6" name="Text 4"/>
          <p:cNvSpPr/>
          <p:nvPr/>
        </p:nvSpPr>
        <p:spPr>
          <a:xfrm>
            <a:off x="406301" y="1637854"/>
            <a:ext cx="8498026" cy="42654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By the end of this lesson, students will have made substantive progress on their final artefact — by teacher judgement, at least </a:t>
            </a:r>
            <a:pPr algn="l" indent="0" marL="0">
              <a:lnSpc>
                <a:spcPts val="1680"/>
              </a:lnSpc>
              <a:spcBef>
                <a:spcPts val="300"/>
              </a:spcBef>
              <a:spcAft>
                <a:spcPts val="300"/>
              </a:spcAft>
              <a:buNone/>
            </a:pPr>
            <a:r>
              <a:rPr lang="en-US" sz="1200" b="1" dirty="0">
                <a:solidFill>
                  <a:srgbClr val="1C2833"/>
                </a:solidFill>
                <a:latin typeface="Arial" pitchFamily="34" charset="0"/>
                <a:ea typeface="Arial" pitchFamily="34" charset="-122"/>
                <a:cs typeface="Arial" pitchFamily="34" charset="-120"/>
              </a:rPr>
              <a:t>half</a:t>
            </a:r>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 the artefact is in existence by the end of the period.</a:t>
            </a:r>
            <a:endParaRPr lang="en-US" sz="1200" dirty="0"/>
          </a:p>
        </p:txBody>
      </p:sp>
      <p:sp>
        <p:nvSpPr>
          <p:cNvPr id="7" name="Text 5"/>
          <p:cNvSpPr/>
          <p:nvPr/>
        </p:nvSpPr>
        <p:spPr>
          <a:xfrm>
            <a:off x="406301" y="4434929"/>
            <a:ext cx="8498026" cy="21327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Middle ·  · IKS Curriculum</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101501"/>
          </a:xfrm>
          <a:prstGeom prst="rect">
            <a:avLst/>
          </a:prstGeom>
          <a:solidFill>
            <a:srgbClr val="277884"/>
          </a:solidFill>
          <a:ln/>
        </p:spPr>
        <p:txBody>
          <a:bodyPr wrap="square" rtlCol="0" anchor="ctr"/>
          <a:lstStyle/>
          <a:p>
            <a:pPr indent="0" marL="0">
              <a:buNone/>
            </a:pPr>
            <a:endParaRPr lang="en-US" dirty="0"/>
          </a:p>
        </p:txBody>
      </p:sp>
      <p:sp>
        <p:nvSpPr>
          <p:cNvPr id="3" name="Text 1"/>
          <p:cNvSpPr/>
          <p:nvPr/>
        </p:nvSpPr>
        <p:spPr>
          <a:xfrm>
            <a:off x="406301" y="457051"/>
            <a:ext cx="8498026" cy="274290"/>
          </a:xfrm>
          <a:prstGeom prst="rect">
            <a:avLst/>
          </a:prstGeom>
          <a:noFill/>
          <a:ln/>
        </p:spPr>
        <p:txBody>
          <a:bodyPr wrap="square" lIns="0" tIns="0" rIns="0" bIns="0" rtlCol="0" anchor="t"/>
          <a:lstStyle/>
          <a:p>
            <a:pPr algn="l" indent="0" marL="0">
              <a:lnSpc>
                <a:spcPts val="2160"/>
              </a:lnSpc>
              <a:spcBef>
                <a:spcPts val="600"/>
              </a:spcBef>
              <a:spcAft>
                <a:spcPts val="800"/>
              </a:spcAft>
              <a:buNone/>
            </a:pPr>
            <a:r>
              <a:rPr lang="en-US" sz="1800" b="1" dirty="0">
                <a:solidFill>
                  <a:srgbClr val="FE4447"/>
                </a:solidFill>
                <a:latin typeface="Georgia" pitchFamily="34" charset="0"/>
                <a:ea typeface="Georgia" pitchFamily="34" charset="-122"/>
                <a:cs typeface="Georgia" pitchFamily="34" charset="-120"/>
              </a:rPr>
              <a:t>Materials</a:t>
            </a:r>
            <a:endParaRPr lang="en-US" sz="1800" dirty="0"/>
          </a:p>
        </p:txBody>
      </p:sp>
      <p:sp>
        <p:nvSpPr>
          <p:cNvPr id="4" name="Text 2"/>
          <p:cNvSpPr/>
          <p:nvPr/>
        </p:nvSpPr>
        <p:spPr>
          <a:xfrm>
            <a:off x="406301" y="870942"/>
            <a:ext cx="8498026" cy="639812"/>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 Everything each student needs for their own project (responsibility lies with the student; teacher has a small supply bin for the inevitable forgetters) – Class supply bin: glue, scissors, sketch pens, tape, ruler, plain paper, cardstock – Timer at the front (visible) – Music (optional, low-volume, instrumental — keep it focus-friendly)</a:t>
            </a:r>
            <a:endParaRPr lang="en-US" sz="1200" dirty="0"/>
          </a:p>
        </p:txBody>
      </p:sp>
      <p:sp>
        <p:nvSpPr>
          <p:cNvPr id="5" name="Text 3"/>
          <p:cNvSpPr/>
          <p:nvPr/>
        </p:nvSpPr>
        <p:spPr>
          <a:xfrm>
            <a:off x="406301" y="4434929"/>
            <a:ext cx="8498026" cy="21327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Middle ·  · IKS Curriculum</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101501"/>
          </a:xfrm>
          <a:prstGeom prst="rect">
            <a:avLst/>
          </a:prstGeom>
          <a:solidFill>
            <a:srgbClr val="277884"/>
          </a:solidFill>
          <a:ln/>
        </p:spPr>
        <p:txBody>
          <a:bodyPr wrap="square" rtlCol="0" anchor="ctr"/>
          <a:lstStyle/>
          <a:p>
            <a:pPr indent="0" marL="0">
              <a:buNone/>
            </a:pPr>
            <a:endParaRPr lang="en-US" dirty="0"/>
          </a:p>
        </p:txBody>
      </p:sp>
      <p:sp>
        <p:nvSpPr>
          <p:cNvPr id="3" name="Text 1"/>
          <p:cNvSpPr/>
          <p:nvPr/>
        </p:nvSpPr>
        <p:spPr>
          <a:xfrm>
            <a:off x="406301" y="457051"/>
            <a:ext cx="8498026" cy="274290"/>
          </a:xfrm>
          <a:prstGeom prst="rect">
            <a:avLst/>
          </a:prstGeom>
          <a:noFill/>
          <a:ln/>
        </p:spPr>
        <p:txBody>
          <a:bodyPr wrap="square" lIns="0" tIns="0" rIns="0" bIns="0" rtlCol="0" anchor="t"/>
          <a:lstStyle/>
          <a:p>
            <a:pPr algn="l" indent="0" marL="0">
              <a:lnSpc>
                <a:spcPts val="2160"/>
              </a:lnSpc>
              <a:spcBef>
                <a:spcPts val="600"/>
              </a:spcBef>
              <a:spcAft>
                <a:spcPts val="800"/>
              </a:spcAft>
              <a:buNone/>
            </a:pPr>
            <a:r>
              <a:rPr lang="en-US" sz="1800" b="1" dirty="0">
                <a:solidFill>
                  <a:srgbClr val="FE4447"/>
                </a:solidFill>
                <a:latin typeface="Georgia" pitchFamily="34" charset="0"/>
                <a:ea typeface="Georgia" pitchFamily="34" charset="-122"/>
                <a:cs typeface="Georgia" pitchFamily="34" charset="-120"/>
              </a:rPr>
              <a:t>Lesson flow</a:t>
            </a:r>
            <a:endParaRPr lang="en-US" sz="1800" dirty="0"/>
          </a:p>
        </p:txBody>
      </p:sp>
      <p:sp>
        <p:nvSpPr>
          <p:cNvPr id="4" name="Text 2"/>
          <p:cNvSpPr/>
          <p:nvPr/>
        </p:nvSpPr>
        <p:spPr>
          <a:xfrm>
            <a:off x="406301" y="4434929"/>
            <a:ext cx="8498026" cy="21327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Middle ·  · IKS Curriculum</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101501"/>
          </a:xfrm>
          <a:prstGeom prst="rect">
            <a:avLst/>
          </a:prstGeom>
          <a:solidFill>
            <a:srgbClr val="277884"/>
          </a:solidFill>
          <a:ln/>
        </p:spPr>
        <p:txBody>
          <a:bodyPr wrap="square" rtlCol="0" anchor="ctr"/>
          <a:lstStyle/>
          <a:p>
            <a:pPr indent="0" marL="0">
              <a:buNone/>
            </a:pPr>
            <a:endParaRPr lang="en-US" dirty="0"/>
          </a:p>
        </p:txBody>
      </p:sp>
      <p:sp>
        <p:nvSpPr>
          <p:cNvPr id="3" name="Text 1"/>
          <p:cNvSpPr/>
          <p:nvPr/>
        </p:nvSpPr>
        <p:spPr>
          <a:xfrm>
            <a:off x="406301" y="457051"/>
            <a:ext cx="8498026" cy="274290"/>
          </a:xfrm>
          <a:prstGeom prst="rect">
            <a:avLst/>
          </a:prstGeom>
          <a:noFill/>
          <a:ln/>
        </p:spPr>
        <p:txBody>
          <a:bodyPr wrap="square" lIns="0" tIns="0" rIns="0" bIns="0" rtlCol="0" anchor="t"/>
          <a:lstStyle/>
          <a:p>
            <a:pPr algn="l" indent="0" marL="0">
              <a:lnSpc>
                <a:spcPts val="2160"/>
              </a:lnSpc>
              <a:spcBef>
                <a:spcPts val="600"/>
              </a:spcBef>
              <a:spcAft>
                <a:spcPts val="800"/>
              </a:spcAft>
              <a:buNone/>
            </a:pPr>
            <a:r>
              <a:rPr lang="en-US" sz="1800" b="1" dirty="0">
                <a:solidFill>
                  <a:srgbClr val="FE4447"/>
                </a:solidFill>
                <a:latin typeface="Georgia" pitchFamily="34" charset="0"/>
                <a:ea typeface="Georgia" pitchFamily="34" charset="-122"/>
                <a:cs typeface="Georgia" pitchFamily="34" charset="-120"/>
              </a:rPr>
              <a:t>Warm-up (3 min)</a:t>
            </a:r>
            <a:endParaRPr lang="en-US" sz="1800" dirty="0"/>
          </a:p>
        </p:txBody>
      </p:sp>
      <p:sp>
        <p:nvSpPr>
          <p:cNvPr id="4" name="Text 2"/>
          <p:cNvSpPr/>
          <p:nvPr/>
        </p:nvSpPr>
        <p:spPr>
          <a:xfrm>
            <a:off x="406301" y="870942"/>
            <a:ext cx="8498026" cy="21327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 No daily prompt today — we keep this short.</a:t>
            </a:r>
            <a:endParaRPr lang="en-US" sz="1200" dirty="0"/>
          </a:p>
        </p:txBody>
      </p:sp>
      <p:sp>
        <p:nvSpPr>
          <p:cNvPr id="5" name="Text 3"/>
          <p:cNvSpPr/>
          <p:nvPr/>
        </p:nvSpPr>
        <p:spPr>
          <a:xfrm>
            <a:off x="634901" y="1173063"/>
            <a:ext cx="8102798" cy="487561"/>
          </a:xfrm>
          <a:prstGeom prst="rect">
            <a:avLst/>
          </a:prstGeom>
          <a:noFill/>
          <a:ln/>
        </p:spPr>
        <p:txBody>
          <a:bodyPr wrap="square" lIns="0" tIns="0" rIns="0" bIns="0" rtlCol="0" anchor="t"/>
          <a:lstStyle/>
          <a:p>
            <a:pPr algn="l" marL="342900" indent="-342900">
              <a:lnSpc>
                <a:spcPts val="1620"/>
              </a:lnSpc>
              <a:spcAft>
                <a:spcPts val="300"/>
              </a:spcAft>
              <a:buSzPct val="100000"/>
              <a:buChar char="•"/>
            </a:pPr>
            <a:r>
              <a:rPr lang="en-US" sz="1200" i="1" dirty="0">
                <a:solidFill>
                  <a:srgbClr val="1C2833"/>
                </a:solidFill>
                <a:latin typeface="Arial" pitchFamily="34" charset="0"/>
                <a:ea typeface="Arial" pitchFamily="34" charset="-122"/>
                <a:cs typeface="Arial" pitchFamily="34" charset="-120"/>
              </a:rPr>
              <a:t>"Today is a build day. I am NOT teaching. I'm walking the room. Sit down, take out your sketch and materials, and start. You have 35 minutes. Begin."</a:t>
            </a:r>
            <a:endParaRPr lang="en-US" sz="1200" dirty="0"/>
          </a:p>
        </p:txBody>
      </p:sp>
      <p:sp>
        <p:nvSpPr>
          <p:cNvPr id="6" name="Text 4"/>
          <p:cNvSpPr/>
          <p:nvPr/>
        </p:nvSpPr>
        <p:spPr>
          <a:xfrm>
            <a:off x="406301" y="4434929"/>
            <a:ext cx="8498026" cy="21327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Middle ·  · IKS Curriculum</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101501"/>
          </a:xfrm>
          <a:prstGeom prst="rect">
            <a:avLst/>
          </a:prstGeom>
          <a:solidFill>
            <a:srgbClr val="277884"/>
          </a:solidFill>
          <a:ln/>
        </p:spPr>
        <p:txBody>
          <a:bodyPr wrap="square" rtlCol="0" anchor="ctr"/>
          <a:lstStyle/>
          <a:p>
            <a:pPr indent="0" marL="0">
              <a:buNone/>
            </a:pPr>
            <a:endParaRPr lang="en-US" dirty="0"/>
          </a:p>
        </p:txBody>
      </p:sp>
      <p:sp>
        <p:nvSpPr>
          <p:cNvPr id="3" name="Text 1"/>
          <p:cNvSpPr/>
          <p:nvPr/>
        </p:nvSpPr>
        <p:spPr>
          <a:xfrm>
            <a:off x="406301" y="457051"/>
            <a:ext cx="8498026" cy="274290"/>
          </a:xfrm>
          <a:prstGeom prst="rect">
            <a:avLst/>
          </a:prstGeom>
          <a:noFill/>
          <a:ln/>
        </p:spPr>
        <p:txBody>
          <a:bodyPr wrap="square" lIns="0" tIns="0" rIns="0" bIns="0" rtlCol="0" anchor="t"/>
          <a:lstStyle/>
          <a:p>
            <a:pPr algn="l" indent="0" marL="0">
              <a:lnSpc>
                <a:spcPts val="2160"/>
              </a:lnSpc>
              <a:spcBef>
                <a:spcPts val="600"/>
              </a:spcBef>
              <a:spcAft>
                <a:spcPts val="800"/>
              </a:spcAft>
              <a:buNone/>
            </a:pPr>
            <a:r>
              <a:rPr lang="en-US" sz="1800" b="1" dirty="0">
                <a:solidFill>
                  <a:srgbClr val="FE4447"/>
                </a:solidFill>
                <a:latin typeface="Georgia" pitchFamily="34" charset="0"/>
                <a:ea typeface="Georgia" pitchFamily="34" charset="-122"/>
                <a:cs typeface="Georgia" pitchFamily="34" charset="-120"/>
              </a:rPr>
              <a:t>Core / Activity (35 min) — Quiet build</a:t>
            </a:r>
            <a:endParaRPr lang="en-US" sz="1800" dirty="0"/>
          </a:p>
        </p:txBody>
      </p:sp>
      <p:sp>
        <p:nvSpPr>
          <p:cNvPr id="4" name="Text 2"/>
          <p:cNvSpPr/>
          <p:nvPr/>
        </p:nvSpPr>
        <p:spPr>
          <a:xfrm>
            <a:off x="406301" y="870942"/>
            <a:ext cx="8498026" cy="21327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The bulk of the period is a quiet, focused work session. The teacher walks the room with three roles:</a:t>
            </a:r>
            <a:endParaRPr lang="en-US" sz="1200" dirty="0"/>
          </a:p>
        </p:txBody>
      </p:sp>
      <p:sp>
        <p:nvSpPr>
          <p:cNvPr id="5" name="Text 3"/>
          <p:cNvSpPr/>
          <p:nvPr/>
        </p:nvSpPr>
        <p:spPr>
          <a:xfrm>
            <a:off x="634901" y="1173063"/>
            <a:ext cx="8102798" cy="1386483"/>
          </a:xfrm>
          <a:prstGeom prst="rect">
            <a:avLst/>
          </a:prstGeom>
          <a:noFill/>
          <a:ln/>
        </p:spPr>
        <p:txBody>
          <a:bodyPr wrap="square" lIns="0" tIns="0" rIns="0" bIns="0" rtlCol="0" anchor="t"/>
          <a:lstStyle/>
          <a:p>
            <a:pPr algn="l" marL="342900" indent="-342900">
              <a:lnSpc>
                <a:spcPts val="1620"/>
              </a:lnSpc>
              <a:spcAft>
                <a:spcPts val="300"/>
              </a:spcAft>
              <a:buSzPct val="100000"/>
              <a:buChar char="•"/>
            </a:pPr>
            <a:r>
              <a:rPr lang="en-US" sz="1200" b="1" dirty="0">
                <a:solidFill>
                  <a:srgbClr val="1C2833"/>
                </a:solidFill>
                <a:latin typeface="Arial" pitchFamily="34" charset="0"/>
                <a:ea typeface="Arial" pitchFamily="34" charset="-122"/>
                <a:cs typeface="Arial" pitchFamily="34" charset="-120"/>
              </a:rPr>
              <a:t>The unblocker.</a:t>
            </a:r>
            <a:pPr algn="l" indent="0" marL="0">
              <a:lnSpc>
                <a:spcPts val="1620"/>
              </a:lnSpc>
              <a:spcAft>
                <a:spcPts val="300"/>
              </a:spcAft>
              <a:buNone/>
            </a:pPr>
            <a:r>
              <a:rPr lang="en-US" sz="1200" dirty="0">
                <a:solidFill>
                  <a:srgbClr val="1C2833"/>
                </a:solidFill>
                <a:latin typeface="Arial" pitchFamily="34" charset="0"/>
                <a:ea typeface="Arial" pitchFamily="34" charset="-122"/>
                <a:cs typeface="Arial" pitchFamily="34" charset="-120"/>
              </a:rPr>
              <a:t> A student raises a hand because they're stuck — go over, ask "what's the next thing you'll do?", help them name it, walk away.</a:t>
            </a:r>
            <a:endParaRPr lang="en-US" sz="1200" dirty="0"/>
          </a:p>
          <a:p>
            <a:pPr algn="l" marL="342900" indent="-342900">
              <a:lnSpc>
                <a:spcPts val="1620"/>
              </a:lnSpc>
              <a:spcAft>
                <a:spcPts val="300"/>
              </a:spcAft>
              <a:buSzPct val="100000"/>
              <a:buChar char="•"/>
            </a:pPr>
            <a:r>
              <a:rPr lang="en-US" sz="1200" b="1" dirty="0">
                <a:solidFill>
                  <a:srgbClr val="1C2833"/>
                </a:solidFill>
                <a:latin typeface="Arial" pitchFamily="34" charset="0"/>
                <a:ea typeface="Arial" pitchFamily="34" charset="-122"/>
                <a:cs typeface="Arial" pitchFamily="34" charset="-120"/>
              </a:rPr>
              <a:t>The narrower.</a:t>
            </a:r>
            <a:pPr algn="l" indent="0" marL="0">
              <a:lnSpc>
                <a:spcPts val="1620"/>
              </a:lnSpc>
              <a:spcAft>
                <a:spcPts val="300"/>
              </a:spcAft>
              <a:buNone/>
            </a:pPr>
            <a:r>
              <a:rPr lang="en-US" sz="1200" dirty="0">
                <a:solidFill>
                  <a:srgbClr val="1C2833"/>
                </a:solidFill>
                <a:latin typeface="Arial" pitchFamily="34" charset="0"/>
                <a:ea typeface="Arial" pitchFamily="34" charset="-122"/>
                <a:cs typeface="Arial" pitchFamily="34" charset="-120"/>
              </a:rPr>
              <a:t> A student is trying to do too much. Ask: "If you had to ship by 4 pm today, what would you cut?" Hold them to the cut.</a:t>
            </a:r>
            <a:endParaRPr lang="en-US" sz="1200" dirty="0"/>
          </a:p>
          <a:p>
            <a:pPr algn="l" marL="342900" indent="-342900">
              <a:lnSpc>
                <a:spcPts val="1620"/>
              </a:lnSpc>
              <a:spcAft>
                <a:spcPts val="300"/>
              </a:spcAft>
              <a:buSzPct val="100000"/>
              <a:buChar char="•"/>
            </a:pPr>
            <a:r>
              <a:rPr lang="en-US" sz="1200" b="1" dirty="0">
                <a:solidFill>
                  <a:srgbClr val="1C2833"/>
                </a:solidFill>
                <a:latin typeface="Arial" pitchFamily="34" charset="0"/>
                <a:ea typeface="Arial" pitchFamily="34" charset="-122"/>
                <a:cs typeface="Arial" pitchFamily="34" charset="-120"/>
              </a:rPr>
              <a:t>The witness.</a:t>
            </a:r>
            <a:pPr algn="l" indent="0" marL="0">
              <a:lnSpc>
                <a:spcPts val="1620"/>
              </a:lnSpc>
              <a:spcAft>
                <a:spcPts val="300"/>
              </a:spcAft>
              <a:buNone/>
            </a:pPr>
            <a:r>
              <a:rPr lang="en-US" sz="1200" dirty="0">
                <a:solidFill>
                  <a:srgbClr val="1C2833"/>
                </a:solidFill>
                <a:latin typeface="Arial" pitchFamily="34" charset="0"/>
                <a:ea typeface="Arial" pitchFamily="34" charset="-122"/>
                <a:cs typeface="Arial" pitchFamily="34" charset="-120"/>
              </a:rPr>
              <a:t> A student is working well. Pause for 30 seconds. Note (silently) what they're doing well. Tell them at the end of class, briefly.</a:t>
            </a:r>
            <a:endParaRPr lang="en-US" sz="1200" dirty="0"/>
          </a:p>
        </p:txBody>
      </p:sp>
      <p:sp>
        <p:nvSpPr>
          <p:cNvPr id="6" name="Text 4"/>
          <p:cNvSpPr/>
          <p:nvPr/>
        </p:nvSpPr>
        <p:spPr>
          <a:xfrm>
            <a:off x="406301" y="2648396"/>
            <a:ext cx="8498026" cy="42654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The teacher does NOT teach today. No new content. No "let me show you." If a student needs a skill, point them at the relevant prior module's worked example.</a:t>
            </a:r>
            <a:endParaRPr lang="en-US" sz="1200" dirty="0"/>
          </a:p>
        </p:txBody>
      </p:sp>
      <p:sp>
        <p:nvSpPr>
          <p:cNvPr id="7" name="Text 5"/>
          <p:cNvSpPr/>
          <p:nvPr/>
        </p:nvSpPr>
        <p:spPr>
          <a:xfrm>
            <a:off x="406301" y="4434929"/>
            <a:ext cx="8498026" cy="21327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Middle ·  · IKS Curriculum</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101501"/>
          </a:xfrm>
          <a:prstGeom prst="rect">
            <a:avLst/>
          </a:prstGeom>
          <a:solidFill>
            <a:srgbClr val="277884"/>
          </a:solidFill>
          <a:ln/>
        </p:spPr>
        <p:txBody>
          <a:bodyPr wrap="square" rtlCol="0" anchor="ctr"/>
          <a:lstStyle/>
          <a:p>
            <a:pPr indent="0" marL="0">
              <a:buNone/>
            </a:pPr>
            <a:endParaRPr lang="en-US" dirty="0"/>
          </a:p>
        </p:txBody>
      </p:sp>
      <p:sp>
        <p:nvSpPr>
          <p:cNvPr id="3" name="Text 1"/>
          <p:cNvSpPr/>
          <p:nvPr/>
        </p:nvSpPr>
        <p:spPr>
          <a:xfrm>
            <a:off x="406301" y="457051"/>
            <a:ext cx="8498026" cy="274290"/>
          </a:xfrm>
          <a:prstGeom prst="rect">
            <a:avLst/>
          </a:prstGeom>
          <a:noFill/>
          <a:ln/>
        </p:spPr>
        <p:txBody>
          <a:bodyPr wrap="square" lIns="0" tIns="0" rIns="0" bIns="0" rtlCol="0" anchor="t"/>
          <a:lstStyle/>
          <a:p>
            <a:pPr algn="l" indent="0" marL="0">
              <a:lnSpc>
                <a:spcPts val="2160"/>
              </a:lnSpc>
              <a:spcBef>
                <a:spcPts val="600"/>
              </a:spcBef>
              <a:spcAft>
                <a:spcPts val="800"/>
              </a:spcAft>
              <a:buNone/>
            </a:pPr>
            <a:r>
              <a:rPr lang="en-US" sz="1800" b="1" dirty="0">
                <a:solidFill>
                  <a:srgbClr val="FE4447"/>
                </a:solidFill>
                <a:latin typeface="Georgia" pitchFamily="34" charset="0"/>
                <a:ea typeface="Georgia" pitchFamily="34" charset="-122"/>
                <a:cs typeface="Georgia" pitchFamily="34" charset="-120"/>
              </a:rPr>
              <a:t>Mid-session check (built into the 35 min)</a:t>
            </a:r>
            <a:endParaRPr lang="en-US" sz="1800" dirty="0"/>
          </a:p>
        </p:txBody>
      </p:sp>
      <p:sp>
        <p:nvSpPr>
          <p:cNvPr id="4" name="Text 2"/>
          <p:cNvSpPr/>
          <p:nvPr/>
        </p:nvSpPr>
        <p:spPr>
          <a:xfrm>
            <a:off x="406301" y="870942"/>
            <a:ext cx="8498026" cy="639812"/>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 At the 18-minute mark (halfway), call the room to attention for 90 seconds: - </a:t>
            </a:r>
            <a:pPr algn="l" indent="0" marL="0">
              <a:lnSpc>
                <a:spcPts val="1680"/>
              </a:lnSpc>
              <a:spcBef>
                <a:spcPts val="300"/>
              </a:spcBef>
              <a:spcAft>
                <a:spcPts val="300"/>
              </a:spcAft>
              <a:buNone/>
            </a:pPr>
            <a:r>
              <a:rPr lang="en-US" sz="1200" i="1" dirty="0">
                <a:solidFill>
                  <a:srgbClr val="1C2833"/>
                </a:solidFill>
                <a:latin typeface="Arial" pitchFamily="34" charset="0"/>
                <a:ea typeface="Arial" pitchFamily="34" charset="-122"/>
                <a:cs typeface="Arial" pitchFamily="34" charset="-120"/>
              </a:rPr>
              <a:t>"Hands up if half your artefact will be done by the end of class."</a:t>
            </a:r>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 Note who's at risk. - </a:t>
            </a:r>
            <a:pPr algn="l" indent="0" marL="0">
              <a:lnSpc>
                <a:spcPts val="1680"/>
              </a:lnSpc>
              <a:spcBef>
                <a:spcPts val="300"/>
              </a:spcBef>
              <a:spcAft>
                <a:spcPts val="300"/>
              </a:spcAft>
              <a:buNone/>
            </a:pPr>
            <a:r>
              <a:rPr lang="en-US" sz="1200" i="1" dirty="0">
                <a:solidFill>
                  <a:srgbClr val="1C2833"/>
                </a:solidFill>
                <a:latin typeface="Arial" pitchFamily="34" charset="0"/>
                <a:ea typeface="Arial" pitchFamily="34" charset="-122"/>
                <a:cs typeface="Arial" pitchFamily="34" charset="-120"/>
              </a:rPr>
              <a:t>"Hands up if you've added something today that wasn't in your sketch."</a:t>
            </a:r>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 Surface emerging ideas. – Resume.</a:t>
            </a:r>
            <a:endParaRPr lang="en-US" sz="1200" dirty="0"/>
          </a:p>
        </p:txBody>
      </p:sp>
      <p:sp>
        <p:nvSpPr>
          <p:cNvPr id="5" name="Text 3"/>
          <p:cNvSpPr/>
          <p:nvPr/>
        </p:nvSpPr>
        <p:spPr>
          <a:xfrm>
            <a:off x="406301" y="4434929"/>
            <a:ext cx="8498026" cy="21327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Middle ·  · IKS Curriculum</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101501"/>
          </a:xfrm>
          <a:prstGeom prst="rect">
            <a:avLst/>
          </a:prstGeom>
          <a:solidFill>
            <a:srgbClr val="277884"/>
          </a:solidFill>
          <a:ln/>
        </p:spPr>
        <p:txBody>
          <a:bodyPr wrap="square" rtlCol="0" anchor="ctr"/>
          <a:lstStyle/>
          <a:p>
            <a:pPr indent="0" marL="0">
              <a:buNone/>
            </a:pPr>
            <a:endParaRPr lang="en-US" dirty="0"/>
          </a:p>
        </p:txBody>
      </p:sp>
      <p:sp>
        <p:nvSpPr>
          <p:cNvPr id="3" name="Text 1"/>
          <p:cNvSpPr/>
          <p:nvPr/>
        </p:nvSpPr>
        <p:spPr>
          <a:xfrm>
            <a:off x="406301" y="457051"/>
            <a:ext cx="8498026" cy="274290"/>
          </a:xfrm>
          <a:prstGeom prst="rect">
            <a:avLst/>
          </a:prstGeom>
          <a:noFill/>
          <a:ln/>
        </p:spPr>
        <p:txBody>
          <a:bodyPr wrap="square" lIns="0" tIns="0" rIns="0" bIns="0" rtlCol="0" anchor="t"/>
          <a:lstStyle/>
          <a:p>
            <a:pPr algn="l" indent="0" marL="0">
              <a:lnSpc>
                <a:spcPts val="2160"/>
              </a:lnSpc>
              <a:spcBef>
                <a:spcPts val="600"/>
              </a:spcBef>
              <a:spcAft>
                <a:spcPts val="800"/>
              </a:spcAft>
              <a:buNone/>
            </a:pPr>
            <a:r>
              <a:rPr lang="en-US" sz="1800" b="1" dirty="0">
                <a:solidFill>
                  <a:srgbClr val="FE4447"/>
                </a:solidFill>
                <a:latin typeface="Georgia" pitchFamily="34" charset="0"/>
                <a:ea typeface="Georgia" pitchFamily="34" charset="-122"/>
                <a:cs typeface="Georgia" pitchFamily="34" charset="-120"/>
              </a:rPr>
              <a:t>Wrap-up (7 min)</a:t>
            </a:r>
            <a:endParaRPr lang="en-US" sz="1800" dirty="0"/>
          </a:p>
        </p:txBody>
      </p:sp>
      <p:sp>
        <p:nvSpPr>
          <p:cNvPr id="4" name="Text 2"/>
          <p:cNvSpPr/>
          <p:nvPr/>
        </p:nvSpPr>
        <p:spPr>
          <a:xfrm>
            <a:off x="406301" y="870942"/>
            <a:ext cx="8498026" cy="639812"/>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 4 minutes — pack up, photograph today's progress. – 3 minutes — daily journal:   &gt; "Today I built: ___ . Tomorrow I will build: ___ . What's blocking me: ___ ." – Submit journals into the in-tray. Teacher does a quick read; students at risk get a 5-minute morning check-in tomorrow.</a:t>
            </a:r>
            <a:endParaRPr lang="en-US" sz="1200" dirty="0"/>
          </a:p>
        </p:txBody>
      </p:sp>
      <p:sp>
        <p:nvSpPr>
          <p:cNvPr id="5" name="Text 3"/>
          <p:cNvSpPr/>
          <p:nvPr/>
        </p:nvSpPr>
        <p:spPr>
          <a:xfrm>
            <a:off x="406301" y="4434929"/>
            <a:ext cx="8498026" cy="21327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Middle ·  · IKS Curriculum</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101501"/>
          </a:xfrm>
          <a:prstGeom prst="rect">
            <a:avLst/>
          </a:prstGeom>
          <a:solidFill>
            <a:srgbClr val="277884"/>
          </a:solidFill>
          <a:ln/>
        </p:spPr>
        <p:txBody>
          <a:bodyPr wrap="square" rtlCol="0" anchor="ctr"/>
          <a:lstStyle/>
          <a:p>
            <a:pPr indent="0" marL="0">
              <a:buNone/>
            </a:pPr>
            <a:endParaRPr lang="en-US" dirty="0"/>
          </a:p>
        </p:txBody>
      </p:sp>
      <p:sp>
        <p:nvSpPr>
          <p:cNvPr id="3" name="Text 1"/>
          <p:cNvSpPr/>
          <p:nvPr/>
        </p:nvSpPr>
        <p:spPr>
          <a:xfrm>
            <a:off x="406301" y="457051"/>
            <a:ext cx="8498026" cy="274290"/>
          </a:xfrm>
          <a:prstGeom prst="rect">
            <a:avLst/>
          </a:prstGeom>
          <a:noFill/>
          <a:ln/>
        </p:spPr>
        <p:txBody>
          <a:bodyPr wrap="square" lIns="0" tIns="0" rIns="0" bIns="0" rtlCol="0" anchor="t"/>
          <a:lstStyle/>
          <a:p>
            <a:pPr algn="l" indent="0" marL="0">
              <a:lnSpc>
                <a:spcPts val="2160"/>
              </a:lnSpc>
              <a:spcBef>
                <a:spcPts val="600"/>
              </a:spcBef>
              <a:spcAft>
                <a:spcPts val="800"/>
              </a:spcAft>
              <a:buNone/>
            </a:pPr>
            <a:r>
              <a:rPr lang="en-US" sz="1800" b="1" dirty="0">
                <a:solidFill>
                  <a:srgbClr val="FE4447"/>
                </a:solidFill>
                <a:latin typeface="Georgia" pitchFamily="34" charset="0"/>
                <a:ea typeface="Georgia" pitchFamily="34" charset="-122"/>
                <a:cs typeface="Georgia" pitchFamily="34" charset="-120"/>
              </a:rPr>
              <a:t>Student-facing content</a:t>
            </a:r>
            <a:endParaRPr lang="en-US" sz="1800" dirty="0"/>
          </a:p>
        </p:txBody>
      </p:sp>
      <p:sp>
        <p:nvSpPr>
          <p:cNvPr id="4" name="Text 2"/>
          <p:cNvSpPr/>
          <p:nvPr/>
        </p:nvSpPr>
        <p:spPr>
          <a:xfrm>
            <a:off x="406301" y="883593"/>
            <a:ext cx="8331398" cy="2343150"/>
          </a:xfrm>
          <a:prstGeom prst="rect">
            <a:avLst/>
          </a:prstGeom>
          <a:solidFill>
            <a:srgbClr val="F4F8F9"/>
          </a:solidFill>
          <a:ln/>
        </p:spPr>
        <p:txBody>
          <a:bodyPr wrap="square" rtlCol="0" anchor="ctr"/>
          <a:lstStyle/>
          <a:p>
            <a:pPr indent="0" marL="0">
              <a:buNone/>
            </a:pPr>
            <a:endParaRPr lang="en-US" dirty="0"/>
          </a:p>
        </p:txBody>
      </p:sp>
      <p:sp>
        <p:nvSpPr>
          <p:cNvPr id="5" name="Shape 3"/>
          <p:cNvSpPr/>
          <p:nvPr/>
        </p:nvSpPr>
        <p:spPr>
          <a:xfrm>
            <a:off x="434876" y="883593"/>
            <a:ext cx="0" cy="2343150"/>
          </a:xfrm>
          <a:prstGeom prst="line">
            <a:avLst/>
          </a:prstGeom>
          <a:noFill/>
          <a:ln w="57150">
            <a:solidFill>
              <a:srgbClr val="FE4447"/>
            </a:solidFill>
            <a:prstDash val="solid"/>
          </a:ln>
        </p:spPr>
      </p:sp>
      <p:sp>
        <p:nvSpPr>
          <p:cNvPr id="6" name="Text 4"/>
          <p:cNvSpPr/>
          <p:nvPr/>
        </p:nvSpPr>
        <p:spPr>
          <a:xfrm>
            <a:off x="692051" y="1074093"/>
            <a:ext cx="7973389" cy="230981"/>
          </a:xfrm>
          <a:prstGeom prst="rect">
            <a:avLst/>
          </a:prstGeom>
          <a:noFill/>
          <a:ln/>
        </p:spPr>
        <p:txBody>
          <a:bodyPr wrap="square" lIns="0" tIns="0" rIns="0" bIns="0" rtlCol="0" anchor="t"/>
          <a:lstStyle/>
          <a:p>
            <a:pPr algn="l" indent="0" marL="0">
              <a:lnSpc>
                <a:spcPts val="1820"/>
              </a:lnSpc>
              <a:spcBef>
                <a:spcPts val="300"/>
              </a:spcBef>
              <a:spcAft>
                <a:spcPts val="300"/>
              </a:spcAft>
              <a:buNone/>
            </a:pPr>
            <a:r>
              <a:rPr lang="en-US" sz="1300" b="1" i="1" dirty="0">
                <a:solidFill>
                  <a:srgbClr val="1C2833"/>
                </a:solidFill>
                <a:latin typeface="Georgia" pitchFamily="34" charset="0"/>
                <a:ea typeface="Georgia" pitchFamily="34" charset="-122"/>
                <a:cs typeface="Georgia" pitchFamily="34" charset="-120"/>
              </a:rPr>
              <a:t>Today is a quiet build day.</a:t>
            </a:r>
            <a:endParaRPr lang="en-US" sz="1300" dirty="0"/>
          </a:p>
        </p:txBody>
      </p:sp>
      <p:sp>
        <p:nvSpPr>
          <p:cNvPr id="7" name="Text 5"/>
          <p:cNvSpPr/>
          <p:nvPr/>
        </p:nvSpPr>
        <p:spPr>
          <a:xfrm>
            <a:off x="692051" y="1343174"/>
            <a:ext cx="7973389" cy="230981"/>
          </a:xfrm>
          <a:prstGeom prst="rect">
            <a:avLst/>
          </a:prstGeom>
          <a:noFill/>
          <a:ln/>
        </p:spPr>
        <p:txBody>
          <a:bodyPr wrap="square" lIns="0" tIns="0" rIns="0" bIns="0" rtlCol="0" anchor="t"/>
          <a:lstStyle/>
          <a:p>
            <a:pPr algn="l" indent="0" marL="0">
              <a:lnSpc>
                <a:spcPts val="1820"/>
              </a:lnSpc>
              <a:spcBef>
                <a:spcPts val="300"/>
              </a:spcBef>
              <a:spcAft>
                <a:spcPts val="300"/>
              </a:spcAft>
              <a:buNone/>
            </a:pPr>
            <a:r>
              <a:rPr lang="en-US" sz="1300" i="1" dirty="0">
                <a:solidFill>
                  <a:srgbClr val="1C2833"/>
                </a:solidFill>
                <a:latin typeface="Georgia" pitchFamily="34" charset="0"/>
                <a:ea typeface="Georgia" pitchFamily="34" charset="-122"/>
                <a:cs typeface="Georgia" pitchFamily="34" charset="-120"/>
              </a:rPr>
              <a:t>The teacher is not teaching today. They're walking the room.</a:t>
            </a:r>
            <a:endParaRPr lang="en-US" sz="1300" dirty="0"/>
          </a:p>
        </p:txBody>
      </p:sp>
      <p:sp>
        <p:nvSpPr>
          <p:cNvPr id="8" name="Text 6"/>
          <p:cNvSpPr/>
          <p:nvPr/>
        </p:nvSpPr>
        <p:spPr>
          <a:xfrm>
            <a:off x="692051" y="1612255"/>
            <a:ext cx="7973389" cy="692944"/>
          </a:xfrm>
          <a:prstGeom prst="rect">
            <a:avLst/>
          </a:prstGeom>
          <a:noFill/>
          <a:ln/>
        </p:spPr>
        <p:txBody>
          <a:bodyPr wrap="square" lIns="0" tIns="0" rIns="0" bIns="0" rtlCol="0" anchor="t"/>
          <a:lstStyle/>
          <a:p>
            <a:pPr algn="l" indent="0" marL="0">
              <a:lnSpc>
                <a:spcPts val="1820"/>
              </a:lnSpc>
              <a:spcBef>
                <a:spcPts val="300"/>
              </a:spcBef>
              <a:spcAft>
                <a:spcPts val="300"/>
              </a:spcAft>
              <a:buNone/>
            </a:pPr>
            <a:r>
              <a:rPr lang="en-US" sz="1300" i="1" dirty="0">
                <a:solidFill>
                  <a:srgbClr val="1C2833"/>
                </a:solidFill>
                <a:latin typeface="Georgia" pitchFamily="34" charset="0"/>
                <a:ea typeface="Georgia" pitchFamily="34" charset="-122"/>
                <a:cs typeface="Georgia" pitchFamily="34" charset="-120"/>
              </a:rPr>
              <a:t>Your job: 1. Sit down, take out your materials and sketch, start within 60 seconds of the bell. 2. Build steadily for 35 minutes. 3. By the halfway point, half your artefact should exist in some form. 4. End-of-class — photograph it. Journal it. Pack up.</a:t>
            </a:r>
            <a:endParaRPr lang="en-US" sz="1300" dirty="0"/>
          </a:p>
        </p:txBody>
      </p:sp>
      <p:sp>
        <p:nvSpPr>
          <p:cNvPr id="9" name="Text 7"/>
          <p:cNvSpPr/>
          <p:nvPr/>
        </p:nvSpPr>
        <p:spPr>
          <a:xfrm>
            <a:off x="692051" y="2343299"/>
            <a:ext cx="7973389" cy="692944"/>
          </a:xfrm>
          <a:prstGeom prst="rect">
            <a:avLst/>
          </a:prstGeom>
          <a:noFill/>
          <a:ln/>
        </p:spPr>
        <p:txBody>
          <a:bodyPr wrap="square" lIns="0" tIns="0" rIns="0" bIns="0" rtlCol="0" anchor="t"/>
          <a:lstStyle/>
          <a:p>
            <a:pPr algn="l" indent="0" marL="0">
              <a:lnSpc>
                <a:spcPts val="1820"/>
              </a:lnSpc>
              <a:spcBef>
                <a:spcPts val="300"/>
              </a:spcBef>
              <a:spcAft>
                <a:spcPts val="300"/>
              </a:spcAft>
              <a:buNone/>
            </a:pPr>
            <a:r>
              <a:rPr lang="en-US" sz="1300" dirty="0">
                <a:solidFill>
                  <a:srgbClr val="1C2833"/>
                </a:solidFill>
                <a:latin typeface="Georgia" pitchFamily="34" charset="0"/>
                <a:ea typeface="Georgia" pitchFamily="34" charset="-122"/>
                <a:cs typeface="Georgia" pitchFamily="34" charset="-120"/>
              </a:rPr>
              <a:t>Three useful questions to ask yourself when stuck: - </a:t>
            </a:r>
            <a:pPr algn="l" indent="0" marL="0">
              <a:lnSpc>
                <a:spcPts val="1820"/>
              </a:lnSpc>
              <a:spcBef>
                <a:spcPts val="300"/>
              </a:spcBef>
              <a:spcAft>
                <a:spcPts val="300"/>
              </a:spcAft>
              <a:buNone/>
            </a:pPr>
            <a:r>
              <a:rPr lang="en-US" sz="1300" i="1" dirty="0">
                <a:solidFill>
                  <a:srgbClr val="1C2833"/>
                </a:solidFill>
                <a:latin typeface="Georgia" pitchFamily="34" charset="0"/>
                <a:ea typeface="Georgia" pitchFamily="34" charset="-122"/>
                <a:cs typeface="Georgia" pitchFamily="34" charset="-120"/>
              </a:rPr>
              <a:t>What's the next thing I'll do?</a:t>
            </a:r>
            <a:pPr algn="l" indent="0" marL="0">
              <a:lnSpc>
                <a:spcPts val="1820"/>
              </a:lnSpc>
              <a:spcBef>
                <a:spcPts val="300"/>
              </a:spcBef>
              <a:spcAft>
                <a:spcPts val="300"/>
              </a:spcAft>
              <a:buNone/>
            </a:pPr>
            <a:r>
              <a:rPr lang="en-US" sz="1300" dirty="0">
                <a:solidFill>
                  <a:srgbClr val="1C2833"/>
                </a:solidFill>
                <a:latin typeface="Georgia" pitchFamily="34" charset="0"/>
                <a:ea typeface="Georgia" pitchFamily="34" charset="-122"/>
                <a:cs typeface="Georgia" pitchFamily="34" charset="-120"/>
              </a:rPr>
              <a:t> (Names the next action.) - </a:t>
            </a:r>
            <a:pPr algn="l" indent="0" marL="0">
              <a:lnSpc>
                <a:spcPts val="1820"/>
              </a:lnSpc>
              <a:spcBef>
                <a:spcPts val="300"/>
              </a:spcBef>
              <a:spcAft>
                <a:spcPts val="300"/>
              </a:spcAft>
              <a:buNone/>
            </a:pPr>
            <a:r>
              <a:rPr lang="en-US" sz="1300" i="1" dirty="0">
                <a:solidFill>
                  <a:srgbClr val="1C2833"/>
                </a:solidFill>
                <a:latin typeface="Georgia" pitchFamily="34" charset="0"/>
                <a:ea typeface="Georgia" pitchFamily="34" charset="-122"/>
                <a:cs typeface="Georgia" pitchFamily="34" charset="-120"/>
              </a:rPr>
              <a:t>What would I cut if I had to ship by 4 pm today?</a:t>
            </a:r>
            <a:pPr algn="l" indent="0" marL="0">
              <a:lnSpc>
                <a:spcPts val="1820"/>
              </a:lnSpc>
              <a:spcBef>
                <a:spcPts val="300"/>
              </a:spcBef>
              <a:spcAft>
                <a:spcPts val="300"/>
              </a:spcAft>
              <a:buNone/>
            </a:pPr>
            <a:r>
              <a:rPr lang="en-US" sz="1300" dirty="0">
                <a:solidFill>
                  <a:srgbClr val="1C2833"/>
                </a:solidFill>
                <a:latin typeface="Georgia" pitchFamily="34" charset="0"/>
                <a:ea typeface="Georgia" pitchFamily="34" charset="-122"/>
                <a:cs typeface="Georgia" pitchFamily="34" charset="-120"/>
              </a:rPr>
              <a:t> (Forces a priority.) - </a:t>
            </a:r>
            <a:pPr algn="l" indent="0" marL="0">
              <a:lnSpc>
                <a:spcPts val="1820"/>
              </a:lnSpc>
              <a:spcBef>
                <a:spcPts val="300"/>
              </a:spcBef>
              <a:spcAft>
                <a:spcPts val="300"/>
              </a:spcAft>
              <a:buNone/>
            </a:pPr>
            <a:r>
              <a:rPr lang="en-US" sz="1300" i="1" dirty="0">
                <a:solidFill>
                  <a:srgbClr val="1C2833"/>
                </a:solidFill>
                <a:latin typeface="Georgia" pitchFamily="34" charset="0"/>
                <a:ea typeface="Georgia" pitchFamily="34" charset="-122"/>
                <a:cs typeface="Georgia" pitchFamily="34" charset="-120"/>
              </a:rPr>
              <a:t>Does this match what I sketched?</a:t>
            </a:r>
            <a:pPr algn="l" indent="0" marL="0">
              <a:lnSpc>
                <a:spcPts val="1820"/>
              </a:lnSpc>
              <a:spcBef>
                <a:spcPts val="300"/>
              </a:spcBef>
              <a:spcAft>
                <a:spcPts val="300"/>
              </a:spcAft>
              <a:buNone/>
            </a:pPr>
            <a:r>
              <a:rPr lang="en-US" sz="1300" dirty="0">
                <a:solidFill>
                  <a:srgbClr val="1C2833"/>
                </a:solidFill>
                <a:latin typeface="Georgia" pitchFamily="34" charset="0"/>
                <a:ea typeface="Georgia" pitchFamily="34" charset="-122"/>
                <a:cs typeface="Georgia" pitchFamily="34" charset="-120"/>
              </a:rPr>
              <a:t> (Pulls you back to plan.)</a:t>
            </a:r>
            <a:endParaRPr lang="en-US" sz="1300" dirty="0"/>
          </a:p>
        </p:txBody>
      </p:sp>
      <p:sp>
        <p:nvSpPr>
          <p:cNvPr id="10" name="Text 8"/>
          <p:cNvSpPr/>
          <p:nvPr/>
        </p:nvSpPr>
        <p:spPr>
          <a:xfrm>
            <a:off x="406301" y="4434929"/>
            <a:ext cx="8498026" cy="21327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Middle ·  · IKS Curriculum</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101501"/>
          </a:xfrm>
          <a:prstGeom prst="rect">
            <a:avLst/>
          </a:prstGeom>
          <a:solidFill>
            <a:srgbClr val="277884"/>
          </a:solidFill>
          <a:ln/>
        </p:spPr>
        <p:txBody>
          <a:bodyPr wrap="square" rtlCol="0" anchor="ctr"/>
          <a:lstStyle/>
          <a:p>
            <a:pPr indent="0" marL="0">
              <a:buNone/>
            </a:pPr>
            <a:endParaRPr lang="en-US" dirty="0"/>
          </a:p>
        </p:txBody>
      </p:sp>
      <p:sp>
        <p:nvSpPr>
          <p:cNvPr id="3" name="Text 1"/>
          <p:cNvSpPr/>
          <p:nvPr/>
        </p:nvSpPr>
        <p:spPr>
          <a:xfrm>
            <a:off x="406301" y="457051"/>
            <a:ext cx="8498026" cy="274290"/>
          </a:xfrm>
          <a:prstGeom prst="rect">
            <a:avLst/>
          </a:prstGeom>
          <a:noFill/>
          <a:ln/>
        </p:spPr>
        <p:txBody>
          <a:bodyPr wrap="square" lIns="0" tIns="0" rIns="0" bIns="0" rtlCol="0" anchor="t"/>
          <a:lstStyle/>
          <a:p>
            <a:pPr algn="l" indent="0" marL="0">
              <a:lnSpc>
                <a:spcPts val="2160"/>
              </a:lnSpc>
              <a:spcBef>
                <a:spcPts val="600"/>
              </a:spcBef>
              <a:spcAft>
                <a:spcPts val="800"/>
              </a:spcAft>
              <a:buNone/>
            </a:pPr>
            <a:r>
              <a:rPr lang="en-US" sz="1800" b="1" dirty="0">
                <a:solidFill>
                  <a:srgbClr val="FE4447"/>
                </a:solidFill>
                <a:latin typeface="Georgia" pitchFamily="34" charset="0"/>
                <a:ea typeface="Georgia" pitchFamily="34" charset="-122"/>
                <a:cs typeface="Georgia" pitchFamily="34" charset="-120"/>
              </a:rPr>
              <a:t>Homework</a:t>
            </a:r>
            <a:endParaRPr lang="en-US" sz="1800" dirty="0"/>
          </a:p>
        </p:txBody>
      </p:sp>
      <p:sp>
        <p:nvSpPr>
          <p:cNvPr id="4" name="Text 2"/>
          <p:cNvSpPr/>
          <p:nvPr/>
        </p:nvSpPr>
        <p:spPr>
          <a:xfrm>
            <a:off x="406301" y="870942"/>
            <a:ext cx="8498026" cy="42654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 Finish at home </a:t>
            </a:r>
            <a:pPr algn="l" indent="0" marL="0">
              <a:lnSpc>
                <a:spcPts val="1680"/>
              </a:lnSpc>
              <a:spcBef>
                <a:spcPts val="300"/>
              </a:spcBef>
              <a:spcAft>
                <a:spcPts val="300"/>
              </a:spcAft>
              <a:buNone/>
            </a:pPr>
            <a:r>
              <a:rPr lang="en-US" sz="1200" b="1" dirty="0">
                <a:solidFill>
                  <a:srgbClr val="1C2833"/>
                </a:solidFill>
                <a:latin typeface="Arial" pitchFamily="34" charset="0"/>
                <a:ea typeface="Arial" pitchFamily="34" charset="-122"/>
                <a:cs typeface="Arial" pitchFamily="34" charset="-120"/>
              </a:rPr>
              <a:t>only what you couldn't finish in class today</a:t>
            </a:r>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 Cap at 20 minutes and stop. – Bring all materials again tomorrow. Day 7 finishes the build.</a:t>
            </a:r>
            <a:endParaRPr lang="en-US" sz="1200" dirty="0"/>
          </a:p>
        </p:txBody>
      </p:sp>
      <p:sp>
        <p:nvSpPr>
          <p:cNvPr id="5" name="Text 3"/>
          <p:cNvSpPr/>
          <p:nvPr/>
        </p:nvSpPr>
        <p:spPr>
          <a:xfrm>
            <a:off x="406301" y="4434929"/>
            <a:ext cx="8498026" cy="21327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Middle ·  · IKS Curriculum</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101501"/>
          </a:xfrm>
          <a:prstGeom prst="rect">
            <a:avLst/>
          </a:prstGeom>
          <a:solidFill>
            <a:srgbClr val="277884"/>
          </a:solidFill>
          <a:ln/>
        </p:spPr>
        <p:txBody>
          <a:bodyPr wrap="square" rtlCol="0" anchor="ctr"/>
          <a:lstStyle/>
          <a:p>
            <a:pPr indent="0" marL="0">
              <a:buNone/>
            </a:pPr>
            <a:endParaRPr lang="en-US" dirty="0"/>
          </a:p>
        </p:txBody>
      </p:sp>
      <p:sp>
        <p:nvSpPr>
          <p:cNvPr id="3" name="Text 1"/>
          <p:cNvSpPr/>
          <p:nvPr/>
        </p:nvSpPr>
        <p:spPr>
          <a:xfrm>
            <a:off x="406301" y="457051"/>
            <a:ext cx="8498026" cy="274290"/>
          </a:xfrm>
          <a:prstGeom prst="rect">
            <a:avLst/>
          </a:prstGeom>
          <a:noFill/>
          <a:ln/>
        </p:spPr>
        <p:txBody>
          <a:bodyPr wrap="square" lIns="0" tIns="0" rIns="0" bIns="0" rtlCol="0" anchor="t"/>
          <a:lstStyle/>
          <a:p>
            <a:pPr algn="l" indent="0" marL="0">
              <a:lnSpc>
                <a:spcPts val="2160"/>
              </a:lnSpc>
              <a:spcBef>
                <a:spcPts val="600"/>
              </a:spcBef>
              <a:spcAft>
                <a:spcPts val="800"/>
              </a:spcAft>
              <a:buNone/>
            </a:pPr>
            <a:r>
              <a:rPr lang="en-US" sz="1800" b="1" dirty="0">
                <a:solidFill>
                  <a:srgbClr val="FE4447"/>
                </a:solidFill>
                <a:latin typeface="Georgia" pitchFamily="34" charset="0"/>
                <a:ea typeface="Georgia" pitchFamily="34" charset="-122"/>
                <a:cs typeface="Georgia" pitchFamily="34" charset="-120"/>
              </a:rPr>
              <a:t>Differentiation</a:t>
            </a:r>
            <a:endParaRPr lang="en-US" sz="1800" dirty="0"/>
          </a:p>
        </p:txBody>
      </p:sp>
      <p:sp>
        <p:nvSpPr>
          <p:cNvPr id="4" name="Text 2"/>
          <p:cNvSpPr/>
          <p:nvPr/>
        </p:nvSpPr>
        <p:spPr>
          <a:xfrm>
            <a:off x="634901" y="883593"/>
            <a:ext cx="8102798" cy="937022"/>
          </a:xfrm>
          <a:prstGeom prst="rect">
            <a:avLst/>
          </a:prstGeom>
          <a:noFill/>
          <a:ln/>
        </p:spPr>
        <p:txBody>
          <a:bodyPr wrap="square" lIns="0" tIns="0" rIns="0" bIns="0" rtlCol="0" anchor="t"/>
          <a:lstStyle/>
          <a:p>
            <a:pPr algn="l" marL="342900" indent="-342900">
              <a:lnSpc>
                <a:spcPts val="1620"/>
              </a:lnSpc>
              <a:spcAft>
                <a:spcPts val="300"/>
              </a:spcAft>
              <a:buSzPct val="100000"/>
              <a:buChar char="•"/>
            </a:pPr>
            <a:r>
              <a:rPr lang="en-US" sz="1200" b="1" dirty="0">
                <a:solidFill>
                  <a:srgbClr val="1C2833"/>
                </a:solidFill>
                <a:latin typeface="Arial" pitchFamily="34" charset="0"/>
                <a:ea typeface="Arial" pitchFamily="34" charset="-122"/>
                <a:cs typeface="Arial" pitchFamily="34" charset="-120"/>
              </a:rPr>
              <a:t>One tier up:</a:t>
            </a:r>
            <a:pPr algn="l" indent="0" marL="0">
              <a:lnSpc>
                <a:spcPts val="1620"/>
              </a:lnSpc>
              <a:spcAft>
                <a:spcPts val="300"/>
              </a:spcAft>
              <a:buNone/>
            </a:pPr>
            <a:r>
              <a:rPr lang="en-US" sz="1200" dirty="0">
                <a:solidFill>
                  <a:srgbClr val="1C2833"/>
                </a:solidFill>
                <a:latin typeface="Arial" pitchFamily="34" charset="0"/>
                <a:ea typeface="Arial" pitchFamily="34" charset="-122"/>
                <a:cs typeface="Arial" pitchFamily="34" charset="-120"/>
              </a:rPr>
              <a:t> If you're ahead of schedule, refine — don't add. Iterate on one panel that's already there rather than starting a new section.</a:t>
            </a:r>
            <a:endParaRPr lang="en-US" sz="1200" dirty="0"/>
          </a:p>
          <a:p>
            <a:pPr algn="l" marL="342900" indent="-342900">
              <a:lnSpc>
                <a:spcPts val="1620"/>
              </a:lnSpc>
              <a:spcAft>
                <a:spcPts val="300"/>
              </a:spcAft>
              <a:buSzPct val="100000"/>
              <a:buChar char="•"/>
            </a:pPr>
            <a:r>
              <a:rPr lang="en-US" sz="1200" b="1" dirty="0">
                <a:solidFill>
                  <a:srgbClr val="1C2833"/>
                </a:solidFill>
                <a:latin typeface="Arial" pitchFamily="34" charset="0"/>
                <a:ea typeface="Arial" pitchFamily="34" charset="-122"/>
                <a:cs typeface="Arial" pitchFamily="34" charset="-120"/>
              </a:rPr>
              <a:t>One tier down:</a:t>
            </a:r>
            <a:pPr algn="l" indent="0" marL="0">
              <a:lnSpc>
                <a:spcPts val="1620"/>
              </a:lnSpc>
              <a:spcAft>
                <a:spcPts val="300"/>
              </a:spcAft>
              <a:buNone/>
            </a:pPr>
            <a:r>
              <a:rPr lang="en-US" sz="1200" dirty="0">
                <a:solidFill>
                  <a:srgbClr val="1C2833"/>
                </a:solidFill>
                <a:latin typeface="Arial" pitchFamily="34" charset="0"/>
                <a:ea typeface="Arial" pitchFamily="34" charset="-122"/>
                <a:cs typeface="Arial" pitchFamily="34" charset="-120"/>
              </a:rPr>
              <a:t> If you're behind, cut. Pair with the teacher at the 18-minute mark and identify the smallest version of the artefact that still answers your driving question. Build that version.</a:t>
            </a:r>
            <a:endParaRPr lang="en-US" sz="1200" dirty="0"/>
          </a:p>
        </p:txBody>
      </p:sp>
      <p:sp>
        <p:nvSpPr>
          <p:cNvPr id="5" name="Text 3"/>
          <p:cNvSpPr/>
          <p:nvPr/>
        </p:nvSpPr>
        <p:spPr>
          <a:xfrm>
            <a:off x="406301" y="4434929"/>
            <a:ext cx="8498026" cy="21327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Middle ·  · IKS Curriculum</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101501"/>
          </a:xfrm>
          <a:prstGeom prst="rect">
            <a:avLst/>
          </a:prstGeom>
          <a:solidFill>
            <a:srgbClr val="277884"/>
          </a:solidFill>
          <a:ln/>
        </p:spPr>
        <p:txBody>
          <a:bodyPr wrap="square" rtlCol="0" anchor="ctr"/>
          <a:lstStyle/>
          <a:p>
            <a:pPr indent="0" marL="0">
              <a:buNone/>
            </a:pPr>
            <a:endParaRPr lang="en-US" dirty="0"/>
          </a:p>
        </p:txBody>
      </p:sp>
      <p:sp>
        <p:nvSpPr>
          <p:cNvPr id="3" name="Text 1"/>
          <p:cNvSpPr/>
          <p:nvPr/>
        </p:nvSpPr>
        <p:spPr>
          <a:xfrm>
            <a:off x="406301" y="457051"/>
            <a:ext cx="8498026" cy="274290"/>
          </a:xfrm>
          <a:prstGeom prst="rect">
            <a:avLst/>
          </a:prstGeom>
          <a:noFill/>
          <a:ln/>
        </p:spPr>
        <p:txBody>
          <a:bodyPr wrap="square" lIns="0" tIns="0" rIns="0" bIns="0" rtlCol="0" anchor="t"/>
          <a:lstStyle/>
          <a:p>
            <a:pPr algn="l" indent="0" marL="0">
              <a:lnSpc>
                <a:spcPts val="2160"/>
              </a:lnSpc>
              <a:spcBef>
                <a:spcPts val="600"/>
              </a:spcBef>
              <a:spcAft>
                <a:spcPts val="800"/>
              </a:spcAft>
              <a:buNone/>
            </a:pPr>
            <a:r>
              <a:rPr lang="en-US" sz="1800" b="1" dirty="0">
                <a:solidFill>
                  <a:srgbClr val="FE4447"/>
                </a:solidFill>
                <a:latin typeface="Georgia" pitchFamily="34" charset="0"/>
                <a:ea typeface="Georgia" pitchFamily="34" charset="-122"/>
                <a:cs typeface="Georgia" pitchFamily="34" charset="-120"/>
              </a:rPr>
              <a:t>Teacher notes</a:t>
            </a:r>
            <a:endParaRPr lang="en-US" sz="1800" dirty="0"/>
          </a:p>
        </p:txBody>
      </p:sp>
      <p:sp>
        <p:nvSpPr>
          <p:cNvPr id="4" name="Text 2"/>
          <p:cNvSpPr/>
          <p:nvPr/>
        </p:nvSpPr>
        <p:spPr>
          <a:xfrm>
            <a:off x="634901" y="883593"/>
            <a:ext cx="8102798" cy="281880"/>
          </a:xfrm>
          <a:prstGeom prst="rect">
            <a:avLst/>
          </a:prstGeom>
          <a:noFill/>
          <a:ln/>
        </p:spPr>
        <p:txBody>
          <a:bodyPr wrap="square" lIns="0" tIns="0" rIns="0" bIns="0" rtlCol="0" anchor="t"/>
          <a:lstStyle/>
          <a:p>
            <a:pPr algn="l" marL="342900" indent="-342900">
              <a:lnSpc>
                <a:spcPts val="1620"/>
              </a:lnSpc>
              <a:spcAft>
                <a:spcPts val="300"/>
              </a:spcAft>
              <a:buSzPct val="100000"/>
              <a:buChar char="•"/>
            </a:pPr>
            <a:r>
              <a:rPr lang="en-US" sz="1200" b="1" dirty="0">
                <a:solidFill>
                  <a:srgbClr val="1C2833"/>
                </a:solidFill>
                <a:latin typeface="Arial" pitchFamily="34" charset="0"/>
                <a:ea typeface="Arial" pitchFamily="34" charset="-122"/>
                <a:cs typeface="Arial" pitchFamily="34" charset="-120"/>
              </a:rPr>
              <a:t>Don't teach.</a:t>
            </a:r>
            <a:pPr algn="l" indent="0" marL="0">
              <a:lnSpc>
                <a:spcPts val="1620"/>
              </a:lnSpc>
              <a:spcAft>
                <a:spcPts val="300"/>
              </a:spcAft>
              <a:buNone/>
            </a:pPr>
            <a:r>
              <a:rPr lang="en-US" sz="1200" dirty="0">
                <a:solidFill>
                  <a:srgbClr val="1C2833"/>
                </a:solidFill>
                <a:latin typeface="Arial" pitchFamily="34" charset="0"/>
                <a:ea typeface="Arial" pitchFamily="34" charset="-122"/>
                <a:cs typeface="Arial" pitchFamily="34" charset="-120"/>
              </a:rPr>
              <a:t> This is the hardest thing about today. If you start explaining things, you'll lose the focus the build needs.</a:t>
            </a:r>
            <a:endParaRPr lang="en-US" sz="1200" dirty="0"/>
          </a:p>
        </p:txBody>
      </p:sp>
      <p:sp>
        <p:nvSpPr>
          <p:cNvPr id="5" name="Text 3"/>
          <p:cNvSpPr/>
          <p:nvPr/>
        </p:nvSpPr>
        <p:spPr>
          <a:xfrm>
            <a:off x="406301" y="1254323"/>
            <a:ext cx="8498026" cy="1492895"/>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 The 18-minute mid-session is your single chance to course-correct. Use it. – Document each student's progress with a phone photo at end of class. This is your evidence for the documentation rubric and saves the journal from being the only record. – Project 7 (sustainability audit) students may need to leave the classroom to do their data collection during the build period — check this morning what they need. Allow if they have parental and admin permission to be in a measurement location during class. – Project 8 (doṣa self-study) is </a:t>
            </a:r>
            <a:pPr algn="l" indent="0" marL="0">
              <a:lnSpc>
                <a:spcPts val="1680"/>
              </a:lnSpc>
              <a:spcBef>
                <a:spcPts val="300"/>
              </a:spcBef>
              <a:spcAft>
                <a:spcPts val="300"/>
              </a:spcAft>
              <a:buNone/>
            </a:pPr>
            <a:r>
              <a:rPr lang="en-US" sz="1200" i="1" dirty="0">
                <a:solidFill>
                  <a:srgbClr val="1C2833"/>
                </a:solidFill>
                <a:latin typeface="Arial" pitchFamily="34" charset="0"/>
                <a:ea typeface="Arial" pitchFamily="34" charset="-122"/>
                <a:cs typeface="Arial" pitchFamily="34" charset="-120"/>
              </a:rPr>
              <a:t>journaling</a:t>
            </a:r>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-as-artefact — these students may be sitting and writing, not making something visible. That's fine; verify they're actually writing. – Project 9 (multiplication comparison) students should be doing actual timed problems today. Stopwatch in hand.</a:t>
            </a:r>
            <a:endParaRPr lang="en-US" sz="1200" dirty="0"/>
          </a:p>
        </p:txBody>
      </p:sp>
      <p:sp>
        <p:nvSpPr>
          <p:cNvPr id="6" name="Text 4"/>
          <p:cNvSpPr/>
          <p:nvPr/>
        </p:nvSpPr>
        <p:spPr>
          <a:xfrm>
            <a:off x="406301" y="4434929"/>
            <a:ext cx="8498026" cy="21327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Middle ·  · IKS Curriculum</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101501"/>
          </a:xfrm>
          <a:prstGeom prst="rect">
            <a:avLst/>
          </a:prstGeom>
          <a:solidFill>
            <a:srgbClr val="277884"/>
          </a:solidFill>
          <a:ln/>
        </p:spPr>
        <p:txBody>
          <a:bodyPr wrap="square" rtlCol="0" anchor="ctr"/>
          <a:lstStyle/>
          <a:p>
            <a:pPr indent="0" marL="0">
              <a:buNone/>
            </a:pPr>
            <a:endParaRPr lang="en-US" dirty="0"/>
          </a:p>
        </p:txBody>
      </p:sp>
      <p:sp>
        <p:nvSpPr>
          <p:cNvPr id="3" name="Text 1"/>
          <p:cNvSpPr/>
          <p:nvPr/>
        </p:nvSpPr>
        <p:spPr>
          <a:xfrm>
            <a:off x="406301" y="457051"/>
            <a:ext cx="8498026" cy="274290"/>
          </a:xfrm>
          <a:prstGeom prst="rect">
            <a:avLst/>
          </a:prstGeom>
          <a:noFill/>
          <a:ln/>
        </p:spPr>
        <p:txBody>
          <a:bodyPr wrap="square" lIns="0" tIns="0" rIns="0" bIns="0" rtlCol="0" anchor="t"/>
          <a:lstStyle/>
          <a:p>
            <a:pPr algn="l" indent="0" marL="0">
              <a:lnSpc>
                <a:spcPts val="2160"/>
              </a:lnSpc>
              <a:spcBef>
                <a:spcPts val="600"/>
              </a:spcBef>
              <a:spcAft>
                <a:spcPts val="800"/>
              </a:spcAft>
              <a:buNone/>
            </a:pPr>
            <a:r>
              <a:rPr lang="en-US" sz="1800" b="1" dirty="0">
                <a:solidFill>
                  <a:srgbClr val="FE4447"/>
                </a:solidFill>
                <a:latin typeface="Georgia" pitchFamily="34" charset="0"/>
                <a:ea typeface="Georgia" pitchFamily="34" charset="-122"/>
                <a:cs typeface="Georgia" pitchFamily="34" charset="-120"/>
              </a:rPr>
              <a:t>Common stuck-points (and fast unblockers)</a:t>
            </a:r>
            <a:endParaRPr lang="en-US" sz="1800" dirty="0"/>
          </a:p>
        </p:txBody>
      </p:sp>
      <p:sp>
        <p:nvSpPr>
          <p:cNvPr id="4" name="Text 2"/>
          <p:cNvSpPr/>
          <p:nvPr/>
        </p:nvSpPr>
        <p:spPr>
          <a:xfrm>
            <a:off x="406301" y="870942"/>
            <a:ext cx="8498026" cy="21327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i="1" dirty="0">
                <a:solidFill>
                  <a:srgbClr val="1C2833"/>
                </a:solidFill>
                <a:latin typeface="Arial" pitchFamily="34" charset="0"/>
                <a:ea typeface="Arial" pitchFamily="34" charset="-122"/>
                <a:cs typeface="Arial" pitchFamily="34" charset="-120"/>
              </a:rPr>
              <a:t>Each row: Stuck on · Quick unblock.</a:t>
            </a:r>
            <a:endParaRPr lang="en-US" sz="1200" dirty="0"/>
          </a:p>
        </p:txBody>
      </p:sp>
      <p:sp>
        <p:nvSpPr>
          <p:cNvPr id="5" name="Text 3"/>
          <p:cNvSpPr/>
          <p:nvPr/>
        </p:nvSpPr>
        <p:spPr>
          <a:xfrm>
            <a:off x="634901" y="1173063"/>
            <a:ext cx="8102798" cy="1462683"/>
          </a:xfrm>
          <a:prstGeom prst="rect">
            <a:avLst/>
          </a:prstGeom>
          <a:noFill/>
          <a:ln/>
        </p:spPr>
        <p:txBody>
          <a:bodyPr wrap="square" lIns="0" tIns="0" rIns="0" bIns="0" rtlCol="0" anchor="t"/>
          <a:lstStyle/>
          <a:p>
            <a:pPr algn="l" marL="342900" indent="-342900">
              <a:lnSpc>
                <a:spcPts val="1620"/>
              </a:lnSpc>
              <a:spcAft>
                <a:spcPts val="300"/>
              </a:spcAft>
              <a:buSzPct val="100000"/>
              <a:buChar char="•"/>
            </a:pPr>
            <a:r>
              <a:rPr lang="en-US" sz="1200" b="1" dirty="0">
                <a:solidFill>
                  <a:srgbClr val="1C2833"/>
                </a:solidFill>
                <a:latin typeface="Arial" pitchFamily="34" charset="0"/>
                <a:ea typeface="Arial" pitchFamily="34" charset="-122"/>
                <a:cs typeface="Arial" pitchFamily="34" charset="-120"/>
              </a:rPr>
              <a:t>"My poster won't fit on one page"</a:t>
            </a:r>
            <a:pPr algn="l" indent="0" marL="0">
              <a:lnSpc>
                <a:spcPts val="1620"/>
              </a:lnSpc>
              <a:spcAft>
                <a:spcPts val="300"/>
              </a:spcAft>
              <a:buNone/>
            </a:pPr>
            <a:r>
              <a:rPr lang="en-US" sz="1200" dirty="0">
                <a:solidFill>
                  <a:srgbClr val="1C2833"/>
                </a:solidFill>
                <a:latin typeface="Arial" pitchFamily="34" charset="0"/>
                <a:ea typeface="Arial" pitchFamily="34" charset="-122"/>
                <a:cs typeface="Arial" pitchFamily="34" charset="-120"/>
              </a:rPr>
              <a:t> — Cut one section. Reload from sketch — which is the most essential section?</a:t>
            </a:r>
            <a:endParaRPr lang="en-US" sz="1200" dirty="0"/>
          </a:p>
          <a:p>
            <a:pPr algn="l" marL="342900" indent="-342900">
              <a:lnSpc>
                <a:spcPts val="1620"/>
              </a:lnSpc>
              <a:spcAft>
                <a:spcPts val="300"/>
              </a:spcAft>
              <a:buSzPct val="100000"/>
              <a:buChar char="•"/>
            </a:pPr>
            <a:r>
              <a:rPr lang="en-US" sz="1200" b="1" dirty="0">
                <a:solidFill>
                  <a:srgbClr val="1C2833"/>
                </a:solidFill>
                <a:latin typeface="Arial" pitchFamily="34" charset="0"/>
                <a:ea typeface="Arial" pitchFamily="34" charset="-122"/>
                <a:cs typeface="Arial" pitchFamily="34" charset="-120"/>
              </a:rPr>
              <a:t>"I lost the verse reference"</a:t>
            </a:r>
            <a:pPr algn="l" indent="0" marL="0">
              <a:lnSpc>
                <a:spcPts val="1620"/>
              </a:lnSpc>
              <a:spcAft>
                <a:spcPts val="300"/>
              </a:spcAft>
              <a:buNone/>
            </a:pPr>
            <a:r>
              <a:rPr lang="en-US" sz="1200" dirty="0">
                <a:solidFill>
                  <a:srgbClr val="1C2833"/>
                </a:solidFill>
                <a:latin typeface="Arial" pitchFamily="34" charset="0"/>
                <a:ea typeface="Arial" pitchFamily="34" charset="-122"/>
                <a:cs typeface="Arial" pitchFamily="34" charset="-120"/>
              </a:rPr>
              <a:t> — Open the cache file together for 30 seconds. Find it. Move on.</a:t>
            </a:r>
            <a:endParaRPr lang="en-US" sz="1200" dirty="0"/>
          </a:p>
          <a:p>
            <a:pPr algn="l" marL="342900" indent="-342900">
              <a:lnSpc>
                <a:spcPts val="1620"/>
              </a:lnSpc>
              <a:spcAft>
                <a:spcPts val="300"/>
              </a:spcAft>
              <a:buSzPct val="100000"/>
              <a:buChar char="•"/>
            </a:pPr>
            <a:r>
              <a:rPr lang="en-US" sz="1200" b="1" dirty="0">
                <a:solidFill>
                  <a:srgbClr val="1C2833"/>
                </a:solidFill>
                <a:latin typeface="Arial" pitchFamily="34" charset="0"/>
                <a:ea typeface="Arial" pitchFamily="34" charset="-122"/>
                <a:cs typeface="Arial" pitchFamily="34" charset="-120"/>
              </a:rPr>
              <a:t>"My partner isn't doing their share"</a:t>
            </a:r>
            <a:pPr algn="l" indent="0" marL="0">
              <a:lnSpc>
                <a:spcPts val="1620"/>
              </a:lnSpc>
              <a:spcAft>
                <a:spcPts val="300"/>
              </a:spcAft>
              <a:buNone/>
            </a:pPr>
            <a:r>
              <a:rPr lang="en-US" sz="1200" dirty="0">
                <a:solidFill>
                  <a:srgbClr val="1C2833"/>
                </a:solidFill>
                <a:latin typeface="Arial" pitchFamily="34" charset="0"/>
                <a:ea typeface="Arial" pitchFamily="34" charset="-122"/>
                <a:cs typeface="Arial" pitchFamily="34" charset="-120"/>
              </a:rPr>
              <a:t> — Re-divide tasks for the remaining 30 minutes. Note in journal.</a:t>
            </a:r>
            <a:endParaRPr lang="en-US" sz="1200" dirty="0"/>
          </a:p>
          <a:p>
            <a:pPr algn="l" marL="342900" indent="-342900">
              <a:lnSpc>
                <a:spcPts val="1620"/>
              </a:lnSpc>
              <a:spcAft>
                <a:spcPts val="300"/>
              </a:spcAft>
              <a:buSzPct val="100000"/>
              <a:buChar char="•"/>
            </a:pPr>
            <a:r>
              <a:rPr lang="en-US" sz="1200" b="1" dirty="0">
                <a:solidFill>
                  <a:srgbClr val="1C2833"/>
                </a:solidFill>
                <a:latin typeface="Arial" pitchFamily="34" charset="0"/>
                <a:ea typeface="Arial" pitchFamily="34" charset="-122"/>
                <a:cs typeface="Arial" pitchFamily="34" charset="-120"/>
              </a:rPr>
              <a:t>"I can't draw"</a:t>
            </a:r>
            <a:pPr algn="l" indent="0" marL="0">
              <a:lnSpc>
                <a:spcPts val="1620"/>
              </a:lnSpc>
              <a:spcAft>
                <a:spcPts val="300"/>
              </a:spcAft>
              <a:buNone/>
            </a:pPr>
            <a:r>
              <a:rPr lang="en-US" sz="1200" dirty="0">
                <a:solidFill>
                  <a:srgbClr val="1C2833"/>
                </a:solidFill>
                <a:latin typeface="Arial" pitchFamily="34" charset="0"/>
                <a:ea typeface="Arial" pitchFamily="34" charset="-122"/>
                <a:cs typeface="Arial" pitchFamily="34" charset="-120"/>
              </a:rPr>
              <a:t> — Use traced outlines, photos, or text-only. Skill is irrelevant; clarity is the goal.</a:t>
            </a:r>
            <a:endParaRPr lang="en-US" sz="1200" dirty="0"/>
          </a:p>
          <a:p>
            <a:pPr algn="l" marL="342900" indent="-342900">
              <a:lnSpc>
                <a:spcPts val="1620"/>
              </a:lnSpc>
              <a:spcAft>
                <a:spcPts val="300"/>
              </a:spcAft>
              <a:buSzPct val="100000"/>
              <a:buChar char="•"/>
            </a:pPr>
            <a:r>
              <a:rPr lang="en-US" sz="1200" b="1" dirty="0">
                <a:solidFill>
                  <a:srgbClr val="1C2833"/>
                </a:solidFill>
                <a:latin typeface="Arial" pitchFamily="34" charset="0"/>
                <a:ea typeface="Arial" pitchFamily="34" charset="-122"/>
                <a:cs typeface="Arial" pitchFamily="34" charset="-120"/>
              </a:rPr>
              <a:t>"I don't know how to start"</a:t>
            </a:r>
            <a:pPr algn="l" indent="0" marL="0">
              <a:lnSpc>
                <a:spcPts val="1620"/>
              </a:lnSpc>
              <a:spcAft>
                <a:spcPts val="300"/>
              </a:spcAft>
              <a:buNone/>
            </a:pPr>
            <a:r>
              <a:rPr lang="en-US" sz="1200" dirty="0">
                <a:solidFill>
                  <a:srgbClr val="1C2833"/>
                </a:solidFill>
                <a:latin typeface="Arial" pitchFamily="34" charset="0"/>
                <a:ea typeface="Arial" pitchFamily="34" charset="-122"/>
                <a:cs typeface="Arial" pitchFamily="34" charset="-120"/>
              </a:rPr>
              <a:t> — Start with the </a:t>
            </a:r>
            <a:pPr algn="l" indent="0" marL="0">
              <a:lnSpc>
                <a:spcPts val="1620"/>
              </a:lnSpc>
              <a:spcAft>
                <a:spcPts val="300"/>
              </a:spcAft>
              <a:buNone/>
            </a:pPr>
            <a:r>
              <a:rPr lang="en-US" sz="1200" i="1" dirty="0">
                <a:solidFill>
                  <a:srgbClr val="1C2833"/>
                </a:solidFill>
                <a:latin typeface="Arial" pitchFamily="34" charset="0"/>
                <a:ea typeface="Arial" pitchFamily="34" charset="-122"/>
                <a:cs typeface="Arial" pitchFamily="34" charset="-120"/>
              </a:rPr>
              <a:t>easiest</a:t>
            </a:r>
            <a:pPr algn="l" indent="0" marL="0">
              <a:lnSpc>
                <a:spcPts val="1620"/>
              </a:lnSpc>
              <a:spcAft>
                <a:spcPts val="300"/>
              </a:spcAft>
              <a:buNone/>
            </a:pPr>
            <a:r>
              <a:rPr lang="en-US" sz="1200" dirty="0">
                <a:solidFill>
                  <a:srgbClr val="1C2833"/>
                </a:solidFill>
                <a:latin typeface="Arial" pitchFamily="34" charset="0"/>
                <a:ea typeface="Arial" pitchFamily="34" charset="-122"/>
                <a:cs typeface="Arial" pitchFamily="34" charset="-120"/>
              </a:rPr>
              <a:t> element — the title block, one row of a table, one card of a deck. Momentum from the easy part.</a:t>
            </a:r>
            <a:endParaRPr lang="en-US" sz="1200" dirty="0"/>
          </a:p>
        </p:txBody>
      </p:sp>
      <p:sp>
        <p:nvSpPr>
          <p:cNvPr id="6" name="Text 4"/>
          <p:cNvSpPr/>
          <p:nvPr/>
        </p:nvSpPr>
        <p:spPr>
          <a:xfrm>
            <a:off x="406301" y="4434929"/>
            <a:ext cx="8498026" cy="21327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Middle ·  · IKS Curriculum</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101501"/>
          </a:xfrm>
          <a:prstGeom prst="rect">
            <a:avLst/>
          </a:prstGeom>
          <a:solidFill>
            <a:srgbClr val="277884"/>
          </a:solidFill>
          <a:ln/>
        </p:spPr>
        <p:txBody>
          <a:bodyPr wrap="square" rtlCol="0" anchor="ctr"/>
          <a:lstStyle/>
          <a:p>
            <a:pPr indent="0" marL="0">
              <a:buNone/>
            </a:pPr>
            <a:endParaRPr lang="en-US" dirty="0"/>
          </a:p>
        </p:txBody>
      </p:sp>
      <p:sp>
        <p:nvSpPr>
          <p:cNvPr id="3" name="Text 1"/>
          <p:cNvSpPr/>
          <p:nvPr/>
        </p:nvSpPr>
        <p:spPr>
          <a:xfrm>
            <a:off x="406301" y="457051"/>
            <a:ext cx="8498026" cy="274290"/>
          </a:xfrm>
          <a:prstGeom prst="rect">
            <a:avLst/>
          </a:prstGeom>
          <a:noFill/>
          <a:ln/>
        </p:spPr>
        <p:txBody>
          <a:bodyPr wrap="square" lIns="0" tIns="0" rIns="0" bIns="0" rtlCol="0" anchor="t"/>
          <a:lstStyle/>
          <a:p>
            <a:pPr algn="l" indent="0" marL="0">
              <a:lnSpc>
                <a:spcPts val="2160"/>
              </a:lnSpc>
              <a:spcBef>
                <a:spcPts val="600"/>
              </a:spcBef>
              <a:spcAft>
                <a:spcPts val="800"/>
              </a:spcAft>
              <a:buNone/>
            </a:pPr>
            <a:r>
              <a:rPr lang="en-US" sz="1800" b="1" dirty="0">
                <a:solidFill>
                  <a:srgbClr val="FE4447"/>
                </a:solidFill>
                <a:latin typeface="Georgia" pitchFamily="34" charset="0"/>
                <a:ea typeface="Georgia" pitchFamily="34" charset="-122"/>
                <a:cs typeface="Georgia" pitchFamily="34" charset="-120"/>
              </a:rPr>
              <a:t>Citation(s) used in this lesson</a:t>
            </a:r>
            <a:endParaRPr lang="en-US" sz="1800" dirty="0"/>
          </a:p>
        </p:txBody>
      </p:sp>
      <p:sp>
        <p:nvSpPr>
          <p:cNvPr id="4" name="Text 2"/>
          <p:cNvSpPr/>
          <p:nvPr/>
        </p:nvSpPr>
        <p:spPr>
          <a:xfrm>
            <a:off x="406301" y="870942"/>
            <a:ext cx="8498026" cy="21327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 No new citation. Build day.</a:t>
            </a:r>
            <a:endParaRPr lang="en-US" sz="1200" dirty="0"/>
          </a:p>
        </p:txBody>
      </p:sp>
      <p:sp>
        <p:nvSpPr>
          <p:cNvPr id="5" name="Text 3"/>
          <p:cNvSpPr/>
          <p:nvPr/>
        </p:nvSpPr>
        <p:spPr>
          <a:xfrm>
            <a:off x="406301" y="4434929"/>
            <a:ext cx="8498026" cy="213271"/>
          </a:xfrm>
          <a:prstGeom prst="rect">
            <a:avLst/>
          </a:prstGeom>
          <a:noFill/>
          <a:ln/>
        </p:spPr>
        <p:txBody>
          <a:bodyPr wrap="square" lIns="0" tIns="0" rIns="0" bIns="0" rtlCol="0" anchor="t"/>
          <a:lstStyle/>
          <a:p>
            <a:pPr algn="l" indent="0" marL="0">
              <a:lnSpc>
                <a:spcPts val="1680"/>
              </a:lnSpc>
              <a:spcBef>
                <a:spcPts val="300"/>
              </a:spcBef>
              <a:spcAft>
                <a:spcPts val="300"/>
              </a:spcAft>
              <a:buNone/>
            </a:pPr>
            <a:r>
              <a:rPr lang="en-US" sz="1200" dirty="0">
                <a:solidFill>
                  <a:srgbClr val="1C2833"/>
                </a:solidFill>
                <a:latin typeface="Arial" pitchFamily="34" charset="0"/>
                <a:ea typeface="Arial" pitchFamily="34" charset="-122"/>
                <a:cs typeface="Arial" pitchFamily="34" charset="-120"/>
              </a:rPr>
              <a:t>Middle ·  · IKS Curriculum</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 Middle</dc:title>
  <dc:subject>PptxGenJS Presentation</dc:subject>
  <dc:creator>IKS Curriculum</dc:creator>
  <cp:lastModifiedBy>IKS Curriculum</cp:lastModifiedBy>
  <cp:revision>1</cp:revision>
  <dcterms:created xsi:type="dcterms:W3CDTF">2026-05-28T04:26:44Z</dcterms:created>
  <dcterms:modified xsi:type="dcterms:W3CDTF">2026-05-28T04:26:44Z</dcterms:modified>
</cp:coreProperties>
</file>