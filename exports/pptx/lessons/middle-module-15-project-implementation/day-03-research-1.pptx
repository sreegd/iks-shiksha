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3 — Research Begins</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Project Implementation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have identified at least one verifiable source from their anchor module and one verifiable secondary source, recorded each in their journal with the exact citation, and made initial notes on what each source contributes to their project.</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Each anchor module's printed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(teacher prepares a small shelf of these) – Notebook / project journal – Sticky tabs (for marking pages students will come back to) – Sample citation slips (see template below)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Daily prompt: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"What's one thing you're worried about with your project?"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3 students share. Normalise the worry.</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"Research is just finding the people who've already thought about your question. You're not the first."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(25 min) — Source hunt</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Refer to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activities/activity-01-source-hunt.md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for the full activity. Quick summary:</a:t>
            </a:r>
            <a:endParaRPr lang="en-US" sz="1200" dirty="0"/>
          </a:p>
        </p:txBody>
      </p:sp>
      <p:sp>
        <p:nvSpPr>
          <p:cNvPr id="5" name="Text 3"/>
          <p:cNvSpPr/>
          <p:nvPr/>
        </p:nvSpPr>
        <p:spPr>
          <a:xfrm>
            <a:off x="406301" y="1169938"/>
            <a:ext cx="8498026" cy="862608"/>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Students sit in clusters by anchor module (all Module 10 students together, all Module 4 together, etc.). This lets them help each other find the right cache file. – Each student opens their anchor module's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.rag-cache/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They scan for relevant entries. – For each candidate source they want to use, they fill in a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citation slip</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(template below). – Minimum: 2 completed slips by end of class.</a:t>
            </a:r>
            <a:endParaRPr lang="en-US" sz="1200" dirty="0"/>
          </a:p>
        </p:txBody>
      </p:sp>
      <p:sp>
        <p:nvSpPr>
          <p:cNvPr id="6" name="Text 4"/>
          <p:cNvSpPr/>
          <p:nvPr/>
        </p:nvSpPr>
        <p:spPr>
          <a:xfrm>
            <a:off x="406301" y="2146846"/>
            <a:ext cx="8498026" cy="209550"/>
          </a:xfrm>
          <a:prstGeom prst="rect">
            <a:avLst/>
          </a:prstGeom>
          <a:noFill/>
          <a:ln/>
        </p:spPr>
        <p:txBody>
          <a:bodyPr wrap="square" lIns="0" tIns="0" rIns="0" bIns="0" rtlCol="0" anchor="t"/>
          <a:lstStyle/>
          <a:p>
            <a:pPr algn="l" indent="0" marL="0">
              <a:spcBef>
                <a:spcPts val="600"/>
              </a:spcBef>
              <a:spcAft>
                <a:spcPts val="400"/>
              </a:spcAft>
              <a:buNone/>
            </a:pPr>
            <a:r>
              <a:rPr lang="en-US" sz="1400" b="1" dirty="0">
                <a:solidFill>
                  <a:srgbClr val="1C2833"/>
                </a:solidFill>
                <a:latin typeface="Arial" pitchFamily="34" charset="0"/>
                <a:ea typeface="Arial" pitchFamily="34" charset="-122"/>
                <a:cs typeface="Arial" pitchFamily="34" charset="-120"/>
              </a:rPr>
              <a:t>Citation slip template</a:t>
            </a:r>
            <a:endParaRPr lang="en-US" sz="1400" dirty="0"/>
          </a:p>
        </p:txBody>
      </p:sp>
      <p:sp>
        <p:nvSpPr>
          <p:cNvPr id="7" name="Text 5"/>
          <p:cNvSpPr/>
          <p:nvPr/>
        </p:nvSpPr>
        <p:spPr>
          <a:xfrm>
            <a:off x="406301" y="2457896"/>
            <a:ext cx="8331398" cy="2697956"/>
          </a:xfrm>
          <a:prstGeom prst="rect">
            <a:avLst/>
          </a:prstGeom>
          <a:solidFill>
            <a:srgbClr val="F4F8F9"/>
          </a:solidFill>
          <a:ln/>
        </p:spPr>
        <p:txBody>
          <a:bodyPr wrap="square" rtlCol="0" anchor="ctr"/>
          <a:lstStyle/>
          <a:p>
            <a:pPr indent="0" marL="0">
              <a:buNone/>
            </a:pPr>
            <a:endParaRPr lang="en-US" dirty="0"/>
          </a:p>
        </p:txBody>
      </p:sp>
      <p:sp>
        <p:nvSpPr>
          <p:cNvPr id="8" name="Shape 6"/>
          <p:cNvSpPr/>
          <p:nvPr/>
        </p:nvSpPr>
        <p:spPr>
          <a:xfrm>
            <a:off x="430113" y="2457896"/>
            <a:ext cx="0" cy="2697956"/>
          </a:xfrm>
          <a:prstGeom prst="line">
            <a:avLst/>
          </a:prstGeom>
          <a:noFill/>
          <a:ln w="47625">
            <a:solidFill>
              <a:srgbClr val="277884"/>
            </a:solidFill>
            <a:prstDash val="solid"/>
          </a:ln>
        </p:spPr>
      </p:sp>
      <p:sp>
        <p:nvSpPr>
          <p:cNvPr id="9" name="Text 7"/>
          <p:cNvSpPr/>
          <p:nvPr/>
        </p:nvSpPr>
        <p:spPr>
          <a:xfrm>
            <a:off x="631627" y="2584847"/>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CITATION SLIP — Source #__</a:t>
            </a:r>
            <a:endParaRPr lang="en-US" sz="1100" dirty="0"/>
          </a:p>
        </p:txBody>
      </p:sp>
      <p:sp>
        <p:nvSpPr>
          <p:cNvPr id="10" name="Text 8"/>
          <p:cNvSpPr/>
          <p:nvPr/>
        </p:nvSpPr>
        <p:spPr>
          <a:xfrm>
            <a:off x="631627" y="293399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Source identifier: __________________________________</a:t>
            </a:r>
            <a:endParaRPr lang="en-US" sz="1100" dirty="0"/>
          </a:p>
        </p:txBody>
      </p:sp>
      <p:sp>
        <p:nvSpPr>
          <p:cNvPr id="11" name="Text 9"/>
          <p:cNvSpPr/>
          <p:nvPr/>
        </p:nvSpPr>
        <p:spPr>
          <a:xfrm>
            <a:off x="631627" y="328314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Where I found it: __________________________________</a:t>
            </a:r>
            <a:endParaRPr lang="en-US" sz="1100" dirty="0"/>
          </a:p>
        </p:txBody>
      </p:sp>
      <p:sp>
        <p:nvSpPr>
          <p:cNvPr id="12" name="Text 10"/>
          <p:cNvSpPr/>
          <p:nvPr/>
        </p:nvSpPr>
        <p:spPr>
          <a:xfrm>
            <a:off x="631627" y="3632299"/>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What it says (1–2 sentences in my own words):</a:t>
            </a:r>
            <a:endParaRPr lang="en-US" sz="1100" dirty="0"/>
          </a:p>
        </p:txBody>
      </p:sp>
      <p:sp>
        <p:nvSpPr>
          <p:cNvPr id="13" name="Text 11"/>
          <p:cNvSpPr/>
          <p:nvPr/>
        </p:nvSpPr>
        <p:spPr>
          <a:xfrm>
            <a:off x="631627" y="380687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_______________________________________________</a:t>
            </a:r>
            <a:endParaRPr lang="en-US" sz="1100" dirty="0"/>
          </a:p>
        </p:txBody>
      </p:sp>
      <p:sp>
        <p:nvSpPr>
          <p:cNvPr id="14" name="Text 12"/>
          <p:cNvSpPr/>
          <p:nvPr/>
        </p:nvSpPr>
        <p:spPr>
          <a:xfrm>
            <a:off x="631627" y="398145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_______________________________________________</a:t>
            </a:r>
            <a:endParaRPr lang="en-US" sz="1100" dirty="0"/>
          </a:p>
        </p:txBody>
      </p:sp>
      <p:sp>
        <p:nvSpPr>
          <p:cNvPr id="15" name="Text 13"/>
          <p:cNvSpPr/>
          <p:nvPr/>
        </p:nvSpPr>
        <p:spPr>
          <a:xfrm>
            <a:off x="631627" y="4330601"/>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How this relates to my project (1 sentence):</a:t>
            </a:r>
            <a:endParaRPr lang="en-US" sz="1100" dirty="0"/>
          </a:p>
        </p:txBody>
      </p:sp>
      <p:sp>
        <p:nvSpPr>
          <p:cNvPr id="16" name="Text 14"/>
          <p:cNvSpPr/>
          <p:nvPr/>
        </p:nvSpPr>
        <p:spPr>
          <a:xfrm>
            <a:off x="631627" y="4505176"/>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_______________________________________________</a:t>
            </a:r>
            <a:endParaRPr lang="en-US" sz="1100" dirty="0"/>
          </a:p>
        </p:txBody>
      </p:sp>
      <p:sp>
        <p:nvSpPr>
          <p:cNvPr id="17" name="Text 15"/>
          <p:cNvSpPr/>
          <p:nvPr/>
        </p:nvSpPr>
        <p:spPr>
          <a:xfrm>
            <a:off x="631627" y="4854327"/>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This is a [primary text / secondary reference / primary observation] source.</a:t>
            </a:r>
            <a:endParaRPr lang="en-US" sz="1100" dirty="0"/>
          </a:p>
        </p:txBody>
      </p:sp>
      <p:sp>
        <p:nvSpPr>
          <p:cNvPr id="18" name="Text 16"/>
          <p:cNvSpPr/>
          <p:nvPr/>
        </p:nvSpPr>
        <p:spPr>
          <a:xfrm>
            <a:off x="406301" y="532090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Submit citation slips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the in-tray. Teacher reviews tonight.</a:t>
            </a:r>
            <a:endParaRPr lang="en-US" sz="1200" dirty="0"/>
          </a:p>
        </p:txBody>
      </p:sp>
      <p:sp>
        <p:nvSpPr>
          <p:cNvPr id="5" name="Text 3"/>
          <p:cNvSpPr/>
          <p:nvPr/>
        </p:nvSpPr>
        <p:spPr>
          <a:xfrm>
            <a:off x="406301" y="125432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Journal entry: "Today I found ___ . The biggest surprise was ___ ." – Preview Day 4: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we keep researching and you make your first design sketch. Bring whatever drawing tools you'll need."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381250"/>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381250"/>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Today you find your sources.</a:t>
            </a:r>
            <a:endParaRPr lang="en-US" sz="1300" dirty="0"/>
          </a:p>
        </p:txBody>
      </p:sp>
      <p:sp>
        <p:nvSpPr>
          <p:cNvPr id="7" name="Text 5"/>
          <p:cNvSpPr/>
          <p:nvPr/>
        </p:nvSpPr>
        <p:spPr>
          <a:xfrm>
            <a:off x="692051" y="1343174"/>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Three categories count: 1. A named verse, sūtra, or chapter from a real published text. 2. An NCERT chapter, field guide, or peer-reviewed article. 3. A primary observation you made yourself, with date and location.</a:t>
            </a:r>
            <a:endParaRPr lang="en-US" sz="1300" dirty="0"/>
          </a:p>
        </p:txBody>
      </p:sp>
      <p:sp>
        <p:nvSpPr>
          <p:cNvPr id="8" name="Text 6"/>
          <p:cNvSpPr/>
          <p:nvPr/>
        </p:nvSpPr>
        <p:spPr>
          <a:xfrm>
            <a:off x="692051" y="2074218"/>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You need at least two sources total, at least one from category 1 or 2.</a:t>
            </a:r>
            <a:endParaRPr lang="en-US" sz="1300" dirty="0"/>
          </a:p>
        </p:txBody>
      </p:sp>
      <p:sp>
        <p:nvSpPr>
          <p:cNvPr id="9" name="Text 7"/>
          <p:cNvSpPr/>
          <p:nvPr/>
        </p:nvSpPr>
        <p:spPr>
          <a:xfrm>
            <a:off x="692051" y="2343299"/>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What does NOT count: - "Some say…" without naming who. - A WhatsApp forward. - An AI paraphrase you can't trace.</a:t>
            </a:r>
            <a:endParaRPr lang="en-US" sz="1300" dirty="0"/>
          </a:p>
        </p:txBody>
      </p:sp>
      <p:sp>
        <p:nvSpPr>
          <p:cNvPr id="10" name="Text 8"/>
          <p:cNvSpPr/>
          <p:nvPr/>
        </p:nvSpPr>
        <p:spPr>
          <a:xfrm>
            <a:off x="692051" y="2843361"/>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Fill in two citation slips by end of class.</a:t>
            </a:r>
            <a:endParaRPr lang="en-US" sz="1300" dirty="0"/>
          </a:p>
        </p:txBody>
      </p:sp>
      <p:sp>
        <p:nvSpPr>
          <p:cNvPr id="11" name="Text 9"/>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Open the cache files on a computer at home if available. Read the full chunks (not just the summary). – If a source you want isn't in the cache, search for the chapter in a school library or ask a parent. – Bring drawing tools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Find a third source from 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different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category than your first two. For instance, if you have two cache verses, find one NCERT chapter or one primary observation to triangulate.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Stop at two solid sources rather than chasing more. Spend the saved time writing what each source contributes in 3 sentences — clarity beats volume.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289149"/>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Some students will find no relevant sources in their anchor module's cache. Walk over and help — sometimes the relevant verse is in a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different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module (e.g. a Doṣa project may pull from Module 3 Ayurveda rather than Module 4). – The Project 9 (multiplication comparison) anchor sources are slightly different — they include Tirthaji's book and the day-by-day worked examples from Modules 7, 9, 11. Help these students locate the right pages. – Project 7 (sustainability audit) students often want to leap straight to primary observation. Hold them: they need at least one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prior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source to anchor their framework first. Module 13's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(when available) is the place.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lesson references the citation discipline established from Module 2 onwards. No new scripture citation today.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2026-05-25T09:15:24Z</dcterms:created>
  <dcterms:modified xsi:type="dcterms:W3CDTF">2026-05-25T09:15:24Z</dcterms:modified>
</cp:coreProperties>
</file>