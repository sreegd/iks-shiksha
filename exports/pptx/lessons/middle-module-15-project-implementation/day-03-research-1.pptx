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3 — Research Begins</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Project Implementation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have identified at least one verifiable source from their anchor module and one verifiable secondary source, recorded each in their journal with the exact citation, and made initial notes on what each source contributes to their project.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634901" y="883593"/>
            <a:ext cx="8102798" cy="103227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Each anchor module's printed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(teacher prepares a small shelf of these)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Notebook / project journal</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Sticky tabs (for marking pages students will come back to)</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Sample citation slips (see template below)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(5 min)</a:t>
            </a:r>
            <a:endParaRPr lang="en-US" sz="1800" dirty="0"/>
          </a:p>
        </p:txBody>
      </p:sp>
      <p:sp>
        <p:nvSpPr>
          <p:cNvPr id="4" name="Text 2"/>
          <p:cNvSpPr/>
          <p:nvPr/>
        </p:nvSpPr>
        <p:spPr>
          <a:xfrm>
            <a:off x="634901" y="883593"/>
            <a:ext cx="8102798" cy="5256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Daily prompt: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"What's one thing you're worried about with your project?"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3 students share. Normalise the worry.</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"Research is just finding the people who've already thought about your question. You're not the first."</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(10 min)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What counts as a source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(3 min). Three categories:</a:t>
            </a:r>
            <a:endParaRPr lang="en-US" sz="1200" dirty="0"/>
          </a:p>
        </p:txBody>
      </p:sp>
      <p:sp>
        <p:nvSpPr>
          <p:cNvPr id="5" name="Text 3"/>
          <p:cNvSpPr/>
          <p:nvPr/>
        </p:nvSpPr>
        <p:spPr>
          <a:xfrm>
            <a:off x="634901" y="1266974"/>
            <a:ext cx="8102798" cy="144363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Primary scriptural / textual source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 named verse,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sūtra</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or chapter from a real published text (e.g. Bhāgavatam 3.26.36;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Caraka Saṁhitā</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Sūtrasthāna 1.41; Tirthaji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Vedic Mathematics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p. 56). Found in any prior module's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.rag-cache/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or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Secondary reference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an NCERT textbook chapter, a published field guide, or a peer-reviewed article. Found in your anchor module's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Primary observation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something you saw, measured, or photographed yourself, with date and location.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(10 min) (cont.)</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At least one source from category 1 or 2. Primary observations count toward your minimum two but cannot be the only source.</a:t>
            </a:r>
            <a:endParaRPr lang="en-US" sz="1200" dirty="0"/>
          </a:p>
        </p:txBody>
      </p:sp>
      <p:sp>
        <p:nvSpPr>
          <p:cNvPr id="5" name="Text 3"/>
          <p:cNvSpPr/>
          <p:nvPr/>
        </p:nvSpPr>
        <p:spPr>
          <a:xfrm>
            <a:off x="634901" y="1386334"/>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What does NOT count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(2 min):</a:t>
            </a:r>
            <a:endParaRPr lang="en-US" sz="1200" dirty="0"/>
          </a:p>
        </p:txBody>
      </p:sp>
      <p:sp>
        <p:nvSpPr>
          <p:cNvPr id="6" name="Text 4"/>
          <p:cNvSpPr/>
          <p:nvPr/>
        </p:nvSpPr>
        <p:spPr>
          <a:xfrm>
            <a:off x="634901" y="1769715"/>
            <a:ext cx="8102798" cy="10132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"Some say…" without naming who.</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A WhatsApp forward.</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An AI-generated paraphrase you can't trace.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A YouTube video without references in its description.</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(10 min) (cont.)</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Citation format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(3 min). For each source, your journal slip needs:</a:t>
            </a:r>
            <a:endParaRPr lang="en-US" sz="1200" dirty="0"/>
          </a:p>
        </p:txBody>
      </p:sp>
      <p:sp>
        <p:nvSpPr>
          <p:cNvPr id="5" name="Text 3"/>
          <p:cNvSpPr/>
          <p:nvPr/>
        </p:nvSpPr>
        <p:spPr>
          <a:xfrm>
            <a:off x="634901" y="1266974"/>
            <a:ext cx="8102798" cy="10132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Source identifier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(e.g. "SB 3.26.36" or "NCERT Class 7 Science Ch. 2")</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Where you found it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(e.g. "module-04-doshas/.rag-cache/day-02-dosha-basics.json")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What it says, in your words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(1-2 sentences)</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How it relates to your project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(1 sentence)</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(10 min) (cont.)</a:t>
            </a:r>
            <a:endParaRPr lang="en-US" sz="1800" dirty="0"/>
          </a:p>
        </p:txBody>
      </p:sp>
      <p:sp>
        <p:nvSpPr>
          <p:cNvPr id="4" name="Text 2"/>
          <p:cNvSpPr/>
          <p:nvPr/>
        </p:nvSpPr>
        <p:spPr>
          <a:xfrm>
            <a:off x="634901" y="88359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Two-source minimum, three is comfortable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(2 min). Hit at least one of category 1 or 2, plus one more. Three sources is the sweet spot for a Middle-band project — more becomes hard to manage.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(25 min) — Source hunt</a:t>
            </a:r>
            <a:endParaRPr lang="en-US" sz="1800" dirty="0"/>
          </a:p>
        </p:txBody>
      </p:sp>
      <p:sp>
        <p:nvSpPr>
          <p:cNvPr id="4" name="Text 2"/>
          <p:cNvSpPr/>
          <p:nvPr/>
        </p:nvSpPr>
        <p:spPr>
          <a:xfrm>
            <a:off x="406301" y="870942"/>
            <a:ext cx="8498026" cy="222796"/>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Refer to </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activities/activity-01-source-hunt.md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for the full activity. Quick summary: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(25 min) — Source hunt (cont.)</a:t>
            </a:r>
            <a:endParaRPr lang="en-US" sz="1800" dirty="0"/>
          </a:p>
        </p:txBody>
      </p:sp>
      <p:sp>
        <p:nvSpPr>
          <p:cNvPr id="4" name="Text 2"/>
          <p:cNvSpPr/>
          <p:nvPr/>
        </p:nvSpPr>
        <p:spPr>
          <a:xfrm>
            <a:off x="634901" y="883593"/>
            <a:ext cx="8102798" cy="123795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Students sit in clusters by anchor module (all Module 10 students together, all Module 4 together, etc.). This lets them help each other find the right cache file.</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Each student opens their anchor module's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and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.rag-cache/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They scan for relevant entries.</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For each candidate source they want to use, they fill in a </a:t>
            </a:r>
            <a:pPr algn="l" indent="0" marL="0">
              <a:lnSpc>
                <a:spcPts val="1620"/>
              </a:lnSpc>
              <a:spcAft>
                <a:spcPts val="300"/>
              </a:spcAft>
              <a:buNone/>
            </a:pPr>
            <a:r>
              <a:rPr lang="en-US" sz="1200" b="1" dirty="0">
                <a:solidFill>
                  <a:srgbClr val="1C2833"/>
                </a:solidFill>
                <a:latin typeface="Arial" pitchFamily="34" charset="0"/>
                <a:ea typeface="Arial" pitchFamily="34" charset="-122"/>
                <a:cs typeface="Arial" pitchFamily="34" charset="-120"/>
              </a:rPr>
              <a:t>citation slip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(template below).</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Minimum: 2 completed slips by end of class.</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(25 min) — Source hunt (cont.)</a:t>
            </a:r>
            <a:endParaRPr lang="en-US" sz="1800" dirty="0"/>
          </a:p>
        </p:txBody>
      </p:sp>
      <p:sp>
        <p:nvSpPr>
          <p:cNvPr id="4" name="Text 2"/>
          <p:cNvSpPr/>
          <p:nvPr/>
        </p:nvSpPr>
        <p:spPr>
          <a:xfrm>
            <a:off x="406301" y="909042"/>
            <a:ext cx="8498026" cy="209550"/>
          </a:xfrm>
          <a:prstGeom prst="rect">
            <a:avLst/>
          </a:prstGeom>
          <a:noFill/>
          <a:ln/>
        </p:spPr>
        <p:txBody>
          <a:bodyPr wrap="square" lIns="0" tIns="0" rIns="0" bIns="0" rtlCol="0" anchor="t"/>
          <a:lstStyle/>
          <a:p>
            <a:pPr algn="l" indent="0" marL="0">
              <a:spcBef>
                <a:spcPts val="600"/>
              </a:spcBef>
              <a:spcAft>
                <a:spcPts val="400"/>
              </a:spcAft>
              <a:buNone/>
            </a:pPr>
            <a:r>
              <a:rPr lang="en-US" sz="1400" b="1" dirty="0">
                <a:solidFill>
                  <a:srgbClr val="1C2833"/>
                </a:solidFill>
                <a:latin typeface="Arial" pitchFamily="34" charset="0"/>
                <a:ea typeface="Arial" pitchFamily="34" charset="-122"/>
                <a:cs typeface="Arial" pitchFamily="34" charset="-120"/>
              </a:rPr>
              <a:t>Citation slip template</a:t>
            </a:r>
            <a:endParaRPr lang="en-US" sz="14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Activity (25 min) — Source hunt (cont.)</a:t>
            </a:r>
            <a:endParaRPr lang="en-US" sz="1800" dirty="0"/>
          </a:p>
        </p:txBody>
      </p:sp>
      <p:sp>
        <p:nvSpPr>
          <p:cNvPr id="4" name="Text 2"/>
          <p:cNvSpPr/>
          <p:nvPr/>
        </p:nvSpPr>
        <p:spPr>
          <a:xfrm>
            <a:off x="406301" y="883593"/>
            <a:ext cx="8331398" cy="2697956"/>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0113" y="883593"/>
            <a:ext cx="0" cy="2697956"/>
          </a:xfrm>
          <a:prstGeom prst="line">
            <a:avLst/>
          </a:prstGeom>
          <a:noFill/>
          <a:ln w="47625">
            <a:solidFill>
              <a:srgbClr val="277884"/>
            </a:solidFill>
            <a:prstDash val="solid"/>
          </a:ln>
        </p:spPr>
      </p:sp>
      <p:sp>
        <p:nvSpPr>
          <p:cNvPr id="6" name="Text 4"/>
          <p:cNvSpPr/>
          <p:nvPr/>
        </p:nvSpPr>
        <p:spPr>
          <a:xfrm>
            <a:off x="631627" y="1010543"/>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CITATION SLIP — Source #__</a:t>
            </a:r>
            <a:endParaRPr lang="en-US" sz="1100" dirty="0"/>
          </a:p>
        </p:txBody>
      </p:sp>
      <p:sp>
        <p:nvSpPr>
          <p:cNvPr id="7" name="Text 5"/>
          <p:cNvSpPr/>
          <p:nvPr/>
        </p:nvSpPr>
        <p:spPr>
          <a:xfrm>
            <a:off x="631627" y="1359694"/>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Source identifier: __________________________________</a:t>
            </a:r>
            <a:endParaRPr lang="en-US" sz="1100" dirty="0"/>
          </a:p>
        </p:txBody>
      </p:sp>
      <p:sp>
        <p:nvSpPr>
          <p:cNvPr id="8" name="Text 6"/>
          <p:cNvSpPr/>
          <p:nvPr/>
        </p:nvSpPr>
        <p:spPr>
          <a:xfrm>
            <a:off x="631627" y="170884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Where I found it: __________________________________</a:t>
            </a:r>
            <a:endParaRPr lang="en-US" sz="1100" dirty="0"/>
          </a:p>
        </p:txBody>
      </p:sp>
      <p:sp>
        <p:nvSpPr>
          <p:cNvPr id="9" name="Text 7"/>
          <p:cNvSpPr/>
          <p:nvPr/>
        </p:nvSpPr>
        <p:spPr>
          <a:xfrm>
            <a:off x="631627" y="2057995"/>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What it says (1–2 sentences in my own words):</a:t>
            </a:r>
            <a:endParaRPr lang="en-US" sz="1100" dirty="0"/>
          </a:p>
        </p:txBody>
      </p:sp>
      <p:sp>
        <p:nvSpPr>
          <p:cNvPr id="10" name="Text 8"/>
          <p:cNvSpPr/>
          <p:nvPr/>
        </p:nvSpPr>
        <p:spPr>
          <a:xfrm>
            <a:off x="631627" y="2232571"/>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_______________________________________________</a:t>
            </a:r>
            <a:endParaRPr lang="en-US" sz="1100" dirty="0"/>
          </a:p>
        </p:txBody>
      </p:sp>
      <p:sp>
        <p:nvSpPr>
          <p:cNvPr id="11" name="Text 9"/>
          <p:cNvSpPr/>
          <p:nvPr/>
        </p:nvSpPr>
        <p:spPr>
          <a:xfrm>
            <a:off x="631627" y="2407146"/>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_______________________________________________</a:t>
            </a:r>
            <a:endParaRPr lang="en-US" sz="1100" dirty="0"/>
          </a:p>
        </p:txBody>
      </p:sp>
      <p:sp>
        <p:nvSpPr>
          <p:cNvPr id="12" name="Text 10"/>
          <p:cNvSpPr/>
          <p:nvPr/>
        </p:nvSpPr>
        <p:spPr>
          <a:xfrm>
            <a:off x="631627" y="2756297"/>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How this relates to my project (1 sentence):</a:t>
            </a:r>
            <a:endParaRPr lang="en-US" sz="1100" dirty="0"/>
          </a:p>
        </p:txBody>
      </p:sp>
      <p:sp>
        <p:nvSpPr>
          <p:cNvPr id="13" name="Text 11"/>
          <p:cNvSpPr/>
          <p:nvPr/>
        </p:nvSpPr>
        <p:spPr>
          <a:xfrm>
            <a:off x="631627" y="2930872"/>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_______________________________________________</a:t>
            </a:r>
            <a:endParaRPr lang="en-US" sz="1100" dirty="0"/>
          </a:p>
        </p:txBody>
      </p:sp>
      <p:sp>
        <p:nvSpPr>
          <p:cNvPr id="14" name="Text 12"/>
          <p:cNvSpPr/>
          <p:nvPr/>
        </p:nvSpPr>
        <p:spPr>
          <a:xfrm>
            <a:off x="631627" y="3280023"/>
            <a:ext cx="8086939" cy="174575"/>
          </a:xfrm>
          <a:prstGeom prst="rect">
            <a:avLst/>
          </a:prstGeom>
          <a:noFill/>
          <a:ln/>
        </p:spPr>
        <p:txBody>
          <a:bodyPr wrap="square" lIns="0" tIns="0" rIns="0" bIns="0" rtlCol="0" anchor="t"/>
          <a:lstStyle/>
          <a:p>
            <a:pPr algn="l" indent="0" marL="0">
              <a:lnSpc>
                <a:spcPts val="1375"/>
              </a:lnSpc>
              <a:buNone/>
            </a:pPr>
            <a:r>
              <a:rPr lang="en-US" sz="1100" dirty="0">
                <a:solidFill>
                  <a:srgbClr val="1C2833"/>
                </a:solidFill>
                <a:latin typeface="Courier New" pitchFamily="34" charset="0"/>
                <a:ea typeface="Courier New" pitchFamily="34" charset="-122"/>
                <a:cs typeface="Courier New" pitchFamily="34" charset="-120"/>
              </a:rPr>
              <a:t>This is a [primary text / secondary reference / primary observation] source.</a:t>
            </a:r>
            <a:endParaRPr lang="en-US" sz="1100" dirty="0"/>
          </a:p>
        </p:txBody>
      </p:sp>
      <p:sp>
        <p:nvSpPr>
          <p:cNvPr id="15" name="Text 1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(5 min)</a:t>
            </a:r>
            <a:endParaRPr lang="en-US" sz="1800" dirty="0"/>
          </a:p>
        </p:txBody>
      </p:sp>
      <p:sp>
        <p:nvSpPr>
          <p:cNvPr id="4" name="Text 2"/>
          <p:cNvSpPr/>
          <p:nvPr/>
        </p:nvSpPr>
        <p:spPr>
          <a:xfrm>
            <a:off x="634901" y="883593"/>
            <a:ext cx="8102798" cy="9751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Submit citation slips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at the in-tray. Teacher reviews tonight.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Journal entry: "Today I found ___ . The biggest surprise was ___ ."</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Preview Day 4: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"Tomorrow we keep researching and you make your first design sketch. Bring whatever drawing tools you'll need."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3302794"/>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3302794"/>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Today you find your sources.</a:t>
            </a:r>
            <a:endParaRPr lang="en-US" sz="1300" dirty="0"/>
          </a:p>
        </p:txBody>
      </p:sp>
      <p:sp>
        <p:nvSpPr>
          <p:cNvPr id="7" name="Text 5"/>
          <p:cNvSpPr/>
          <p:nvPr/>
        </p:nvSpPr>
        <p:spPr>
          <a:xfrm>
            <a:off x="692051" y="134317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Three categories count:</a:t>
            </a:r>
            <a:endParaRPr lang="en-US" sz="1300" dirty="0"/>
          </a:p>
        </p:txBody>
      </p:sp>
      <p:sp>
        <p:nvSpPr>
          <p:cNvPr id="8" name="Text 6"/>
          <p:cNvSpPr/>
          <p:nvPr/>
        </p:nvSpPr>
        <p:spPr>
          <a:xfrm>
            <a:off x="692051" y="1612255"/>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 named verse, sūtra, or chapter from a real published text.</a:t>
            </a:r>
            <a:endParaRPr lang="en-US" sz="1300" dirty="0"/>
          </a:p>
        </p:txBody>
      </p:sp>
      <p:sp>
        <p:nvSpPr>
          <p:cNvPr id="9" name="Text 7"/>
          <p:cNvSpPr/>
          <p:nvPr/>
        </p:nvSpPr>
        <p:spPr>
          <a:xfrm>
            <a:off x="692051" y="1881336"/>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An NCERT chapter, field guide, or peer-reviewed article.</a:t>
            </a:r>
            <a:endParaRPr lang="en-US" sz="1300" dirty="0"/>
          </a:p>
        </p:txBody>
      </p:sp>
      <p:sp>
        <p:nvSpPr>
          <p:cNvPr id="10" name="Text 8"/>
          <p:cNvSpPr/>
          <p:nvPr/>
        </p:nvSpPr>
        <p:spPr>
          <a:xfrm>
            <a:off x="692051" y="2150418"/>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 primary observation you made yourself, with date and location.</a:t>
            </a:r>
            <a:endParaRPr lang="en-US" sz="1300" dirty="0"/>
          </a:p>
        </p:txBody>
      </p:sp>
      <p:sp>
        <p:nvSpPr>
          <p:cNvPr id="11" name="Text 9"/>
          <p:cNvSpPr/>
          <p:nvPr/>
        </p:nvSpPr>
        <p:spPr>
          <a:xfrm>
            <a:off x="692051" y="2419499"/>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You need at least two sources total, at least one from category 1 or 2.</a:t>
            </a:r>
            <a:endParaRPr lang="en-US" sz="1300" dirty="0"/>
          </a:p>
        </p:txBody>
      </p:sp>
      <p:sp>
        <p:nvSpPr>
          <p:cNvPr id="12" name="Text 10"/>
          <p:cNvSpPr/>
          <p:nvPr/>
        </p:nvSpPr>
        <p:spPr>
          <a:xfrm>
            <a:off x="692051" y="2688580"/>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What does NOT count:</a:t>
            </a:r>
            <a:endParaRPr lang="en-US" sz="1300" dirty="0"/>
          </a:p>
        </p:txBody>
      </p:sp>
      <p:sp>
        <p:nvSpPr>
          <p:cNvPr id="13" name="Text 11"/>
          <p:cNvSpPr/>
          <p:nvPr/>
        </p:nvSpPr>
        <p:spPr>
          <a:xfrm>
            <a:off x="692051" y="2957661"/>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"Some say…" without naming who.</a:t>
            </a:r>
            <a:endParaRPr lang="en-US" sz="1300" dirty="0"/>
          </a:p>
        </p:txBody>
      </p:sp>
      <p:sp>
        <p:nvSpPr>
          <p:cNvPr id="14" name="Text 12"/>
          <p:cNvSpPr/>
          <p:nvPr/>
        </p:nvSpPr>
        <p:spPr>
          <a:xfrm>
            <a:off x="692051" y="322674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 WhatsApp forward.</a:t>
            </a:r>
            <a:endParaRPr lang="en-US" sz="1300" dirty="0"/>
          </a:p>
        </p:txBody>
      </p:sp>
      <p:sp>
        <p:nvSpPr>
          <p:cNvPr id="15" name="Text 13"/>
          <p:cNvSpPr/>
          <p:nvPr/>
        </p:nvSpPr>
        <p:spPr>
          <a:xfrm>
            <a:off x="692051" y="349582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An AI paraphrase you can't trace.</a:t>
            </a:r>
            <a:endParaRPr lang="en-US" sz="1300" dirty="0"/>
          </a:p>
        </p:txBody>
      </p:sp>
      <p:sp>
        <p:nvSpPr>
          <p:cNvPr id="16" name="Text 14"/>
          <p:cNvSpPr/>
          <p:nvPr/>
        </p:nvSpPr>
        <p:spPr>
          <a:xfrm>
            <a:off x="692051" y="3764905"/>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Fill in two citation slips by end of class.</a:t>
            </a:r>
            <a:endParaRPr lang="en-US" sz="1300" dirty="0"/>
          </a:p>
        </p:txBody>
      </p:sp>
      <p:sp>
        <p:nvSpPr>
          <p:cNvPr id="17" name="Text 1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634901" y="883593"/>
            <a:ext cx="8102798" cy="76944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Open the cache files on a computer at home if available. Read the full chunks (not just the summary).</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If a source you want isn't in the cache, search for the chapter in a school library or ask a parent.</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Bring drawing tools tomorrow.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Find a third source from a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different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category than your first two. For instance, if you have two cache verses, find one NCERT chapter or one primary observation to triangulate.</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Stop at two solid sources rather than chasing more. Spend the saved time writing what each source contributes in 3 sentences — clarity beats volume.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634901" y="883593"/>
            <a:ext cx="8102798" cy="140553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Some students will find no relevant sources in their anchor module's cache. Walk over and help — sometimes the relevant verse is in a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different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module (e.g. a Doṣa project may pull from Module 3 Ayurveda rather than Module 4).</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Project 9 (multiplication comparison) anchor sources are slightly different — they include Tirthaji's book and the day-by-day worked examples from Modules 7, 9, 11. Help these students locate the right pages.</a:t>
            </a:r>
            <a:endParaRPr lang="en-US" sz="1200" dirty="0"/>
          </a:p>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Project 7 (sustainability audit) students often want to leap straight to primary observation. Hold them: they need at least one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prior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source to anchor their framework first. Module 13's </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sources.md</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(when available) is the place.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dirty="0">
                <a:solidFill>
                  <a:srgbClr val="1C2833"/>
                </a:solidFill>
                <a:latin typeface="Arial" pitchFamily="34" charset="0"/>
                <a:ea typeface="Arial" pitchFamily="34" charset="-122"/>
                <a:cs typeface="Arial" pitchFamily="34" charset="-120"/>
              </a:rPr>
              <a:t>The lesson references the citation discipline established from Module 2 onwards. No new scripture citation today.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2026-05-28T05:57:56Z</dcterms:created>
  <dcterms:modified xsi:type="dcterms:W3CDTF">2026-05-28T05:57:56Z</dcterms:modified>
</cp:coreProperties>
</file>