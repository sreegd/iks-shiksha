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380851"/>
            <a:ext cx="8498026" cy="350490"/>
          </a:xfrm>
          <a:prstGeom prst="rect">
            <a:avLst/>
          </a:prstGeom>
          <a:noFill/>
          <a:ln/>
        </p:spPr>
        <p:txBody>
          <a:bodyPr wrap="square" lIns="0" tIns="0" rIns="0" bIns="0" rtlCol="0" anchor="t"/>
          <a:lstStyle/>
          <a:p>
            <a:pPr algn="l" indent="0" marL="0">
              <a:lnSpc>
                <a:spcPts val="2760"/>
              </a:lnSpc>
              <a:spcAft>
                <a:spcPts val="1000"/>
              </a:spcAft>
              <a:buNone/>
            </a:pPr>
            <a:r>
              <a:rPr lang="en-US" sz="2400" b="1" dirty="0">
                <a:solidFill>
                  <a:srgbClr val="277884"/>
                </a:solidFill>
                <a:latin typeface="Georgia" pitchFamily="34" charset="0"/>
                <a:ea typeface="Georgia" pitchFamily="34" charset="-122"/>
                <a:cs typeface="Georgia" pitchFamily="34" charset="-120"/>
              </a:rPr>
              <a:t>Day 10 — Final Assessment + Project Showcase</a:t>
            </a:r>
            <a:endParaRPr lang="en-US" sz="2400" dirty="0"/>
          </a:p>
        </p:txBody>
      </p:sp>
      <p:sp>
        <p:nvSpPr>
          <p:cNvPr id="4" name="Text 2"/>
          <p:cNvSpPr/>
          <p:nvPr/>
        </p:nvSpPr>
        <p:spPr>
          <a:xfrm>
            <a:off x="406301" y="89639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Module: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Nikhilam Multiplication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Band: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Middle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Time: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45 min</a:t>
            </a:r>
            <a:endParaRPr lang="en-US" sz="1200" dirty="0"/>
          </a:p>
        </p:txBody>
      </p:sp>
      <p:sp>
        <p:nvSpPr>
          <p:cNvPr id="5" name="Text 3"/>
          <p:cNvSpPr/>
          <p:nvPr/>
        </p:nvSpPr>
        <p:spPr>
          <a:xfrm>
            <a:off x="406301" y="1223963"/>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Learning objective</a:t>
            </a:r>
            <a:endParaRPr lang="en-US" sz="1800" dirty="0"/>
          </a:p>
        </p:txBody>
      </p:sp>
      <p:sp>
        <p:nvSpPr>
          <p:cNvPr id="6" name="Text 4"/>
          <p:cNvSpPr/>
          <p:nvPr/>
        </p:nvSpPr>
        <p:spPr>
          <a:xfrm>
            <a:off x="406301" y="1637854"/>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By the end of this lesson, students will demonstrate mastery of the Nikhilam multiplication method via a summative quiz and a 3-minute project presentation.</a:t>
            </a:r>
            <a:endParaRPr lang="en-US" sz="1200" dirty="0"/>
          </a:p>
        </p:txBody>
      </p:sp>
      <p:sp>
        <p:nvSpPr>
          <p:cNvPr id="7" name="Text 5"/>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Materials</a:t>
            </a:r>
            <a:endParaRPr lang="en-US" sz="1800" dirty="0"/>
          </a:p>
        </p:txBody>
      </p:sp>
      <p:sp>
        <p:nvSpPr>
          <p:cNvPr id="4" name="Text 2"/>
          <p:cNvSpPr/>
          <p:nvPr/>
        </p:nvSpPr>
        <p:spPr>
          <a:xfrm>
            <a:off x="406301" y="870942"/>
            <a:ext cx="8498026" cy="436066"/>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Summative quiz (</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quizzes/summative.md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 Stopwatch. – Rubric per pair (</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assessments/rubric.md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 Reflection slip per student.</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Lesson flow</a:t>
            </a:r>
            <a:endParaRPr lang="en-US" sz="1800" dirty="0"/>
          </a:p>
        </p:txBody>
      </p:sp>
      <p:sp>
        <p:nvSpPr>
          <p:cNvPr id="4" name="Text 2"/>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Warm-up (2 min)</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Brief: "Quiz first (15 min), presentations after."</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Part 1: Summative quiz (15 min)</a:t>
            </a:r>
            <a:endParaRPr lang="en-US" sz="1800" dirty="0"/>
          </a:p>
        </p:txBody>
      </p:sp>
      <p:sp>
        <p:nvSpPr>
          <p:cNvPr id="4" name="Text 2"/>
          <p:cNvSpPr/>
          <p:nvPr/>
        </p:nvSpPr>
        <p:spPr>
          <a:xfrm>
            <a:off x="406301" y="870942"/>
            <a:ext cx="8498026" cy="649337"/>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Distribute </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quizzes/summative.md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Closed notebook. – Quiz covers: – Complement / excess fluency (timed). – Both-below-100 (2 problems). – Both-above-100 (1 problem). – Mixed-sign (1 problem). – Near-1000 (1 problem). – Decide-which-method (3 problems). – One short-answer "why does it work" (algebra). – Collect at 15-min mark.</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Part 2: Project presentations (25 min)</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3 min presentation + 1 min Q&amp;A per pair (4 min total).</a:t>
            </a:r>
            <a:endParaRPr lang="en-US" sz="1200" dirty="0"/>
          </a:p>
        </p:txBody>
      </p:sp>
      <p:sp>
        <p:nvSpPr>
          <p:cNvPr id="5" name="Text 3"/>
          <p:cNvSpPr/>
          <p:nvPr/>
        </p:nvSpPr>
        <p:spPr>
          <a:xfrm>
            <a:off x="634901" y="117306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~6 pairs fit in 25 min. </a:t>
            </a:r>
            <a:pPr algn="l" indent="0" marL="0">
              <a:lnSpc>
                <a:spcPts val="1620"/>
              </a:lnSpc>
              <a:spcAft>
                <a:spcPts val="300"/>
              </a:spcAft>
              <a:buNone/>
            </a:pPr>
            <a:r>
              <a:rPr lang="en-US" sz="1200" b="1" dirty="0">
                <a:solidFill>
                  <a:srgbClr val="1C2833"/>
                </a:solidFill>
                <a:latin typeface="Arial" pitchFamily="34" charset="0"/>
                <a:ea typeface="Arial" pitchFamily="34" charset="-122"/>
                <a:cs typeface="Arial" pitchFamily="34" charset="-120"/>
              </a:rPr>
              <a:t>Reserve next class for remaining pairs</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if needed.</a:t>
            </a:r>
            <a:endParaRPr lang="en-US" sz="1200" dirty="0"/>
          </a:p>
        </p:txBody>
      </p:sp>
      <p:sp>
        <p:nvSpPr>
          <p:cNvPr id="6" name="Text 4"/>
          <p:cNvSpPr/>
          <p:nvPr/>
        </p:nvSpPr>
        <p:spPr>
          <a:xfrm>
            <a:off x="406301" y="1543794"/>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During each:   – Teacher marks the rubric in real-time.   – One assigned audience member asks one question.   – Other audience members fill "I learned / I wonder" slips.</a:t>
            </a:r>
            <a:endParaRPr lang="en-US" sz="1200" dirty="0"/>
          </a:p>
        </p:txBody>
      </p:sp>
      <p:sp>
        <p:nvSpPr>
          <p:cNvPr id="7" name="Text 5"/>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Wrap-up (3 min)</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Closing question (oral):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"What's one thing you'll keep using from Nikhilam? And one thing you'll keep using long multiplication for?"</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 Reflection slip submitted.</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Student-facing content</a:t>
            </a:r>
            <a:endParaRPr lang="en-US" sz="1800" dirty="0"/>
          </a:p>
        </p:txBody>
      </p:sp>
      <p:sp>
        <p:nvSpPr>
          <p:cNvPr id="4" name="Text 2"/>
          <p:cNvSpPr/>
          <p:nvPr/>
        </p:nvSpPr>
        <p:spPr>
          <a:xfrm>
            <a:off x="406301" y="883593"/>
            <a:ext cx="8331398" cy="1881187"/>
          </a:xfrm>
          <a:prstGeom prst="rect">
            <a:avLst/>
          </a:prstGeom>
          <a:solidFill>
            <a:srgbClr val="F4F8F9"/>
          </a:solidFill>
          <a:ln/>
        </p:spPr>
        <p:txBody>
          <a:bodyPr wrap="square" rtlCol="0" anchor="ctr"/>
          <a:lstStyle/>
          <a:p>
            <a:pPr indent="0" marL="0">
              <a:buNone/>
            </a:pPr>
            <a:endParaRPr lang="en-US" dirty="0"/>
          </a:p>
        </p:txBody>
      </p:sp>
      <p:sp>
        <p:nvSpPr>
          <p:cNvPr id="5" name="Shape 3"/>
          <p:cNvSpPr/>
          <p:nvPr/>
        </p:nvSpPr>
        <p:spPr>
          <a:xfrm>
            <a:off x="434876" y="883593"/>
            <a:ext cx="0" cy="1881187"/>
          </a:xfrm>
          <a:prstGeom prst="line">
            <a:avLst/>
          </a:prstGeom>
          <a:noFill/>
          <a:ln w="57150">
            <a:solidFill>
              <a:srgbClr val="FE4447"/>
            </a:solidFill>
            <a:prstDash val="solid"/>
          </a:ln>
        </p:spPr>
      </p:sp>
      <p:sp>
        <p:nvSpPr>
          <p:cNvPr id="6" name="Text 4"/>
          <p:cNvSpPr/>
          <p:nvPr/>
        </p:nvSpPr>
        <p:spPr>
          <a:xfrm>
            <a:off x="692051" y="1074093"/>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b="1" i="1" dirty="0">
                <a:solidFill>
                  <a:srgbClr val="1C2833"/>
                </a:solidFill>
                <a:latin typeface="Georgia" pitchFamily="34" charset="0"/>
                <a:ea typeface="Georgia" pitchFamily="34" charset="-122"/>
                <a:cs typeface="Georgia" pitchFamily="34" charset="-120"/>
              </a:rPr>
              <a:t>Today: quiz + presentations</a:t>
            </a:r>
            <a:endParaRPr lang="en-US" sz="1300" dirty="0"/>
          </a:p>
        </p:txBody>
      </p:sp>
      <p:sp>
        <p:nvSpPr>
          <p:cNvPr id="7" name="Text 5"/>
          <p:cNvSpPr/>
          <p:nvPr/>
        </p:nvSpPr>
        <p:spPr>
          <a:xfrm>
            <a:off x="692051" y="1343174"/>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15 min for the summative quiz (closed book).</a:t>
            </a:r>
            <a:endParaRPr lang="en-US" sz="1300" dirty="0"/>
          </a:p>
        </p:txBody>
      </p:sp>
      <p:sp>
        <p:nvSpPr>
          <p:cNvPr id="8" name="Text 6"/>
          <p:cNvSpPr/>
          <p:nvPr/>
        </p:nvSpPr>
        <p:spPr>
          <a:xfrm>
            <a:off x="692051" y="1612255"/>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3-minute presentation per pair, then 1-min audience question.</a:t>
            </a:r>
            <a:endParaRPr lang="en-US" sz="1300" dirty="0"/>
          </a:p>
        </p:txBody>
      </p:sp>
      <p:sp>
        <p:nvSpPr>
          <p:cNvPr id="9" name="Text 7"/>
          <p:cNvSpPr/>
          <p:nvPr/>
        </p:nvSpPr>
        <p:spPr>
          <a:xfrm>
            <a:off x="692051" y="1881336"/>
            <a:ext cx="7973389" cy="692944"/>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b="1" i="1" dirty="0">
                <a:solidFill>
                  <a:srgbClr val="1C2833"/>
                </a:solidFill>
                <a:latin typeface="Georgia" pitchFamily="34" charset="0"/>
                <a:ea typeface="Georgia" pitchFamily="34" charset="-122"/>
                <a:cs typeface="Georgia" pitchFamily="34" charset="-120"/>
              </a:rPr>
              <a:t>Reflection (due at end of class):</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1. What did you set out to make/learn, and what did you actually end up with? 2. What's the most surprising thing you discovered while making this? 3. Where will you use Nikhilam in your life outside this classroom?</a:t>
            </a:r>
            <a:endParaRPr lang="en-US" sz="1300" dirty="0"/>
          </a:p>
        </p:txBody>
      </p:sp>
      <p:sp>
        <p:nvSpPr>
          <p:cNvPr id="10" name="Text 8"/>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Homework</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None. Module is complete.</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Differentiation</a:t>
            </a:r>
            <a:endParaRPr lang="en-US" sz="1800" dirty="0"/>
          </a:p>
        </p:txBody>
      </p:sp>
      <p:sp>
        <p:nvSpPr>
          <p:cNvPr id="4" name="Text 2"/>
          <p:cNvSpPr/>
          <p:nvPr/>
        </p:nvSpPr>
        <p:spPr>
          <a:xfrm>
            <a:off x="634901" y="883593"/>
            <a:ext cx="8102798" cy="7313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Tier up:</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Students finishing the quiz early can write a 1-paragraph "what would Module 11 look like for Grade 4?" — input for Primary band.</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Tier down:</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Open-notebook quiz for students with documented learning needs.</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Teacher notes</a:t>
            </a:r>
            <a:endParaRPr lang="en-US" sz="1800" dirty="0"/>
          </a:p>
        </p:txBody>
      </p:sp>
      <p:sp>
        <p:nvSpPr>
          <p:cNvPr id="4" name="Text 2"/>
          <p:cNvSpPr/>
          <p:nvPr/>
        </p:nvSpPr>
        <p:spPr>
          <a:xfrm>
            <a:off x="406301" y="870942"/>
            <a:ext cx="8498026" cy="639812"/>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Mark quiz immediately after class while presentations are fresh. – If presentations spill into Day 11, protect that time. – The "reflection on Nikhilam in life" question (oral) — listen for genuine answers ("I'll use it on price tags in the shop"; "I'll use it for mental estimation"). The honest answer "I won't use it much" is also valid.</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Citation(s) used in this lesson</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All sources verified across days 1–9.</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 Middle</dc:title>
  <dc:subject>PptxGenJS Presentation</dc:subject>
  <dc:creator>IKS Curriculum</dc:creator>
  <cp:lastModifiedBy>IKS Curriculum</cp:lastModifiedBy>
  <cp:revision>1</cp:revision>
  <dcterms:created xsi:type="dcterms:W3CDTF">2026-05-25T08:54:15Z</dcterms:created>
  <dcterms:modified xsi:type="dcterms:W3CDTF">2026-05-25T08:54:15Z</dcterms:modified>
</cp:coreProperties>
</file>