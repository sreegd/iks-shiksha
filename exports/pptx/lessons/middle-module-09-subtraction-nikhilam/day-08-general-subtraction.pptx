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8 — General Subtraction with Complements</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Nikhilam Subtraction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subtract a number from any larger number (not necessarily a power of ten) using a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combined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method: take the complement of the subtrahend to a nearby base, add it to the minuend, and adjust by the difference.</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Whiteboard</a:t>
            </a:r>
            <a:endParaRPr lang="en-US" sz="1200" dirty="0"/>
          </a:p>
        </p:txBody>
      </p:sp>
      <p:sp>
        <p:nvSpPr>
          <p:cNvPr id="5" name="Text 3"/>
          <p:cNvSpPr/>
          <p:nvPr/>
        </p:nvSpPr>
        <p:spPr>
          <a:xfrm>
            <a:off x="634901" y="1173063"/>
            <a:ext cx="8102798" cy="30093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activities/activity-02-shopkeeper.md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worksheet</a:t>
            </a:r>
            <a:endParaRPr lang="en-US" sz="1200" dirty="0"/>
          </a:p>
        </p:txBody>
      </p:sp>
      <p:sp>
        <p:nvSpPr>
          <p:cNvPr id="6" name="Text 4"/>
          <p:cNvSpPr/>
          <p:nvPr/>
        </p:nvSpPr>
        <p:spPr>
          <a:xfrm>
            <a:off x="406301" y="156284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Pretend currency (paper notes of 100, 500, 1000 rupee denominations) – Stopwatches</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Sūtra chant. – Quick fire: 4 complements (mix of bases).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(15 min) — Beyond clean bases</a:t>
            </a:r>
            <a:endParaRPr lang="en-US" sz="1800" dirty="0"/>
          </a:p>
        </p:txBody>
      </p:sp>
      <p:sp>
        <p:nvSpPr>
          <p:cNvPr id="4" name="Text 2"/>
          <p:cNvSpPr/>
          <p:nvPr/>
        </p:nvSpPr>
        <p:spPr>
          <a:xfrm>
            <a:off x="634901" y="883593"/>
            <a:ext cx="8102798" cy="50661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setup.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"So far we've done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1000 − 567</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 Easy: complement of 567 is the answer, 433. Now: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8243 − 567</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 The minuend isn't a clean power of ten. What do we do?"</a:t>
            </a:r>
            <a:endParaRPr lang="en-US" sz="1200" dirty="0"/>
          </a:p>
        </p:txBody>
      </p:sp>
      <p:sp>
        <p:nvSpPr>
          <p:cNvPr id="5" name="Text 3"/>
          <p:cNvSpPr/>
          <p:nvPr/>
        </p:nvSpPr>
        <p:spPr>
          <a:xfrm>
            <a:off x="634901" y="1491704"/>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Idea: borrow a base.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Rewrite:</a:t>
            </a:r>
            <a:endParaRPr lang="en-US" sz="1200" dirty="0"/>
          </a:p>
        </p:txBody>
      </p:sp>
      <p:sp>
        <p:nvSpPr>
          <p:cNvPr id="6" name="Text 4"/>
          <p:cNvSpPr/>
          <p:nvPr/>
        </p:nvSpPr>
        <p:spPr>
          <a:xfrm>
            <a:off x="406301" y="1875086"/>
            <a:ext cx="8331398" cy="952202"/>
          </a:xfrm>
          <a:prstGeom prst="rect">
            <a:avLst/>
          </a:prstGeom>
          <a:solidFill>
            <a:srgbClr val="F4F8F9"/>
          </a:solidFill>
          <a:ln/>
        </p:spPr>
        <p:txBody>
          <a:bodyPr wrap="square" rtlCol="0" anchor="ctr"/>
          <a:lstStyle/>
          <a:p>
            <a:pPr indent="0" marL="0">
              <a:buNone/>
            </a:pPr>
            <a:endParaRPr lang="en-US" dirty="0"/>
          </a:p>
        </p:txBody>
      </p:sp>
      <p:sp>
        <p:nvSpPr>
          <p:cNvPr id="7" name="Shape 5"/>
          <p:cNvSpPr/>
          <p:nvPr/>
        </p:nvSpPr>
        <p:spPr>
          <a:xfrm>
            <a:off x="430113" y="1875086"/>
            <a:ext cx="0" cy="952202"/>
          </a:xfrm>
          <a:prstGeom prst="line">
            <a:avLst/>
          </a:prstGeom>
          <a:noFill/>
          <a:ln w="47625">
            <a:solidFill>
              <a:srgbClr val="277884"/>
            </a:solidFill>
            <a:prstDash val="solid"/>
          </a:ln>
        </p:spPr>
      </p:sp>
      <p:sp>
        <p:nvSpPr>
          <p:cNvPr id="8" name="Text 6"/>
          <p:cNvSpPr/>
          <p:nvPr/>
        </p:nvSpPr>
        <p:spPr>
          <a:xfrm>
            <a:off x="631627" y="2002036"/>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8243 − 567</a:t>
            </a:r>
            <a:endParaRPr lang="en-US" sz="1100" dirty="0"/>
          </a:p>
        </p:txBody>
      </p:sp>
      <p:sp>
        <p:nvSpPr>
          <p:cNvPr id="9" name="Text 7"/>
          <p:cNvSpPr/>
          <p:nvPr/>
        </p:nvSpPr>
        <p:spPr>
          <a:xfrm>
            <a:off x="631627" y="217661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 8243 − 1000 + (1000 − 567)</a:t>
            </a:r>
            <a:endParaRPr lang="en-US" sz="1100" dirty="0"/>
          </a:p>
        </p:txBody>
      </p:sp>
      <p:sp>
        <p:nvSpPr>
          <p:cNvPr id="10" name="Text 8"/>
          <p:cNvSpPr/>
          <p:nvPr/>
        </p:nvSpPr>
        <p:spPr>
          <a:xfrm>
            <a:off x="631627" y="2351187"/>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 7243 + 433</a:t>
            </a:r>
            <a:endParaRPr lang="en-US" sz="1100" dirty="0"/>
          </a:p>
        </p:txBody>
      </p:sp>
      <p:sp>
        <p:nvSpPr>
          <p:cNvPr id="11" name="Text 9"/>
          <p:cNvSpPr/>
          <p:nvPr/>
        </p:nvSpPr>
        <p:spPr>
          <a:xfrm>
            <a:off x="631627" y="2525762"/>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 7676.</a:t>
            </a:r>
            <a:endParaRPr lang="en-US" sz="1100" dirty="0"/>
          </a:p>
        </p:txBody>
      </p:sp>
      <p:sp>
        <p:nvSpPr>
          <p:cNvPr id="12" name="Text 10"/>
          <p:cNvSpPr/>
          <p:nvPr/>
        </p:nvSpPr>
        <p:spPr>
          <a:xfrm>
            <a:off x="406301" y="2916138"/>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"We pick a base that's larger than the subtrahend (1000 &gt; 567 here). We subtract that base from the minuend (8243 − 1000 = 7243; easy). Then we add the complement (433). Done."</a:t>
            </a:r>
            <a:endParaRPr lang="en-US" sz="1200" dirty="0"/>
          </a:p>
        </p:txBody>
      </p:sp>
      <p:sp>
        <p:nvSpPr>
          <p:cNvPr id="13" name="Text 11"/>
          <p:cNvSpPr/>
          <p:nvPr/>
        </p:nvSpPr>
        <p:spPr>
          <a:xfrm>
            <a:off x="406301" y="3418880"/>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Verify: 8243 − 567 = 7676 by standard borrowing. ✓</a:t>
            </a:r>
            <a:endParaRPr lang="en-US" sz="1200" dirty="0"/>
          </a:p>
        </p:txBody>
      </p:sp>
      <p:sp>
        <p:nvSpPr>
          <p:cNvPr id="14" name="Text 12"/>
          <p:cNvSpPr/>
          <p:nvPr/>
        </p:nvSpPr>
        <p:spPr>
          <a:xfrm>
            <a:off x="634901" y="3721001"/>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Why does this work?</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Algebra:</a:t>
            </a:r>
            <a:endParaRPr lang="en-US" sz="1200" dirty="0"/>
          </a:p>
        </p:txBody>
      </p:sp>
      <p:sp>
        <p:nvSpPr>
          <p:cNvPr id="15" name="Text 13"/>
          <p:cNvSpPr/>
          <p:nvPr/>
        </p:nvSpPr>
        <p:spPr>
          <a:xfrm>
            <a:off x="406301" y="4104382"/>
            <a:ext cx="8331398" cy="428476"/>
          </a:xfrm>
          <a:prstGeom prst="rect">
            <a:avLst/>
          </a:prstGeom>
          <a:solidFill>
            <a:srgbClr val="F4F8F9"/>
          </a:solidFill>
          <a:ln/>
        </p:spPr>
        <p:txBody>
          <a:bodyPr wrap="square" rtlCol="0" anchor="ctr"/>
          <a:lstStyle/>
          <a:p>
            <a:pPr indent="0" marL="0">
              <a:buNone/>
            </a:pPr>
            <a:endParaRPr lang="en-US" dirty="0"/>
          </a:p>
        </p:txBody>
      </p:sp>
      <p:sp>
        <p:nvSpPr>
          <p:cNvPr id="16" name="Shape 14"/>
          <p:cNvSpPr/>
          <p:nvPr/>
        </p:nvSpPr>
        <p:spPr>
          <a:xfrm>
            <a:off x="430113" y="4104382"/>
            <a:ext cx="0" cy="428476"/>
          </a:xfrm>
          <a:prstGeom prst="line">
            <a:avLst/>
          </a:prstGeom>
          <a:noFill/>
          <a:ln w="47625">
            <a:solidFill>
              <a:srgbClr val="277884"/>
            </a:solidFill>
            <a:prstDash val="solid"/>
          </a:ln>
        </p:spPr>
      </p:sp>
      <p:sp>
        <p:nvSpPr>
          <p:cNvPr id="17" name="Text 15"/>
          <p:cNvSpPr/>
          <p:nvPr/>
        </p:nvSpPr>
        <p:spPr>
          <a:xfrm>
            <a:off x="631627" y="4231332"/>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M − S = M − (B − (B − S)) = M − B + complement(S to B)</a:t>
            </a:r>
            <a:endParaRPr lang="en-US" sz="1100" dirty="0"/>
          </a:p>
        </p:txBody>
      </p:sp>
      <p:sp>
        <p:nvSpPr>
          <p:cNvPr id="18" name="Text 16"/>
          <p:cNvSpPr/>
          <p:nvPr/>
        </p:nvSpPr>
        <p:spPr>
          <a:xfrm>
            <a:off x="406301" y="4621709"/>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B − S</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 is the complement of S to base B. Add the complement and subtract B from M."</a:t>
            </a:r>
            <a:endParaRPr lang="en-US" sz="1200" dirty="0"/>
          </a:p>
        </p:txBody>
      </p:sp>
      <p:sp>
        <p:nvSpPr>
          <p:cNvPr id="19" name="Text 17"/>
          <p:cNvSpPr/>
          <p:nvPr/>
        </p:nvSpPr>
        <p:spPr>
          <a:xfrm>
            <a:off x="634901" y="493335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Worked examples (class participates):</a:t>
            </a:r>
            <a:endParaRPr lang="en-US" sz="1200" dirty="0"/>
          </a:p>
        </p:txBody>
      </p:sp>
      <p:sp>
        <p:nvSpPr>
          <p:cNvPr id="20" name="Text 18"/>
          <p:cNvSpPr/>
          <p:nvPr/>
        </p:nvSpPr>
        <p:spPr>
          <a:xfrm>
            <a:off x="634901" y="6744891"/>
            <a:ext cx="8102798" cy="8989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When is this faster than standard borrowing?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"When the subtrahend is close to a base — say 567 to 1000 — Nikhilam-with-adjustment is genuinely faster. When the subtrahend is in the middle (like 4567 from 8243, where 4567 is not close to any clean base), standard borrowing is competitive. The mature mental-arithmetic move is to know both and pick."</a:t>
            </a:r>
            <a:endParaRPr lang="en-US" sz="1200" dirty="0"/>
          </a:p>
        </p:txBody>
      </p:sp>
      <p:sp>
        <p:nvSpPr>
          <p:cNvPr id="21" name="Text 19"/>
          <p:cNvSpPr/>
          <p:nvPr/>
        </p:nvSpPr>
        <p:spPr>
          <a:xfrm>
            <a:off x="406301" y="7808863"/>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(20 min) — Shopkeeper role-play</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activities/activity-02-shopkeeper.md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p:txBody>
      </p:sp>
      <p:sp>
        <p:nvSpPr>
          <p:cNvPr id="5" name="Text 3"/>
          <p:cNvSpPr/>
          <p:nvPr/>
        </p:nvSpPr>
        <p:spPr>
          <a:xfrm>
            <a:off x="406301" y="1169938"/>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 pairs, one is the shopkeeper, one is the customer. – Customer hands over a "round" note (100, 500, 1000, or 2000 rupees). – Shopkeeper computes the change using Nikhilam (mental). – Swap roles every 3 rounds. – 10 scenarios per pair. Times recorded.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Quick discussion: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"Where in real life does this method save 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Most answers will be shop-related. Affirm and add: change-counting, expense splitting, deficit tracking. – Preview Day 9: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 speed test, both methods, head-to-head."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514600"/>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514600"/>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General Subtraction with Complements</a:t>
            </a:r>
            <a:endParaRPr lang="en-US" sz="1300" dirty="0"/>
          </a:p>
        </p:txBody>
      </p:sp>
      <p:sp>
        <p:nvSpPr>
          <p:cNvPr id="7" name="Text 5"/>
          <p:cNvSpPr/>
          <p:nvPr/>
        </p:nvSpPr>
        <p:spPr>
          <a:xfrm>
            <a:off x="692051" y="1343174"/>
            <a:ext cx="7973389" cy="25003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To compute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 − S</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8" name="Text 6"/>
          <p:cNvSpPr/>
          <p:nvPr/>
        </p:nvSpPr>
        <p:spPr>
          <a:xfrm>
            <a:off x="692051" y="1631305"/>
            <a:ext cx="7973389" cy="75009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1. Pick a base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B</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such that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B &gt; S</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and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B</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is a power of 10 (so 100, 1000, 10 000, ...). 2. Compute the complement of S to B (using Nikhilam) — call it C. 3. Compute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 − B</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(which is easy, since B is a round number). 4. Answer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 − B) + C</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9" name="Text 7"/>
          <p:cNvSpPr/>
          <p:nvPr/>
        </p:nvSpPr>
        <p:spPr>
          <a:xfrm>
            <a:off x="692051" y="2419499"/>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Algebraic identity: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M − S = (M − B) + (B − S)</a:t>
            </a:r>
            <a:endParaRPr lang="en-US" sz="1300" dirty="0"/>
          </a:p>
        </p:txBody>
      </p:sp>
      <p:sp>
        <p:nvSpPr>
          <p:cNvPr id="10" name="Text 8"/>
          <p:cNvSpPr/>
          <p:nvPr/>
        </p:nvSpPr>
        <p:spPr>
          <a:xfrm>
            <a:off x="692051" y="2688580"/>
            <a:ext cx="7973389" cy="25003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Verify by checking: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M − S</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should equal your answer.</a:t>
            </a:r>
            <a:endParaRPr lang="en-US" sz="1300" dirty="0"/>
          </a:p>
        </p:txBody>
      </p:sp>
      <p:sp>
        <p:nvSpPr>
          <p:cNvPr id="11" name="Text 9"/>
          <p:cNvSpPr/>
          <p:nvPr/>
        </p:nvSpPr>
        <p:spPr>
          <a:xfrm>
            <a:off x="692051" y="2976711"/>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Example: 8243 − 567 = (8243 − 1000) + 433 = 7243 + 433 = </a:t>
            </a:r>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7676</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a:t>
            </a:r>
            <a:endParaRPr lang="en-US" sz="1300" dirty="0"/>
          </a:p>
        </p:txBody>
      </p:sp>
      <p:sp>
        <p:nvSpPr>
          <p:cNvPr id="12" name="Text 10"/>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Solve 6 mixed subtractions using the combined method:   – 7234 − 587 (base 1000)   – 9 612 − 3 458 (base 10 000)   – 5 100 − 67 (base 100)   – 13 405 − 2 850 (base 10 000)   – 800 − 39 (base 100)   – 25 000 − 4 999 (base 10 000) – For each, show the base, the complement, and the final answer.</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What if the subtrahend has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more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digits than the base needs? E.g.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8243 − 5567</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using base 10 000, complement of 5567 is 4433, and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8243 − 10 000 = −1757</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so answer =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−1757 + 4433 = 2676</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Verify: 8243 − 5567 = 2676. ✓. Negative intermediate results are fine.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Use base 100 for everything. Only graduate to 1000 when comfortable.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289149"/>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combined method introduces a real subtlety: students must now choose a base. Some over-pick (use 10 000 for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5172 − 89</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when 100 would do). Some under-pick (use 100 for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8243 − 567</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Either causes errors. Teach: "pick the smallest base that still exceeds the subtrahend." – The shopkeeper role-play tends to make this concrete. Make sure the "round notes" are physically present — the mental model "I have 1000 in my hand, I need to give 567 of it" makes the algebra intuitive. – Some classes will benefit from spending the whole lesson on the shopkeeper drill and pushing the algebra to Day 9. That's a fine reordering.</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Tirthaji,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Vedic Mathematics</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(1965), sūtra Nikhilam (#2) — primary source.</a:t>
            </a:r>
            <a:endParaRPr lang="en-US" sz="1200" dirty="0"/>
          </a:p>
        </p:txBody>
      </p:sp>
      <p:sp>
        <p:nvSpPr>
          <p:cNvPr id="5" name="Text 3"/>
          <p:cNvSpPr/>
          <p:nvPr/>
        </p:nvSpPr>
        <p:spPr>
          <a:xfrm>
            <a:off x="634901" y="117306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FUNDAMENTAL AND VEDIC MATHEMATICS .pdf</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Nikhilam chapter — provided the general-case worked examples that informed today's table.</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2026-05-25T08:52:03Z</dcterms:created>
  <dcterms:modified xsi:type="dcterms:W3CDTF">2026-05-25T08:52:03Z</dcterms:modified>
</cp:coreProperties>
</file>