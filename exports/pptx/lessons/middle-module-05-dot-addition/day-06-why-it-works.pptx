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6 — Why It Works</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Bindu Paddhati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explain in their own words why the dot method gives the same answer as the standard algorithm, citing place value and the fact that a "dot" represents a 10 carried.</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634901" y="883593"/>
            <a:ext cx="8102798" cy="78849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Whiteboard.</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The 16-Sūtra list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Microsoft Word - sutras1.pdf</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printed and visible.</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Worksheet: "explain to a friend" prompt + space.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634901" y="883593"/>
            <a:ext cx="8102798" cy="5256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Make-10 round.</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Hand back formative. Discuss any common error pattern from the quiz briefly.</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 — The mathematical reasoning</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core claim</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(write boxed on the board):</a:t>
            </a:r>
            <a:endParaRPr lang="en-US" sz="1200" dirty="0"/>
          </a:p>
        </p:txBody>
      </p:sp>
      <p:sp>
        <p:nvSpPr>
          <p:cNvPr id="5" name="Text 3"/>
          <p:cNvSpPr/>
          <p:nvPr/>
        </p:nvSpPr>
        <p:spPr>
          <a:xfrm>
            <a:off x="406301" y="1266974"/>
            <a:ext cx="8331398" cy="842963"/>
          </a:xfrm>
          <a:prstGeom prst="rect">
            <a:avLst/>
          </a:prstGeom>
          <a:solidFill>
            <a:srgbClr val="F4F8F9"/>
          </a:solidFill>
          <a:ln/>
        </p:spPr>
        <p:txBody>
          <a:bodyPr wrap="square" rtlCol="0" anchor="ctr"/>
          <a:lstStyle/>
          <a:p>
            <a:pPr indent="0" marL="0">
              <a:buNone/>
            </a:pPr>
            <a:endParaRPr lang="en-US" dirty="0"/>
          </a:p>
        </p:txBody>
      </p:sp>
      <p:sp>
        <p:nvSpPr>
          <p:cNvPr id="6" name="Shape 4"/>
          <p:cNvSpPr/>
          <p:nvPr/>
        </p:nvSpPr>
        <p:spPr>
          <a:xfrm>
            <a:off x="434876" y="1266974"/>
            <a:ext cx="0" cy="842962"/>
          </a:xfrm>
          <a:prstGeom prst="line">
            <a:avLst/>
          </a:prstGeom>
          <a:noFill/>
          <a:ln w="57150">
            <a:solidFill>
              <a:srgbClr val="FE4447"/>
            </a:solidFill>
            <a:prstDash val="solid"/>
          </a:ln>
        </p:spPr>
      </p:sp>
      <p:sp>
        <p:nvSpPr>
          <p:cNvPr id="7" name="Text 5"/>
          <p:cNvSpPr/>
          <p:nvPr/>
        </p:nvSpPr>
        <p:spPr>
          <a:xfrm>
            <a:off x="692051" y="1457474"/>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A dot in a column represents "10 has been used up." Since 10 in any column equals 1 in the next column, the dot count is the carry.</a:t>
            </a:r>
            <a:endParaRPr lang="en-US" sz="1300" dirty="0"/>
          </a:p>
        </p:txBody>
      </p:sp>
      <p:sp>
        <p:nvSpPr>
          <p:cNvPr id="8" name="Text 6"/>
          <p:cNvSpPr/>
          <p:nvPr/>
        </p:nvSpPr>
        <p:spPr>
          <a:xfrm>
            <a:off x="634901" y="2211437"/>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Walk through a simple example to prove it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9" name="Text 7"/>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 — The mathematical reasoning (cont.)</a:t>
            </a:r>
            <a:endParaRPr lang="en-US" sz="1800" dirty="0"/>
          </a:p>
        </p:txBody>
      </p:sp>
      <p:sp>
        <p:nvSpPr>
          <p:cNvPr id="4" name="Text 2"/>
          <p:cNvSpPr/>
          <p:nvPr/>
        </p:nvSpPr>
        <p:spPr>
          <a:xfrm>
            <a:off x="406301" y="883593"/>
            <a:ext cx="8331398" cy="2174230"/>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0113" y="883593"/>
            <a:ext cx="0" cy="2174230"/>
          </a:xfrm>
          <a:prstGeom prst="line">
            <a:avLst/>
          </a:prstGeom>
          <a:noFill/>
          <a:ln w="47625">
            <a:solidFill>
              <a:srgbClr val="277884"/>
            </a:solidFill>
            <a:prstDash val="solid"/>
          </a:ln>
        </p:spPr>
      </p:sp>
      <p:sp>
        <p:nvSpPr>
          <p:cNvPr id="6" name="Text 4"/>
          <p:cNvSpPr/>
          <p:nvPr/>
        </p:nvSpPr>
        <p:spPr>
          <a:xfrm>
            <a:off x="631627" y="1010543"/>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Column: 8, 7, 2, 6, 4</a:t>
            </a:r>
            <a:endParaRPr lang="en-US" sz="1100" dirty="0"/>
          </a:p>
        </p:txBody>
      </p:sp>
      <p:sp>
        <p:nvSpPr>
          <p:cNvPr id="7" name="Text 5"/>
          <p:cNvSpPr/>
          <p:nvPr/>
        </p:nvSpPr>
        <p:spPr>
          <a:xfrm>
            <a:off x="631627" y="1359694"/>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Direct addition: 8+7+2+6+4 = 27.</a:t>
            </a:r>
            <a:endParaRPr lang="en-US" sz="1100" dirty="0"/>
          </a:p>
        </p:txBody>
      </p:sp>
      <p:sp>
        <p:nvSpPr>
          <p:cNvPr id="8" name="Text 6"/>
          <p:cNvSpPr/>
          <p:nvPr/>
        </p:nvSpPr>
        <p:spPr>
          <a:xfrm>
            <a:off x="631627" y="1534269"/>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Units = 7. Carry = 2.</a:t>
            </a:r>
            <a:endParaRPr lang="en-US" sz="1100" dirty="0"/>
          </a:p>
        </p:txBody>
      </p:sp>
      <p:sp>
        <p:nvSpPr>
          <p:cNvPr id="9" name="Text 7"/>
          <p:cNvSpPr/>
          <p:nvPr/>
        </p:nvSpPr>
        <p:spPr>
          <a:xfrm>
            <a:off x="631627" y="1883420"/>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Dot method:</a:t>
            </a:r>
            <a:endParaRPr lang="en-US" sz="1100" dirty="0"/>
          </a:p>
        </p:txBody>
      </p:sp>
      <p:sp>
        <p:nvSpPr>
          <p:cNvPr id="10" name="Text 8"/>
          <p:cNvSpPr/>
          <p:nvPr/>
        </p:nvSpPr>
        <p:spPr>
          <a:xfrm>
            <a:off x="631627" y="2057995"/>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Start 0. +8 = 8. +7 = 15 → dot · on 7, total = 5.</a:t>
            </a:r>
            <a:endParaRPr lang="en-US" sz="1100" dirty="0"/>
          </a:p>
        </p:txBody>
      </p:sp>
      <p:sp>
        <p:nvSpPr>
          <p:cNvPr id="11" name="Text 9"/>
          <p:cNvSpPr/>
          <p:nvPr/>
        </p:nvSpPr>
        <p:spPr>
          <a:xfrm>
            <a:off x="631627" y="2232571"/>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+2 = 7. +6 = 13 → dot · on 6, total = 3. +4 = 7.</a:t>
            </a:r>
            <a:endParaRPr lang="en-US" sz="1100" dirty="0"/>
          </a:p>
        </p:txBody>
      </p:sp>
      <p:sp>
        <p:nvSpPr>
          <p:cNvPr id="12" name="Text 10"/>
          <p:cNvSpPr/>
          <p:nvPr/>
        </p:nvSpPr>
        <p:spPr>
          <a:xfrm>
            <a:off x="631627" y="2407146"/>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Units = 7. Dots = 2. Carry = 2.</a:t>
            </a:r>
            <a:endParaRPr lang="en-US" sz="1100" dirty="0"/>
          </a:p>
        </p:txBody>
      </p:sp>
      <p:sp>
        <p:nvSpPr>
          <p:cNvPr id="13" name="Text 11"/>
          <p:cNvSpPr/>
          <p:nvPr/>
        </p:nvSpPr>
        <p:spPr>
          <a:xfrm>
            <a:off x="631627" y="2756297"/>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Same answer.</a:t>
            </a:r>
            <a:endParaRPr lang="en-US" sz="1100" dirty="0"/>
          </a:p>
        </p:txBody>
      </p:sp>
      <p:sp>
        <p:nvSpPr>
          <p:cNvPr id="14" name="Text 1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 — The mathematical reasoning (cont.)</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Why? Because each dot is precisely "I just crossed 10."</a:t>
            </a:r>
            <a:endParaRPr lang="en-US" sz="1200" dirty="0"/>
          </a:p>
        </p:txBody>
      </p:sp>
      <p:sp>
        <p:nvSpPr>
          <p:cNvPr id="5" name="Text 3"/>
          <p:cNvSpPr/>
          <p:nvPr/>
        </p:nvSpPr>
        <p:spPr>
          <a:xfrm>
            <a:off x="634901" y="1266974"/>
            <a:ext cx="8102798" cy="7694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Crossing 10 once = 1 carry.</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Crossing 10 twice = 2 carry.</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The leftover is just whatever remains in the running total.</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 — The mathematical reasoning (cont.)</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Connection to Tirthaji's 16 sūtras.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Display the list:</a:t>
            </a:r>
            <a:endParaRPr lang="en-US" sz="1200" dirty="0"/>
          </a:p>
        </p:txBody>
      </p:sp>
      <p:sp>
        <p:nvSpPr>
          <p:cNvPr id="5" name="Text 3"/>
          <p:cNvSpPr/>
          <p:nvPr/>
        </p:nvSpPr>
        <p:spPr>
          <a:xfrm>
            <a:off x="634901" y="1266974"/>
            <a:ext cx="8102798" cy="142458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Sūtra #7: </a:t>
            </a:r>
            <a:pPr algn="l" indent="0" marL="0">
              <a:lnSpc>
                <a:spcPts val="1620"/>
              </a:lnSpc>
              <a:spcAft>
                <a:spcPts val="300"/>
              </a:spcAft>
              <a:buNone/>
            </a:pPr>
            <a:r>
              <a:rPr lang="en-US" sz="1200" b="1" dirty="0">
                <a:solidFill>
                  <a:srgbClr val="1C2833"/>
                </a:solidFill>
                <a:latin typeface="Arial" pitchFamily="34" charset="0"/>
                <a:ea typeface="Arial" pitchFamily="34" charset="-122"/>
                <a:cs typeface="Arial" pitchFamily="34" charset="-120"/>
              </a:rPr>
              <a:t>Sankalana Vyavakalanābhyām</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"by addition and by subtraction."</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Sūtra #8: </a:t>
            </a:r>
            <a:pPr algn="l" indent="0" marL="0">
              <a:lnSpc>
                <a:spcPts val="1620"/>
              </a:lnSpc>
              <a:spcAft>
                <a:spcPts val="300"/>
              </a:spcAft>
              <a:buNone/>
            </a:pPr>
            <a:r>
              <a:rPr lang="en-US" sz="1200" b="1" dirty="0">
                <a:solidFill>
                  <a:srgbClr val="1C2833"/>
                </a:solidFill>
                <a:latin typeface="Arial" pitchFamily="34" charset="0"/>
                <a:ea typeface="Arial" pitchFamily="34" charset="-122"/>
                <a:cs typeface="Arial" pitchFamily="34" charset="-120"/>
              </a:rPr>
              <a:t>Pūraṇāpūraṇābhyāṁ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"by completing or non-completing."</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The dot method is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not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itself one of these sūtras — it's a 20th-century pedagogical technique that uses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spirit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of these sūtras (looking for completions to a base).</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Be honest: "There is no ancient Sanskrit verse that says 'use the dot method.' What we have is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idea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of completion that classical Indian math used, and a modern teaching tool that makes it concrete."</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(15 min) — Explain to a friend</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Worksheet prompt:</a:t>
            </a:r>
            <a:endParaRPr lang="en-US" sz="1200" dirty="0"/>
          </a:p>
        </p:txBody>
      </p:sp>
      <p:sp>
        <p:nvSpPr>
          <p:cNvPr id="5" name="Text 3"/>
          <p:cNvSpPr/>
          <p:nvPr/>
        </p:nvSpPr>
        <p:spPr>
          <a:xfrm>
            <a:off x="406301" y="1266974"/>
            <a:ext cx="8331398" cy="842963"/>
          </a:xfrm>
          <a:prstGeom prst="rect">
            <a:avLst/>
          </a:prstGeom>
          <a:solidFill>
            <a:srgbClr val="F4F8F9"/>
          </a:solidFill>
          <a:ln/>
        </p:spPr>
        <p:txBody>
          <a:bodyPr wrap="square" rtlCol="0" anchor="ctr"/>
          <a:lstStyle/>
          <a:p>
            <a:pPr indent="0" marL="0">
              <a:buNone/>
            </a:pPr>
            <a:endParaRPr lang="en-US" dirty="0"/>
          </a:p>
        </p:txBody>
      </p:sp>
      <p:sp>
        <p:nvSpPr>
          <p:cNvPr id="6" name="Shape 4"/>
          <p:cNvSpPr/>
          <p:nvPr/>
        </p:nvSpPr>
        <p:spPr>
          <a:xfrm>
            <a:off x="434876" y="1266974"/>
            <a:ext cx="0" cy="842962"/>
          </a:xfrm>
          <a:prstGeom prst="line">
            <a:avLst/>
          </a:prstGeom>
          <a:noFill/>
          <a:ln w="57150">
            <a:solidFill>
              <a:srgbClr val="FE4447"/>
            </a:solidFill>
            <a:prstDash val="solid"/>
          </a:ln>
        </p:spPr>
      </p:sp>
      <p:sp>
        <p:nvSpPr>
          <p:cNvPr id="7" name="Text 5"/>
          <p:cNvSpPr/>
          <p:nvPr/>
        </p:nvSpPr>
        <p:spPr>
          <a:xfrm>
            <a:off x="692051" y="1457474"/>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Imagine your Grade 4 cousin asks: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"Why does that dot trick work? Isn't it just magic?"</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Write 4–6 sentences explaining why it's NOT magic. Use the words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carry</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place value</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and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10</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endParaRPr lang="en-US" sz="1300" dirty="0"/>
          </a:p>
        </p:txBody>
      </p:sp>
      <p:sp>
        <p:nvSpPr>
          <p:cNvPr id="8" name="Text 6"/>
          <p:cNvSpPr/>
          <p:nvPr/>
        </p:nvSpPr>
        <p:spPr>
          <a:xfrm>
            <a:off x="634901" y="2211437"/>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10 min individual writing. 5 min pair-sharing: read your paragraph to your partner; they tell you one part that's clear and one part that's unclear.</a:t>
            </a:r>
            <a:endParaRPr lang="en-US" sz="1200" dirty="0"/>
          </a:p>
        </p:txBody>
      </p:sp>
      <p:sp>
        <p:nvSpPr>
          <p:cNvPr id="9" name="Text 7"/>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Read aloud one strong paragraph (with permission).</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Preview Day 7: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"Tomorrow — using the same 'completion to 10' trick for mental addition of 2-digit numbers near a base."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2112169"/>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2112169"/>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Why the dot method works</a:t>
            </a:r>
            <a:endParaRPr lang="en-US" sz="1300" dirty="0"/>
          </a:p>
        </p:txBody>
      </p:sp>
      <p:sp>
        <p:nvSpPr>
          <p:cNvPr id="7" name="Text 5"/>
          <p:cNvSpPr/>
          <p:nvPr/>
        </p:nvSpPr>
        <p:spPr>
          <a:xfrm>
            <a:off x="692051" y="1343174"/>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 column of digits is in some place-value column — units, tens, hundreds. When the running total reaches 10, that's literally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one</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of the next place value. So the dot is just a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visible</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carry.</a:t>
            </a:r>
            <a:endParaRPr lang="en-US" sz="1300" dirty="0"/>
          </a:p>
        </p:txBody>
      </p:sp>
      <p:sp>
        <p:nvSpPr>
          <p:cNvPr id="8" name="Text 6"/>
          <p:cNvSpPr/>
          <p:nvPr/>
        </p:nvSpPr>
        <p:spPr>
          <a:xfrm>
            <a:off x="692051" y="1843236"/>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The 16 sūtras of Vedic mathematics (Tirthaji, 1965) include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Sankalana Vyavakalanābhyām</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("by addition and by subtraction") and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Pūraṇāpūraṇābhyāṁ</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("by completing or non-completing") — both use the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idea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of looking for completions to a base (like 10). The dot method makes this idea concrete and visible.</a:t>
            </a:r>
            <a:endParaRPr lang="en-US" sz="1300" dirty="0"/>
          </a:p>
        </p:txBody>
      </p:sp>
      <p:sp>
        <p:nvSpPr>
          <p:cNvPr id="9" name="Text 7"/>
          <p:cNvSpPr/>
          <p:nvPr/>
        </p:nvSpPr>
        <p:spPr>
          <a:xfrm>
            <a:off x="692051" y="2574280"/>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It is not magic. It is good notation.</a:t>
            </a:r>
            <a:endParaRPr lang="en-US" sz="1300" dirty="0"/>
          </a:p>
        </p:txBody>
      </p:sp>
      <p:sp>
        <p:nvSpPr>
          <p:cNvPr id="10" name="Text 8"/>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634901" y="88359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Find ONE example in your daily life where you naturally "complete to 10" without thinking. (E.g. adding tip to a bill — round to 10. Counting change. Adding minutes to a clock.) Write 2 sentences describing it.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Write a 1-paragraph explanation suitable for a Grade 11 student. Include the connection to base-10 representation and to the carry algorithm.</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Skip the writing; just verbalise the explanation to your partner.</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634901" y="883593"/>
            <a:ext cx="8102798" cy="9370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The honest "not in any sūtra" framing matters. Some students (or parents) believe the dot method is "ancient Vedic mathematics" — clarify gently. The achievement here is good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teaching</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which is also a real achievement.</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The most common error in student paragraphs: confusing the dot with "skip counting." Reinforce that the dot represents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the carry</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not "I'm skipping a number."</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634901" y="883593"/>
            <a:ext cx="8102798" cy="5256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Microsoft Word - sutras1.pdf</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list of 16 Tirthaji sūtras (sūtras #7 and #8 specifically).</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Optional teacher reference: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FUNDAMENTAL AND VEDIC MATHEMATICS .pdf</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full treatment.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2026-05-28T05:45:57Z</dcterms:created>
  <dcterms:modified xsi:type="dcterms:W3CDTF">2026-05-28T05:45:57Z</dcterms:modified>
</cp:coreProperties>
</file>