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380851"/>
            <a:ext cx="8498026" cy="350490"/>
          </a:xfrm>
          <a:prstGeom prst="rect">
            <a:avLst/>
          </a:prstGeom>
          <a:noFill/>
          <a:ln/>
        </p:spPr>
        <p:txBody>
          <a:bodyPr wrap="square" lIns="0" tIns="0" rIns="0" bIns="0" rtlCol="0" anchor="t"/>
          <a:lstStyle/>
          <a:p>
            <a:pPr algn="l" indent="0" marL="0">
              <a:lnSpc>
                <a:spcPts val="2760"/>
              </a:lnSpc>
              <a:spcAft>
                <a:spcPts val="1000"/>
              </a:spcAft>
              <a:buNone/>
            </a:pPr>
            <a:r>
              <a:rPr lang="en-US" sz="2400" b="1" dirty="0">
                <a:solidFill>
                  <a:srgbClr val="277884"/>
                </a:solidFill>
                <a:latin typeface="Georgia" pitchFamily="34" charset="0"/>
                <a:ea typeface="Georgia" pitchFamily="34" charset="-122"/>
                <a:cs typeface="Georgia" pitchFamily="34" charset="-120"/>
              </a:rPr>
              <a:t>Day 6 — Why It Works</a:t>
            </a:r>
            <a:endParaRPr lang="en-US" sz="2400" dirty="0"/>
          </a:p>
        </p:txBody>
      </p:sp>
      <p:sp>
        <p:nvSpPr>
          <p:cNvPr id="4" name="Text 2"/>
          <p:cNvSpPr/>
          <p:nvPr/>
        </p:nvSpPr>
        <p:spPr>
          <a:xfrm>
            <a:off x="406301" y="89639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Module: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Bindu Paddhati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Band:</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Middle ·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Time: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45 min</a:t>
            </a:r>
            <a:endParaRPr lang="en-US" sz="1200" dirty="0"/>
          </a:p>
        </p:txBody>
      </p:sp>
      <p:sp>
        <p:nvSpPr>
          <p:cNvPr id="5" name="Text 3"/>
          <p:cNvSpPr/>
          <p:nvPr/>
        </p:nvSpPr>
        <p:spPr>
          <a:xfrm>
            <a:off x="406301" y="1223963"/>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Learning objective</a:t>
            </a:r>
            <a:endParaRPr lang="en-US" sz="1800" dirty="0"/>
          </a:p>
        </p:txBody>
      </p:sp>
      <p:sp>
        <p:nvSpPr>
          <p:cNvPr id="6" name="Text 4"/>
          <p:cNvSpPr/>
          <p:nvPr/>
        </p:nvSpPr>
        <p:spPr>
          <a:xfrm>
            <a:off x="406301" y="163785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By the end of this lesson, students will explain in their own words why the dot method gives the same answer as the standard algorithm, citing place value and the fact that a "dot" represents a 10 carried.</a:t>
            </a:r>
            <a:endParaRPr lang="en-US" sz="1200" dirty="0"/>
          </a:p>
        </p:txBody>
      </p:sp>
      <p:sp>
        <p:nvSpPr>
          <p:cNvPr id="7" name="Text 5"/>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Materials</a:t>
            </a:r>
            <a:endParaRPr lang="en-US" sz="1800" dirty="0"/>
          </a:p>
        </p:txBody>
      </p:sp>
      <p:sp>
        <p:nvSpPr>
          <p:cNvPr id="4" name="Text 2"/>
          <p:cNvSpPr/>
          <p:nvPr/>
        </p:nvSpPr>
        <p:spPr>
          <a:xfrm>
            <a:off x="406301" y="870942"/>
            <a:ext cx="8498026" cy="436066"/>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Whiteboard. – The 16-Sūtra list (</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Microsoft Word - sutras1.pdf</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printed and visible. – Worksheet: "explain to a friend" prompt + space.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Lesson flow</a:t>
            </a:r>
            <a:endParaRPr lang="en-US" sz="1800" dirty="0"/>
          </a:p>
        </p:txBody>
      </p:sp>
      <p:sp>
        <p:nvSpPr>
          <p:cNvPr id="4" name="Text 2"/>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Warm-up (5 min)</a:t>
            </a:r>
            <a:endParaRPr lang="en-US" sz="1800" dirty="0"/>
          </a:p>
        </p:txBody>
      </p:sp>
      <p:sp>
        <p:nvSpPr>
          <p:cNvPr id="4" name="Text 2"/>
          <p:cNvSpPr/>
          <p:nvPr/>
        </p:nvSpPr>
        <p:spPr>
          <a:xfrm>
            <a:off x="406301" y="870942"/>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Make-10 round. – Hand back formative. Discuss any common error pattern from the quiz briefly.</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Core (20 min) — The mathematical reasoning</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The core claim</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(write boxed on the board):</a:t>
            </a:r>
            <a:endParaRPr lang="en-US" sz="1200" dirty="0"/>
          </a:p>
        </p:txBody>
      </p:sp>
      <p:sp>
        <p:nvSpPr>
          <p:cNvPr id="5" name="Text 3"/>
          <p:cNvSpPr/>
          <p:nvPr/>
        </p:nvSpPr>
        <p:spPr>
          <a:xfrm>
            <a:off x="406301" y="1254323"/>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&gt;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A dot in a column represents "10 has been used up." Since 10 in any column equals 1 in the next column, the dot count is the carry.</a:t>
            </a:r>
            <a:endParaRPr lang="en-US" sz="1200" dirty="0"/>
          </a:p>
        </p:txBody>
      </p:sp>
      <p:sp>
        <p:nvSpPr>
          <p:cNvPr id="6" name="Text 4"/>
          <p:cNvSpPr/>
          <p:nvPr/>
        </p:nvSpPr>
        <p:spPr>
          <a:xfrm>
            <a:off x="634901" y="1769715"/>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Walk through a simple example to prove it</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7" name="Text 5"/>
          <p:cNvSpPr/>
          <p:nvPr/>
        </p:nvSpPr>
        <p:spPr>
          <a:xfrm>
            <a:off x="406301" y="2153096"/>
            <a:ext cx="8331398" cy="2174230"/>
          </a:xfrm>
          <a:prstGeom prst="rect">
            <a:avLst/>
          </a:prstGeom>
          <a:solidFill>
            <a:srgbClr val="F4F8F9"/>
          </a:solidFill>
          <a:ln/>
        </p:spPr>
        <p:txBody>
          <a:bodyPr wrap="square" rtlCol="0" anchor="ctr"/>
          <a:lstStyle/>
          <a:p>
            <a:pPr indent="0" marL="0">
              <a:buNone/>
            </a:pPr>
            <a:endParaRPr lang="en-US" dirty="0"/>
          </a:p>
        </p:txBody>
      </p:sp>
      <p:sp>
        <p:nvSpPr>
          <p:cNvPr id="8" name="Shape 6"/>
          <p:cNvSpPr/>
          <p:nvPr/>
        </p:nvSpPr>
        <p:spPr>
          <a:xfrm>
            <a:off x="430113" y="2153096"/>
            <a:ext cx="0" cy="2174230"/>
          </a:xfrm>
          <a:prstGeom prst="line">
            <a:avLst/>
          </a:prstGeom>
          <a:noFill/>
          <a:ln w="47625">
            <a:solidFill>
              <a:srgbClr val="277884"/>
            </a:solidFill>
            <a:prstDash val="solid"/>
          </a:ln>
        </p:spPr>
      </p:sp>
      <p:sp>
        <p:nvSpPr>
          <p:cNvPr id="9" name="Text 7"/>
          <p:cNvSpPr/>
          <p:nvPr/>
        </p:nvSpPr>
        <p:spPr>
          <a:xfrm>
            <a:off x="631627" y="2280047"/>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Column: 8, 7, 2, 6, 4</a:t>
            </a:r>
            <a:endParaRPr lang="en-US" sz="1100" dirty="0"/>
          </a:p>
        </p:txBody>
      </p:sp>
      <p:sp>
        <p:nvSpPr>
          <p:cNvPr id="10" name="Text 8"/>
          <p:cNvSpPr/>
          <p:nvPr/>
        </p:nvSpPr>
        <p:spPr>
          <a:xfrm>
            <a:off x="631627" y="2629198"/>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Direct addition: 8+7+2+6+4 = 27.</a:t>
            </a:r>
            <a:endParaRPr lang="en-US" sz="1100" dirty="0"/>
          </a:p>
        </p:txBody>
      </p:sp>
      <p:sp>
        <p:nvSpPr>
          <p:cNvPr id="11" name="Text 9"/>
          <p:cNvSpPr/>
          <p:nvPr/>
        </p:nvSpPr>
        <p:spPr>
          <a:xfrm>
            <a:off x="631627" y="2803773"/>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Units = 7. Carry = 2.</a:t>
            </a:r>
            <a:endParaRPr lang="en-US" sz="1100" dirty="0"/>
          </a:p>
        </p:txBody>
      </p:sp>
      <p:sp>
        <p:nvSpPr>
          <p:cNvPr id="12" name="Text 10"/>
          <p:cNvSpPr/>
          <p:nvPr/>
        </p:nvSpPr>
        <p:spPr>
          <a:xfrm>
            <a:off x="631627" y="3152924"/>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Dot method:</a:t>
            </a:r>
            <a:endParaRPr lang="en-US" sz="1100" dirty="0"/>
          </a:p>
        </p:txBody>
      </p:sp>
      <p:sp>
        <p:nvSpPr>
          <p:cNvPr id="13" name="Text 11"/>
          <p:cNvSpPr/>
          <p:nvPr/>
        </p:nvSpPr>
        <p:spPr>
          <a:xfrm>
            <a:off x="631627" y="3327499"/>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Start 0. +8 = 8. +7 = 15 → dot · on 7, total = 5.</a:t>
            </a:r>
            <a:endParaRPr lang="en-US" sz="1100" dirty="0"/>
          </a:p>
        </p:txBody>
      </p:sp>
      <p:sp>
        <p:nvSpPr>
          <p:cNvPr id="14" name="Text 12"/>
          <p:cNvSpPr/>
          <p:nvPr/>
        </p:nvSpPr>
        <p:spPr>
          <a:xfrm>
            <a:off x="631627" y="3502075"/>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+2 = 7. +6 = 13 → dot · on 6, total = 3. +4 = 7.</a:t>
            </a:r>
            <a:endParaRPr lang="en-US" sz="1100" dirty="0"/>
          </a:p>
        </p:txBody>
      </p:sp>
      <p:sp>
        <p:nvSpPr>
          <p:cNvPr id="15" name="Text 13"/>
          <p:cNvSpPr/>
          <p:nvPr/>
        </p:nvSpPr>
        <p:spPr>
          <a:xfrm>
            <a:off x="631627" y="3676650"/>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Units = 7. Dots = 2. Carry = 2.</a:t>
            </a:r>
            <a:endParaRPr lang="en-US" sz="1100" dirty="0"/>
          </a:p>
        </p:txBody>
      </p:sp>
      <p:sp>
        <p:nvSpPr>
          <p:cNvPr id="16" name="Text 14"/>
          <p:cNvSpPr/>
          <p:nvPr/>
        </p:nvSpPr>
        <p:spPr>
          <a:xfrm>
            <a:off x="631627" y="4025801"/>
            <a:ext cx="8086939" cy="174575"/>
          </a:xfrm>
          <a:prstGeom prst="rect">
            <a:avLst/>
          </a:prstGeom>
          <a:noFill/>
          <a:ln/>
        </p:spPr>
        <p:txBody>
          <a:bodyPr wrap="square" lIns="0" tIns="0" rIns="0" bIns="0" rtlCol="0" anchor="t"/>
          <a:lstStyle/>
          <a:p>
            <a:pPr algn="l" indent="0" marL="0">
              <a:lnSpc>
                <a:spcPts val="1375"/>
              </a:lnSpc>
              <a:buNone/>
            </a:pPr>
            <a:r>
              <a:rPr lang="en-US" sz="1100" dirty="0">
                <a:solidFill>
                  <a:srgbClr val="1C2833"/>
                </a:solidFill>
                <a:latin typeface="Courier New" pitchFamily="34" charset="0"/>
                <a:ea typeface="Courier New" pitchFamily="34" charset="-122"/>
                <a:cs typeface="Courier New" pitchFamily="34" charset="-120"/>
              </a:rPr>
              <a:t>Same answer.</a:t>
            </a:r>
            <a:endParaRPr lang="en-US" sz="1100" dirty="0"/>
          </a:p>
        </p:txBody>
      </p:sp>
      <p:sp>
        <p:nvSpPr>
          <p:cNvPr id="17" name="Text 15"/>
          <p:cNvSpPr/>
          <p:nvPr/>
        </p:nvSpPr>
        <p:spPr>
          <a:xfrm>
            <a:off x="634901" y="4428827"/>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Why? Because each dot is precisely "I just crossed 10."</a:t>
            </a:r>
            <a:endParaRPr lang="en-US" sz="1200" dirty="0"/>
          </a:p>
        </p:txBody>
      </p:sp>
      <p:sp>
        <p:nvSpPr>
          <p:cNvPr id="18" name="Text 16"/>
          <p:cNvSpPr/>
          <p:nvPr/>
        </p:nvSpPr>
        <p:spPr>
          <a:xfrm>
            <a:off x="406301" y="4799558"/>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Crossing 10 once = 1 carry.    – Crossing 10 twice = 2 carry.    – The leftover is just whatever remains in the running total.</a:t>
            </a:r>
            <a:endParaRPr lang="en-US" sz="1200" dirty="0"/>
          </a:p>
        </p:txBody>
      </p:sp>
      <p:sp>
        <p:nvSpPr>
          <p:cNvPr id="19" name="Text 17"/>
          <p:cNvSpPr/>
          <p:nvPr/>
        </p:nvSpPr>
        <p:spPr>
          <a:xfrm>
            <a:off x="634901" y="5101679"/>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Connection to Tirthaji's 16 sūtras.</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Display the list:</a:t>
            </a:r>
            <a:endParaRPr lang="en-US" sz="1200" dirty="0"/>
          </a:p>
        </p:txBody>
      </p:sp>
      <p:sp>
        <p:nvSpPr>
          <p:cNvPr id="20" name="Text 18"/>
          <p:cNvSpPr/>
          <p:nvPr/>
        </p:nvSpPr>
        <p:spPr>
          <a:xfrm>
            <a:off x="406301" y="5472410"/>
            <a:ext cx="8498026" cy="1066354"/>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Sūtra #7: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Sankalana Vyavakalanābhyām</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"by addition and by subtraction." – Sūtra #8: </a:t>
            </a:r>
            <a:pPr algn="l" indent="0" marL="0">
              <a:lnSpc>
                <a:spcPts val="1680"/>
              </a:lnSpc>
              <a:spcBef>
                <a:spcPts val="300"/>
              </a:spcBef>
              <a:spcAft>
                <a:spcPts val="300"/>
              </a:spcAft>
              <a:buNone/>
            </a:pPr>
            <a:r>
              <a:rPr lang="en-US" sz="1200" b="1" dirty="0">
                <a:solidFill>
                  <a:srgbClr val="1C2833"/>
                </a:solidFill>
                <a:latin typeface="Arial" pitchFamily="34" charset="0"/>
                <a:ea typeface="Arial" pitchFamily="34" charset="-122"/>
                <a:cs typeface="Arial" pitchFamily="34" charset="-120"/>
              </a:rPr>
              <a:t>Pūraṇāpūraṇābhyāṁ</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 "by completing or non-completing." – The dot method is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not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itself one of these sūtras — it's a 20th-century pedagogical technique that uses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spirit</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of these sūtras (looking for completions to a base). – Be honest: "There is no ancient Sanskrit verse that says 'use the dot method.' What we have is the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idea</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of completion that classical Indian math used, and a modern teaching tool that makes it concrete."</a:t>
            </a:r>
            <a:endParaRPr lang="en-US" sz="1200" dirty="0"/>
          </a:p>
        </p:txBody>
      </p:sp>
      <p:sp>
        <p:nvSpPr>
          <p:cNvPr id="21" name="Text 19"/>
          <p:cNvSpPr/>
          <p:nvPr/>
        </p:nvSpPr>
        <p:spPr>
          <a:xfrm>
            <a:off x="406301" y="6691164"/>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Activity (15 min) — Explain to a friend</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Worksheet prompt: &gt; Imagine your Grade 4 cousin asks: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"Why does that dot trick work? Isn't it just magic?"</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Write 4–6 sentences explaining why it's NOT magic. Use the words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carry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place value</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and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10</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a:t>
            </a:r>
            <a:endParaRPr lang="en-US" sz="1200" dirty="0"/>
          </a:p>
        </p:txBody>
      </p:sp>
      <p:sp>
        <p:nvSpPr>
          <p:cNvPr id="5" name="Text 3"/>
          <p:cNvSpPr/>
          <p:nvPr/>
        </p:nvSpPr>
        <p:spPr>
          <a:xfrm>
            <a:off x="406301" y="1373684"/>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10 min individual writing. 5 min pair-sharing: read your paragraph to your partner; they tell you one part that's clear and one part that's unclear.</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Wrap-up (5 min)</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Read aloud one strong paragraph (with permission). – Preview Day 7: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"Tomorrow — using the same 'completion to 10' trick for mental addition of 2-digit numbers near a base."</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Student-facing content</a:t>
            </a:r>
            <a:endParaRPr lang="en-US" sz="1800" dirty="0"/>
          </a:p>
        </p:txBody>
      </p:sp>
      <p:sp>
        <p:nvSpPr>
          <p:cNvPr id="4" name="Text 2"/>
          <p:cNvSpPr/>
          <p:nvPr/>
        </p:nvSpPr>
        <p:spPr>
          <a:xfrm>
            <a:off x="406301" y="883593"/>
            <a:ext cx="8331398" cy="2112169"/>
          </a:xfrm>
          <a:prstGeom prst="rect">
            <a:avLst/>
          </a:prstGeom>
          <a:solidFill>
            <a:srgbClr val="F4F8F9"/>
          </a:solidFill>
          <a:ln/>
        </p:spPr>
        <p:txBody>
          <a:bodyPr wrap="square" rtlCol="0" anchor="ctr"/>
          <a:lstStyle/>
          <a:p>
            <a:pPr indent="0" marL="0">
              <a:buNone/>
            </a:pPr>
            <a:endParaRPr lang="en-US" dirty="0"/>
          </a:p>
        </p:txBody>
      </p:sp>
      <p:sp>
        <p:nvSpPr>
          <p:cNvPr id="5" name="Shape 3"/>
          <p:cNvSpPr/>
          <p:nvPr/>
        </p:nvSpPr>
        <p:spPr>
          <a:xfrm>
            <a:off x="434876" y="883593"/>
            <a:ext cx="0" cy="2112169"/>
          </a:xfrm>
          <a:prstGeom prst="line">
            <a:avLst/>
          </a:prstGeom>
          <a:noFill/>
          <a:ln w="57150">
            <a:solidFill>
              <a:srgbClr val="FE4447"/>
            </a:solidFill>
            <a:prstDash val="solid"/>
          </a:ln>
        </p:spPr>
      </p:sp>
      <p:sp>
        <p:nvSpPr>
          <p:cNvPr id="6" name="Text 4"/>
          <p:cNvSpPr/>
          <p:nvPr/>
        </p:nvSpPr>
        <p:spPr>
          <a:xfrm>
            <a:off x="692051" y="1074093"/>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Why the dot method works</a:t>
            </a:r>
            <a:endParaRPr lang="en-US" sz="1300" dirty="0"/>
          </a:p>
        </p:txBody>
      </p:sp>
      <p:sp>
        <p:nvSpPr>
          <p:cNvPr id="7" name="Text 5"/>
          <p:cNvSpPr/>
          <p:nvPr/>
        </p:nvSpPr>
        <p:spPr>
          <a:xfrm>
            <a:off x="692051" y="1343174"/>
            <a:ext cx="7973389" cy="461963"/>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A column of digits is in some place-value column — units, tens, hundreds. When the running total reaches 10, that's literally </a:t>
            </a:r>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one</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of the next place value. So the dot is just a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visible</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carry.</a:t>
            </a:r>
            <a:endParaRPr lang="en-US" sz="1300" dirty="0"/>
          </a:p>
        </p:txBody>
      </p:sp>
      <p:sp>
        <p:nvSpPr>
          <p:cNvPr id="8" name="Text 6"/>
          <p:cNvSpPr/>
          <p:nvPr/>
        </p:nvSpPr>
        <p:spPr>
          <a:xfrm>
            <a:off x="692051" y="1843236"/>
            <a:ext cx="7973389" cy="692944"/>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The 16 sūtras of Vedic mathematics (Tirthaji, 1965) include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Sankalana Vyavakalanābhyām</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("by addition and by subtraction") and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Pūraṇāpūraṇābhyāṁ</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("by completing or non-completing") — both use the </a:t>
            </a:r>
            <a:pPr algn="l" indent="0" marL="0">
              <a:lnSpc>
                <a:spcPts val="1820"/>
              </a:lnSpc>
              <a:spcBef>
                <a:spcPts val="300"/>
              </a:spcBef>
              <a:spcAft>
                <a:spcPts val="300"/>
              </a:spcAft>
              <a:buNone/>
            </a:pPr>
            <a:r>
              <a:rPr lang="en-US" sz="1300" i="1" dirty="0">
                <a:solidFill>
                  <a:srgbClr val="1C2833"/>
                </a:solidFill>
                <a:latin typeface="Georgia" pitchFamily="34" charset="0"/>
                <a:ea typeface="Georgia" pitchFamily="34" charset="-122"/>
                <a:cs typeface="Georgia" pitchFamily="34" charset="-120"/>
              </a:rPr>
              <a:t>idea</a:t>
            </a:r>
            <a:pPr algn="l" indent="0" marL="0">
              <a:lnSpc>
                <a:spcPts val="1820"/>
              </a:lnSpc>
              <a:spcBef>
                <a:spcPts val="300"/>
              </a:spcBef>
              <a:spcAft>
                <a:spcPts val="300"/>
              </a:spcAft>
              <a:buNone/>
            </a:pPr>
            <a:r>
              <a:rPr lang="en-US" sz="1300" dirty="0">
                <a:solidFill>
                  <a:srgbClr val="1C2833"/>
                </a:solidFill>
                <a:latin typeface="Georgia" pitchFamily="34" charset="0"/>
                <a:ea typeface="Georgia" pitchFamily="34" charset="-122"/>
                <a:cs typeface="Georgia" pitchFamily="34" charset="-120"/>
              </a:rPr>
              <a:t> of looking for completions to a base (like 10). The dot method makes this idea concrete and visible.</a:t>
            </a:r>
            <a:endParaRPr lang="en-US" sz="1300" dirty="0"/>
          </a:p>
        </p:txBody>
      </p:sp>
      <p:sp>
        <p:nvSpPr>
          <p:cNvPr id="9" name="Text 7"/>
          <p:cNvSpPr/>
          <p:nvPr/>
        </p:nvSpPr>
        <p:spPr>
          <a:xfrm>
            <a:off x="692051" y="2574280"/>
            <a:ext cx="7973389" cy="230981"/>
          </a:xfrm>
          <a:prstGeom prst="rect">
            <a:avLst/>
          </a:prstGeom>
          <a:noFill/>
          <a:ln/>
        </p:spPr>
        <p:txBody>
          <a:bodyPr wrap="square" lIns="0" tIns="0" rIns="0" bIns="0" rtlCol="0" anchor="t"/>
          <a:lstStyle/>
          <a:p>
            <a:pPr algn="l" indent="0" marL="0">
              <a:lnSpc>
                <a:spcPts val="1820"/>
              </a:lnSpc>
              <a:spcBef>
                <a:spcPts val="300"/>
              </a:spcBef>
              <a:spcAft>
                <a:spcPts val="300"/>
              </a:spcAft>
              <a:buNone/>
            </a:pPr>
            <a:r>
              <a:rPr lang="en-US" sz="1300" b="1" i="1" dirty="0">
                <a:solidFill>
                  <a:srgbClr val="1C2833"/>
                </a:solidFill>
                <a:latin typeface="Georgia" pitchFamily="34" charset="0"/>
                <a:ea typeface="Georgia" pitchFamily="34" charset="-122"/>
                <a:cs typeface="Georgia" pitchFamily="34" charset="-120"/>
              </a:rPr>
              <a:t>It is not magic. It is good notation.</a:t>
            </a:r>
            <a:endParaRPr lang="en-US" sz="1300" dirty="0"/>
          </a:p>
        </p:txBody>
      </p:sp>
      <p:sp>
        <p:nvSpPr>
          <p:cNvPr id="10" name="Text 8"/>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Homework</a:t>
            </a:r>
            <a:endParaRPr lang="en-US" sz="1800" dirty="0"/>
          </a:p>
        </p:txBody>
      </p:sp>
      <p:sp>
        <p:nvSpPr>
          <p:cNvPr id="4" name="Text 2"/>
          <p:cNvSpPr/>
          <p:nvPr/>
        </p:nvSpPr>
        <p:spPr>
          <a:xfrm>
            <a:off x="406301" y="870942"/>
            <a:ext cx="8498026" cy="42654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Find ONE example in your daily life where you naturally "complete to 10" without thinking. (E.g. adding tip to a bill — round to 10. Counting change. Adding minutes to a clock.) Write 2 sentences describing it.</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Differentiation</a:t>
            </a:r>
            <a:endParaRPr lang="en-US" sz="1800" dirty="0"/>
          </a:p>
        </p:txBody>
      </p:sp>
      <p:sp>
        <p:nvSpPr>
          <p:cNvPr id="4" name="Text 2"/>
          <p:cNvSpPr/>
          <p:nvPr/>
        </p:nvSpPr>
        <p:spPr>
          <a:xfrm>
            <a:off x="634901" y="883593"/>
            <a:ext cx="8102798" cy="731341"/>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up:</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Write a 1-paragraph explanation suitable for a Grade 11 student. Include the connection to base-10 representation and to the carry algorithm.</a:t>
            </a:r>
            <a:endParaRPr lang="en-US" sz="1200" dirty="0"/>
          </a:p>
          <a:p>
            <a:pPr algn="l" marL="342900" indent="-342900">
              <a:lnSpc>
                <a:spcPts val="1620"/>
              </a:lnSpc>
              <a:spcAft>
                <a:spcPts val="300"/>
              </a:spcAft>
              <a:buSzPct val="100000"/>
              <a:buChar char="•"/>
            </a:pPr>
            <a:r>
              <a:rPr lang="en-US" sz="1200" b="1" dirty="0">
                <a:solidFill>
                  <a:srgbClr val="1C2833"/>
                </a:solidFill>
                <a:latin typeface="Arial" pitchFamily="34" charset="0"/>
                <a:ea typeface="Arial" pitchFamily="34" charset="-122"/>
                <a:cs typeface="Arial" pitchFamily="34" charset="-120"/>
              </a:rPr>
              <a:t>Tier down:</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Skip the writing; just verbalise the explanation to your partner.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Teacher notes</a:t>
            </a:r>
            <a:endParaRPr lang="en-US" sz="1800" dirty="0"/>
          </a:p>
        </p:txBody>
      </p:sp>
      <p:sp>
        <p:nvSpPr>
          <p:cNvPr id="4" name="Text 2"/>
          <p:cNvSpPr/>
          <p:nvPr/>
        </p:nvSpPr>
        <p:spPr>
          <a:xfrm>
            <a:off x="406301" y="870942"/>
            <a:ext cx="8498026" cy="853083"/>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The honest "not in any sūtra" framing matters. Some students (or parents) believe the dot method is "ancient Vedic mathematics" — clarify gently. The achievement here is good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teaching</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which is also a real achievement. – The most common error in student paragraphs: confusing the dot with "skip counting." Reinforce that the dot represents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the carry</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not "I'm skipping a number."</a:t>
            </a:r>
            <a:endParaRPr lang="en-US" sz="1200" dirty="0"/>
          </a:p>
        </p:txBody>
      </p:sp>
      <p:sp>
        <p:nvSpPr>
          <p:cNvPr id="5" name="Text 3"/>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0" y="0"/>
            <a:ext cx="9144000" cy="101501"/>
          </a:xfrm>
          <a:prstGeom prst="rect">
            <a:avLst/>
          </a:prstGeom>
          <a:solidFill>
            <a:srgbClr val="277884"/>
          </a:solidFill>
          <a:ln/>
        </p:spPr>
        <p:txBody>
          <a:bodyPr wrap="square" rtlCol="0" anchor="ctr"/>
          <a:lstStyle/>
          <a:p>
            <a:pPr indent="0" marL="0">
              <a:buNone/>
            </a:pPr>
            <a:endParaRPr lang="en-US" dirty="0"/>
          </a:p>
        </p:txBody>
      </p:sp>
      <p:sp>
        <p:nvSpPr>
          <p:cNvPr id="3" name="Text 1"/>
          <p:cNvSpPr/>
          <p:nvPr/>
        </p:nvSpPr>
        <p:spPr>
          <a:xfrm>
            <a:off x="406301" y="457051"/>
            <a:ext cx="8498026" cy="274290"/>
          </a:xfrm>
          <a:prstGeom prst="rect">
            <a:avLst/>
          </a:prstGeom>
          <a:noFill/>
          <a:ln/>
        </p:spPr>
        <p:txBody>
          <a:bodyPr wrap="square" lIns="0" tIns="0" rIns="0" bIns="0" rtlCol="0" anchor="t"/>
          <a:lstStyle/>
          <a:p>
            <a:pPr algn="l" indent="0" marL="0">
              <a:lnSpc>
                <a:spcPts val="2160"/>
              </a:lnSpc>
              <a:spcBef>
                <a:spcPts val="600"/>
              </a:spcBef>
              <a:spcAft>
                <a:spcPts val="800"/>
              </a:spcAft>
              <a:buNone/>
            </a:pPr>
            <a:r>
              <a:rPr lang="en-US" sz="1800" b="1" dirty="0">
                <a:solidFill>
                  <a:srgbClr val="FE4447"/>
                </a:solidFill>
                <a:latin typeface="Georgia" pitchFamily="34" charset="0"/>
                <a:ea typeface="Georgia" pitchFamily="34" charset="-122"/>
                <a:cs typeface="Georgia" pitchFamily="34" charset="-120"/>
              </a:rPr>
              <a:t>Citation(s) used in this lesson</a:t>
            </a:r>
            <a:endParaRPr lang="en-US" sz="1800" dirty="0"/>
          </a:p>
        </p:txBody>
      </p:sp>
      <p:sp>
        <p:nvSpPr>
          <p:cNvPr id="4" name="Text 2"/>
          <p:cNvSpPr/>
          <p:nvPr/>
        </p:nvSpPr>
        <p:spPr>
          <a:xfrm>
            <a:off x="634901" y="883593"/>
            <a:ext cx="8102798" cy="281880"/>
          </a:xfrm>
          <a:prstGeom prst="rect">
            <a:avLst/>
          </a:prstGeom>
          <a:noFill/>
          <a:ln/>
        </p:spPr>
        <p:txBody>
          <a:bodyPr wrap="square" lIns="0" tIns="0" rIns="0" bIns="0" rtlCol="0" anchor="t"/>
          <a:lstStyle/>
          <a:p>
            <a:pPr algn="l" marL="342900" indent="-342900">
              <a:lnSpc>
                <a:spcPts val="1620"/>
              </a:lnSpc>
              <a:spcAft>
                <a:spcPts val="300"/>
              </a:spcAft>
              <a:buSzPct val="100000"/>
              <a:buChar char="•"/>
            </a:pPr>
            <a:r>
              <a:rPr lang="en-US" sz="1200" i="1" dirty="0">
                <a:solidFill>
                  <a:srgbClr val="1C2833"/>
                </a:solidFill>
                <a:latin typeface="Arial" pitchFamily="34" charset="0"/>
                <a:ea typeface="Arial" pitchFamily="34" charset="-122"/>
                <a:cs typeface="Arial" pitchFamily="34" charset="-120"/>
              </a:rPr>
              <a:t>Microsoft Word - sutras1.pdf</a:t>
            </a:r>
            <a:pPr algn="l" indent="0" marL="0">
              <a:lnSpc>
                <a:spcPts val="1620"/>
              </a:lnSpc>
              <a:spcAft>
                <a:spcPts val="300"/>
              </a:spcAft>
              <a:buNone/>
            </a:pPr>
            <a:r>
              <a:rPr lang="en-US" sz="1200" dirty="0">
                <a:solidFill>
                  <a:srgbClr val="1C2833"/>
                </a:solidFill>
                <a:latin typeface="Arial" pitchFamily="34" charset="0"/>
                <a:ea typeface="Arial" pitchFamily="34" charset="-122"/>
                <a:cs typeface="Arial" pitchFamily="34" charset="-120"/>
              </a:rPr>
              <a:t> — list of 16 Tirthaji sūtras (sūtras #7 and #8 specifically).</a:t>
            </a:r>
            <a:endParaRPr lang="en-US" sz="1200" dirty="0"/>
          </a:p>
        </p:txBody>
      </p:sp>
      <p:sp>
        <p:nvSpPr>
          <p:cNvPr id="5" name="Text 3"/>
          <p:cNvSpPr/>
          <p:nvPr/>
        </p:nvSpPr>
        <p:spPr>
          <a:xfrm>
            <a:off x="406301" y="1254323"/>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Optional teacher reference: </a:t>
            </a:r>
            <a:pPr algn="l" indent="0" marL="0">
              <a:lnSpc>
                <a:spcPts val="1680"/>
              </a:lnSpc>
              <a:spcBef>
                <a:spcPts val="300"/>
              </a:spcBef>
              <a:spcAft>
                <a:spcPts val="300"/>
              </a:spcAft>
              <a:buNone/>
            </a:pPr>
            <a:r>
              <a:rPr lang="en-US" sz="1200" i="1" dirty="0">
                <a:solidFill>
                  <a:srgbClr val="1C2833"/>
                </a:solidFill>
                <a:latin typeface="Arial" pitchFamily="34" charset="0"/>
                <a:ea typeface="Arial" pitchFamily="34" charset="-122"/>
                <a:cs typeface="Arial" pitchFamily="34" charset="-120"/>
              </a:rPr>
              <a:t>FUNDAMENTAL AND VEDIC MATHEMATICS .pdf</a:t>
            </a:r>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 full treatment.</a:t>
            </a:r>
            <a:endParaRPr lang="en-US" sz="1200" dirty="0"/>
          </a:p>
        </p:txBody>
      </p:sp>
      <p:sp>
        <p:nvSpPr>
          <p:cNvPr id="6" name="Text 4"/>
          <p:cNvSpPr/>
          <p:nvPr/>
        </p:nvSpPr>
        <p:spPr>
          <a:xfrm>
            <a:off x="406301" y="4434929"/>
            <a:ext cx="8498026" cy="213271"/>
          </a:xfrm>
          <a:prstGeom prst="rect">
            <a:avLst/>
          </a:prstGeom>
          <a:noFill/>
          <a:ln/>
        </p:spPr>
        <p:txBody>
          <a:bodyPr wrap="square" lIns="0" tIns="0" rIns="0" bIns="0" rtlCol="0" anchor="t"/>
          <a:lstStyle/>
          <a:p>
            <a:pPr algn="l" indent="0" marL="0">
              <a:lnSpc>
                <a:spcPts val="1680"/>
              </a:lnSpc>
              <a:spcBef>
                <a:spcPts val="300"/>
              </a:spcBef>
              <a:spcAft>
                <a:spcPts val="300"/>
              </a:spcAft>
              <a:buNone/>
            </a:pPr>
            <a:r>
              <a:rPr lang="en-US" sz="1200" dirty="0">
                <a:solidFill>
                  <a:srgbClr val="1C2833"/>
                </a:solidFill>
                <a:latin typeface="Arial" pitchFamily="34" charset="0"/>
                <a:ea typeface="Arial" pitchFamily="34" charset="-122"/>
                <a:cs typeface="Arial" pitchFamily="34" charset="-120"/>
              </a:rPr>
              <a:t>Middle ·  · IKS Curriculum</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 Middle</dc:title>
  <dc:subject>PptxGenJS Presentation</dc:subject>
  <dc:creator>IKS Curriculum</dc:creator>
  <cp:lastModifiedBy>IKS Curriculum</cp:lastModifiedBy>
  <cp:revision>1</cp:revision>
  <dcterms:created xsi:type="dcterms:W3CDTF">2026-05-28T04:18:10Z</dcterms:created>
  <dcterms:modified xsi:type="dcterms:W3CDTF">2026-05-28T04:18:10Z</dcterms:modified>
</cp:coreProperties>
</file>