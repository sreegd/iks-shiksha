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380851"/>
            <a:ext cx="8498026" cy="350490"/>
          </a:xfrm>
          <a:prstGeom prst="rect">
            <a:avLst/>
          </a:prstGeom>
          <a:noFill/>
          <a:ln/>
        </p:spPr>
        <p:txBody>
          <a:bodyPr wrap="square" lIns="0" tIns="0" rIns="0" bIns="0" rtlCol="0" anchor="t"/>
          <a:lstStyle/>
          <a:p>
            <a:pPr algn="l" indent="0" marL="0">
              <a:lnSpc>
                <a:spcPts val="2760"/>
              </a:lnSpc>
              <a:spcAft>
                <a:spcPts val="1000"/>
              </a:spcAft>
              <a:buNone/>
            </a:pPr>
            <a:r>
              <a:rPr lang="en-US" sz="2400" b="1" dirty="0">
                <a:solidFill>
                  <a:srgbClr val="5D1D2E"/>
                </a:solidFill>
                <a:latin typeface="Times New Roman" pitchFamily="34" charset="0"/>
                <a:ea typeface="Times New Roman" pitchFamily="34" charset="-122"/>
                <a:cs typeface="Times New Roman" pitchFamily="34" charset="-120"/>
              </a:rPr>
              <a:t>Day 3 — Rivers as Sacred</a:t>
            </a:r>
            <a:endParaRPr lang="en-US" sz="2400" dirty="0"/>
          </a:p>
        </p:txBody>
      </p:sp>
      <p:sp>
        <p:nvSpPr>
          <p:cNvPr id="4" name="Text 2"/>
          <p:cNvSpPr/>
          <p:nvPr/>
        </p:nvSpPr>
        <p:spPr>
          <a:xfrm>
            <a:off x="406301" y="89639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A1A1A"/>
                </a:solidFill>
                <a:latin typeface="Georgia" pitchFamily="34" charset="0"/>
                <a:ea typeface="Georgia" pitchFamily="34" charset="-122"/>
                <a:cs typeface="Georgia" pitchFamily="34" charset="-120"/>
              </a:rPr>
              <a:t>Module:</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Indic Ecology — Vasudhaiva Kuṭumbakam · </a:t>
            </a:r>
            <a:pPr algn="l" indent="0" marL="0">
              <a:lnSpc>
                <a:spcPts val="1680"/>
              </a:lnSpc>
              <a:spcBef>
                <a:spcPts val="300"/>
              </a:spcBef>
              <a:spcAft>
                <a:spcPts val="300"/>
              </a:spcAft>
              <a:buNone/>
            </a:pPr>
            <a:r>
              <a:rPr lang="en-US" sz="1200" b="1" dirty="0">
                <a:solidFill>
                  <a:srgbClr val="1A1A1A"/>
                </a:solidFill>
                <a:latin typeface="Georgia" pitchFamily="34" charset="0"/>
                <a:ea typeface="Georgia" pitchFamily="34" charset="-122"/>
                <a:cs typeface="Georgia" pitchFamily="34" charset="-120"/>
              </a:rPr>
              <a:t>Band:</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Senior · </a:t>
            </a:r>
            <a:pPr algn="l" indent="0" marL="0">
              <a:lnSpc>
                <a:spcPts val="1680"/>
              </a:lnSpc>
              <a:spcBef>
                <a:spcPts val="300"/>
              </a:spcBef>
              <a:spcAft>
                <a:spcPts val="300"/>
              </a:spcAft>
              <a:buNone/>
            </a:pPr>
            <a:r>
              <a:rPr lang="en-US" sz="1200" b="1" dirty="0">
                <a:solidFill>
                  <a:srgbClr val="1A1A1A"/>
                </a:solidFill>
                <a:latin typeface="Georgia" pitchFamily="34" charset="0"/>
                <a:ea typeface="Georgia" pitchFamily="34" charset="-122"/>
                <a:cs typeface="Georgia" pitchFamily="34" charset="-120"/>
              </a:rPr>
              <a:t>Time:</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45 min</a:t>
            </a:r>
            <a:endParaRPr lang="en-US" sz="1200" dirty="0"/>
          </a:p>
        </p:txBody>
      </p:sp>
      <p:sp>
        <p:nvSpPr>
          <p:cNvPr id="5" name="Text 3"/>
          <p:cNvSpPr/>
          <p:nvPr/>
        </p:nvSpPr>
        <p:spPr>
          <a:xfrm>
            <a:off x="406301" y="1223963"/>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Learning objective</a:t>
            </a:r>
            <a:endParaRPr lang="en-US" sz="1800" dirty="0"/>
          </a:p>
        </p:txBody>
      </p:sp>
      <p:sp>
        <p:nvSpPr>
          <p:cNvPr id="6" name="Text 4"/>
          <p:cNvSpPr/>
          <p:nvPr/>
        </p:nvSpPr>
        <p:spPr>
          <a:xfrm>
            <a:off x="406301" y="1637854"/>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By the end of this lesson, students will: discuss the ecological function of river-worship traditions.</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Materials</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Whiteboard / chart paper – Notebook, pen per student</a:t>
            </a:r>
            <a:endParaRPr lang="en-US" sz="1200" dirty="0"/>
          </a:p>
        </p:txBody>
      </p:sp>
      <p:sp>
        <p:nvSpPr>
          <p:cNvPr id="5" name="Text 3"/>
          <p:cNvSpPr/>
          <p:nvPr/>
        </p:nvSpPr>
        <p:spPr>
          <a:xfrm>
            <a:off x="634901" y="117306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A1A1A"/>
                </a:solidFill>
                <a:latin typeface="Georgia" pitchFamily="34" charset="0"/>
                <a:ea typeface="Georgia" pitchFamily="34" charset="-122"/>
                <a:cs typeface="Georgia" pitchFamily="34" charset="-120"/>
              </a:rPr>
              <a:t>(See lesson-plan.md for any day-specific materials)</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Vocabulary introduced today</a:t>
            </a:r>
            <a:endParaRPr lang="en-US" sz="1800" dirty="0"/>
          </a:p>
        </p:txBody>
      </p:sp>
      <p:sp>
        <p:nvSpPr>
          <p:cNvPr id="4" name="Text 2"/>
          <p:cNvSpPr/>
          <p:nvPr/>
        </p:nvSpPr>
        <p:spPr>
          <a:xfrm>
            <a:off x="634901" y="88359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i="1" dirty="0">
                <a:solidFill>
                  <a:srgbClr val="1A1A1A"/>
                </a:solidFill>
                <a:latin typeface="Georgia" pitchFamily="34" charset="0"/>
                <a:ea typeface="Georgia" pitchFamily="34" charset="-122"/>
                <a:cs typeface="Georgia" pitchFamily="34" charset="-120"/>
              </a:rPr>
              <a:t>ahiṁsā</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(IAST: ahiṁsā; lit. "non-violence; extended to non-human life")</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Lesson flow</a:t>
            </a:r>
            <a:endParaRPr lang="en-US" sz="1800" dirty="0"/>
          </a:p>
        </p:txBody>
      </p:sp>
      <p:sp>
        <p:nvSpPr>
          <p:cNvPr id="4" name="Text 2"/>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Warm-up (5 min)</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Daily check-in: one-sentence response to </a:t>
            </a:r>
            <a:pPr algn="l" indent="0" marL="0">
              <a:lnSpc>
                <a:spcPts val="1680"/>
              </a:lnSpc>
              <a:spcBef>
                <a:spcPts val="300"/>
              </a:spcBef>
              <a:spcAft>
                <a:spcPts val="300"/>
              </a:spcAft>
              <a:buNone/>
            </a:pPr>
            <a:r>
              <a:rPr lang="en-US" sz="1200" i="1" dirty="0">
                <a:solidFill>
                  <a:srgbClr val="1A1A1A"/>
                </a:solidFill>
                <a:latin typeface="Georgia" pitchFamily="34" charset="0"/>
                <a:ea typeface="Georgia" pitchFamily="34" charset="-122"/>
                <a:cs typeface="Georgia" pitchFamily="34" charset="-120"/>
              </a:rPr>
              <a:t>"What's one thing you remember about yesterday's lesson?"</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 Hook: introduce a phenomenon or question that motivates today's concept.</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Core (20 min)</a:t>
            </a:r>
            <a:endParaRPr lang="en-US" sz="1800" dirty="0"/>
          </a:p>
        </p:txBody>
      </p:sp>
      <p:sp>
        <p:nvSpPr>
          <p:cNvPr id="4" name="Text 2"/>
          <p:cNvSpPr/>
          <p:nvPr/>
        </p:nvSpPr>
        <p:spPr>
          <a:xfrm>
            <a:off x="634901" y="883593"/>
            <a:ext cx="8102798" cy="4875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The Indian river tradition.</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a:t>
            </a:r>
            <a:pPr algn="l" indent="0" marL="0">
              <a:lnSpc>
                <a:spcPts val="1620"/>
              </a:lnSpc>
              <a:spcAft>
                <a:spcPts val="300"/>
              </a:spcAft>
              <a:buNone/>
            </a:pPr>
            <a:r>
              <a:rPr lang="en-US" sz="1200" i="1" dirty="0">
                <a:solidFill>
                  <a:srgbClr val="1A1A1A"/>
                </a:solidFill>
                <a:latin typeface="Georgia" pitchFamily="34" charset="0"/>
                <a:ea typeface="Georgia" pitchFamily="34" charset="-122"/>
                <a:cs typeface="Georgia" pitchFamily="34" charset="-120"/>
              </a:rPr>
              <a:t>Gaṅgā, Yamunā, Sarasvatī, Narmadā, Kāverī, Godāvarī, Sindhu</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 seven sacred rivers in Hindu tradition. Each has festival cycles, pilgrimage routes, ritual practices.</a:t>
            </a:r>
            <a:endParaRPr lang="en-US" sz="1200" dirty="0"/>
          </a:p>
        </p:txBody>
      </p:sp>
      <p:sp>
        <p:nvSpPr>
          <p:cNvPr id="5" name="Text 3"/>
          <p:cNvSpPr/>
          <p:nvPr/>
        </p:nvSpPr>
        <p:spPr>
          <a:xfrm>
            <a:off x="634901" y="1472654"/>
            <a:ext cx="8102798" cy="6932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The ecological function of sacredness.</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Treating a river as sacred → norms against pollution, against blocking the flow, against over-extraction. </a:t>
            </a:r>
            <a:pPr algn="l" indent="0" marL="0">
              <a:lnSpc>
                <a:spcPts val="1620"/>
              </a:lnSpc>
              <a:spcAft>
                <a:spcPts val="300"/>
              </a:spcAft>
              <a:buNone/>
            </a:pPr>
            <a:r>
              <a:rPr lang="en-US" sz="1200" i="1" dirty="0">
                <a:solidFill>
                  <a:srgbClr val="1A1A1A"/>
                </a:solidFill>
                <a:latin typeface="Georgia" pitchFamily="34" charset="0"/>
                <a:ea typeface="Georgia" pitchFamily="34" charset="-122"/>
                <a:cs typeface="Georgia" pitchFamily="34" charset="-120"/>
              </a:rPr>
              <a:t>In principle.</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These norms are NOT always honoured today (Ganga, Yamuna are heavily polluted).</a:t>
            </a:r>
            <a:endParaRPr lang="en-US" sz="1200" dirty="0"/>
          </a:p>
        </p:txBody>
      </p:sp>
      <p:sp>
        <p:nvSpPr>
          <p:cNvPr id="6" name="Text 4"/>
          <p:cNvSpPr/>
          <p:nvPr/>
        </p:nvSpPr>
        <p:spPr>
          <a:xfrm>
            <a:off x="634901" y="2267396"/>
            <a:ext cx="8102798" cy="6932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Modern parallel.</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Ecuador and Bolivia have laws giving rivers legal personhood. Aotearoa/New Zealand granted legal personhood to the Whanganui River in 2017. India's Ganga and Yamuna were granted similar status briefly in 2017 (court ruling overturned). The legal innovation echoes the older sacred-river framing.</a:t>
            </a:r>
            <a:endParaRPr lang="en-US" sz="1200" dirty="0"/>
          </a:p>
        </p:txBody>
      </p:sp>
      <p:sp>
        <p:nvSpPr>
          <p:cNvPr id="7" name="Text 5"/>
          <p:cNvSpPr/>
          <p:nvPr/>
        </p:nvSpPr>
        <p:spPr>
          <a:xfrm>
            <a:off x="634901" y="3062139"/>
            <a:ext cx="8102798" cy="4875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Source.</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Atharva Veda Pṛthivī Sūkta 12.1 — multiple references to flowing waters. Vedic hymns to </a:t>
            </a:r>
            <a:pPr algn="l" indent="0" marL="0">
              <a:lnSpc>
                <a:spcPts val="1620"/>
              </a:lnSpc>
              <a:spcAft>
                <a:spcPts val="300"/>
              </a:spcAft>
              <a:buNone/>
            </a:pPr>
            <a:r>
              <a:rPr lang="en-US" sz="1200" i="1" dirty="0">
                <a:solidFill>
                  <a:srgbClr val="1A1A1A"/>
                </a:solidFill>
                <a:latin typeface="Georgia" pitchFamily="34" charset="0"/>
                <a:ea typeface="Georgia" pitchFamily="34" charset="-122"/>
                <a:cs typeface="Georgia" pitchFamily="34" charset="-120"/>
              </a:rPr>
              <a:t>āpaḥ</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(waters). Bhāgavata Purāṇa discusses the seven rivers.</a:t>
            </a:r>
            <a:endParaRPr lang="en-US" sz="1200" dirty="0"/>
          </a:p>
        </p:txBody>
      </p:sp>
      <p:sp>
        <p:nvSpPr>
          <p:cNvPr id="8" name="Text 6"/>
          <p:cNvSpPr/>
          <p:nvPr/>
        </p:nvSpPr>
        <p:spPr>
          <a:xfrm>
            <a:off x="634901" y="3651200"/>
            <a:ext cx="8102798" cy="4875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Critical look.</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a:t>
            </a:r>
            <a:pPr algn="l" indent="0" marL="0">
              <a:lnSpc>
                <a:spcPts val="1620"/>
              </a:lnSpc>
              <a:spcAft>
                <a:spcPts val="300"/>
              </a:spcAft>
              <a:buNone/>
            </a:pPr>
            <a:r>
              <a:rPr lang="en-US" sz="1200" i="1" dirty="0">
                <a:solidFill>
                  <a:srgbClr val="1A1A1A"/>
                </a:solidFill>
                <a:latin typeface="Georgia" pitchFamily="34" charset="0"/>
                <a:ea typeface="Georgia" pitchFamily="34" charset="-122"/>
                <a:cs typeface="Georgia" pitchFamily="34" charset="-120"/>
              </a:rPr>
              <a:t>"Why are sacred-river norms often violated in practice today? What changes in society have weakened the older protections? Can the framework be revived for the climate crisis?"</a:t>
            </a:r>
            <a:endParaRPr lang="en-US" sz="1200" dirty="0"/>
          </a:p>
        </p:txBody>
      </p:sp>
      <p:sp>
        <p:nvSpPr>
          <p:cNvPr id="9" name="Text 7"/>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Activity (15 min)</a:t>
            </a:r>
            <a:endParaRPr lang="en-US" sz="1800" dirty="0"/>
          </a:p>
        </p:txBody>
      </p:sp>
      <p:sp>
        <p:nvSpPr>
          <p:cNvPr id="4" name="Text 2"/>
          <p:cNvSpPr/>
          <p:nvPr/>
        </p:nvSpPr>
        <p:spPr>
          <a:xfrm>
            <a:off x="406301" y="870942"/>
            <a:ext cx="8498026" cy="436066"/>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A scaled version of </a:t>
            </a:r>
            <a:pPr algn="l" indent="0" marL="0">
              <a:lnSpc>
                <a:spcPts val="1680"/>
              </a:lnSpc>
              <a:spcBef>
                <a:spcPts val="300"/>
              </a:spcBef>
              <a:spcAft>
                <a:spcPts val="300"/>
              </a:spcAft>
              <a:buNone/>
            </a:pPr>
            <a:r>
              <a:rPr lang="en-US" sz="1200" i="1" dirty="0">
                <a:solidFill>
                  <a:srgbClr val="1A1A1A"/>
                </a:solidFill>
                <a:latin typeface="Georgia" pitchFamily="34" charset="0"/>
                <a:ea typeface="Georgia" pitchFamily="34" charset="-122"/>
                <a:cs typeface="Georgia" pitchFamily="34" charset="-120"/>
              </a:rPr>
              <a:t>Sacred Grove (or Local Ecology) Mapping</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(see </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activities/</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Today's slice: focus on the part of the activity that reinforces Rivers as Sacred.</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Wrap-up (5 min)</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One-sentence exit ticket: </a:t>
            </a:r>
            <a:pPr algn="l" indent="0" marL="0">
              <a:lnSpc>
                <a:spcPts val="1680"/>
              </a:lnSpc>
              <a:spcBef>
                <a:spcPts val="300"/>
              </a:spcBef>
              <a:spcAft>
                <a:spcPts val="300"/>
              </a:spcAft>
              <a:buNone/>
            </a:pPr>
            <a:r>
              <a:rPr lang="en-US" sz="1200" i="1" dirty="0">
                <a:solidFill>
                  <a:srgbClr val="1A1A1A"/>
                </a:solidFill>
                <a:latin typeface="Georgia" pitchFamily="34" charset="0"/>
                <a:ea typeface="Georgia" pitchFamily="34" charset="-122"/>
                <a:cs typeface="Georgia" pitchFamily="34" charset="-120"/>
              </a:rPr>
              <a:t>"What's one thing you learned today?"</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 Preview tomorrow.</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Homework</a:t>
            </a:r>
            <a:endParaRPr lang="en-US" sz="1800" dirty="0"/>
          </a:p>
        </p:txBody>
      </p:sp>
      <p:sp>
        <p:nvSpPr>
          <p:cNvPr id="4" name="Text 2"/>
          <p:cNvSpPr/>
          <p:nvPr/>
        </p:nvSpPr>
        <p:spPr>
          <a:xfrm>
            <a:off x="406301" y="870942"/>
            <a:ext cx="8498026" cy="222796"/>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(See </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homework.md</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for today's task.)</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Differentiation</a:t>
            </a:r>
            <a:endParaRPr lang="en-US" sz="1800" dirty="0"/>
          </a:p>
        </p:txBody>
      </p:sp>
      <p:sp>
        <p:nvSpPr>
          <p:cNvPr id="4" name="Text 2"/>
          <p:cNvSpPr/>
          <p:nvPr/>
        </p:nvSpPr>
        <p:spPr>
          <a:xfrm>
            <a:off x="634901" y="883593"/>
            <a:ext cx="8102798" cy="5256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Extension:</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offer one open question or extra problem for fast finishers.</a:t>
            </a:r>
            <a:endParaRPr lang="en-US" sz="1200" dirty="0"/>
          </a:p>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Support:</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pair students who need scaffolds; offer partial outlines.</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Teacher notes</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Citations: at least one quoted verse with citation per module. Day 1 already includes one if applicable; you may add more. – Connect to prior modules where natural (especially Module 2 pañcabhūta).</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 Senior</dc:title>
  <dc:subject>PptxGenJS Presentation</dc:subject>
  <dc:creator>IKS Curriculum</dc:creator>
  <cp:lastModifiedBy>IKS Curriculum</cp:lastModifiedBy>
  <cp:revision>1</cp:revision>
  <dcterms:created xsi:type="dcterms:W3CDTF">2026-05-28T04:35:46Z</dcterms:created>
  <dcterms:modified xsi:type="dcterms:W3CDTF">2026-05-28T04:35:46Z</dcterms:modified>
</cp:coreProperties>
</file>