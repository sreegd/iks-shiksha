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3 — Rivers as Sacred</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Indic Ecology — Vasudhaiva Kuṭumbakam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6" name="Text 4"/>
          <p:cNvSpPr/>
          <p:nvPr/>
        </p:nvSpPr>
        <p:spPr>
          <a:xfrm>
            <a:off x="406301" y="163785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discuss the ecological function of river-worship traditions.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Whiteboard / chart paper – Notebook, pen per student</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ahiṁsā</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ahiṁsā; lit. "non-violence; extended to non-human life")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Daily check-in: one-sentence response to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Indian river tradition.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Gaṅgā, Yamunā, Sarasvatī, Narmadā, Kāverī, Godāvarī, Sindhu</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seven sacred rivers in Hindu tradition. Each has festival cycles, pilgrimage routes, ritual practices.</a:t>
            </a:r>
            <a:endParaRPr lang="en-US" sz="1200" dirty="0"/>
          </a:p>
        </p:txBody>
      </p:sp>
      <p:sp>
        <p:nvSpPr>
          <p:cNvPr id="5" name="Text 3"/>
          <p:cNvSpPr/>
          <p:nvPr/>
        </p:nvSpPr>
        <p:spPr>
          <a:xfrm>
            <a:off x="634901" y="1472654"/>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The ecological function of sacredness.</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Treating a river as sacred → norms against pollution, against blocking the flow, against over-extraction.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In principle.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These norms are NOT always honoured today (Ganga, Yamuna are heavily polluted).</a:t>
            </a:r>
            <a:endParaRPr lang="en-US" sz="1200" dirty="0"/>
          </a:p>
        </p:txBody>
      </p:sp>
      <p:sp>
        <p:nvSpPr>
          <p:cNvPr id="6" name="Text 4"/>
          <p:cNvSpPr/>
          <p:nvPr/>
        </p:nvSpPr>
        <p:spPr>
          <a:xfrm>
            <a:off x="634901" y="2267396"/>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Modern parallel.</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Ecuador and Bolivia have laws giving rivers legal personhood. Aotearoa/New Zealand granted legal personhood to the Whanganui River in 2017. India's Ganga and Yamuna were granted similar status briefly in 2017 (court ruling overturned). The legal innovation echoes the older sacred-river framing.</a:t>
            </a:r>
            <a:endParaRPr lang="en-US" sz="1200" dirty="0"/>
          </a:p>
        </p:txBody>
      </p:sp>
      <p:sp>
        <p:nvSpPr>
          <p:cNvPr id="7" name="Text 5"/>
          <p:cNvSpPr/>
          <p:nvPr/>
        </p:nvSpPr>
        <p:spPr>
          <a:xfrm>
            <a:off x="634901" y="3062139"/>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Atharva Veda Pṛthivī Sūkta 12.1 — multiple references to flowing waters. Vedic hymns to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āpaḥ</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(waters). Bhāgavata Purāṇa discusses the seven rivers.</a:t>
            </a:r>
            <a:endParaRPr lang="en-US" sz="1200" dirty="0"/>
          </a:p>
        </p:txBody>
      </p:sp>
      <p:sp>
        <p:nvSpPr>
          <p:cNvPr id="8" name="Text 6"/>
          <p:cNvSpPr/>
          <p:nvPr/>
        </p:nvSpPr>
        <p:spPr>
          <a:xfrm>
            <a:off x="634901" y="3651200"/>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Critical look.</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"Why are sacred-river norms often violated in practice today? What changes in society have weakened the older protections? Can the framework be revived for the climate crisis?"</a:t>
            </a:r>
            <a:endParaRPr lang="en-US" sz="12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Sacred Grove (or Local Ecology) Mapping</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Rivers as Sacred.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One-sentence exit ticket: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Citations: at least one quoted verse with citation per module. Day 1 already includes one if applicable; you may add more. – 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2026-05-25T16:42:58Z</dcterms:created>
  <dcterms:modified xsi:type="dcterms:W3CDTF">2026-05-25T16:42:58Z</dcterms:modified>
</cp:coreProperties>
</file>