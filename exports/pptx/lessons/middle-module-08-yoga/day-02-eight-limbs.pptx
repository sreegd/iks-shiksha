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2 — The Eight Limbs (Aṣṭāṅga)</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Yoga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 (10 min movement)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name all eight limbs of Patañjali's yoga in order and identify which limbs are physical, which are mental, and which are about ethical conduct.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Wall chart (or board diagram) showing the 8 limbs as a vertical or circular arrangement.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Worksheet: limb-matching exit ticket.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introduced today</a:t>
            </a:r>
            <a:endParaRPr lang="en-US" sz="1800" dirty="0"/>
          </a:p>
        </p:txBody>
      </p:sp>
      <p:sp>
        <p:nvSpPr>
          <p:cNvPr id="4" name="Text 2"/>
          <p:cNvSpPr/>
          <p:nvPr/>
        </p:nvSpPr>
        <p:spPr>
          <a:xfrm>
            <a:off x="634901" y="883593"/>
            <a:ext cx="8102798" cy="2475905"/>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aṣṭāṅga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aṣṭāṅga; lit. "eight-limbed") — Patañjali's eight-stage scheme.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All eight limbs: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yama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(ethical restraints)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niyama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(personal observances)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āsana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(posture)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prāṇāyāma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(breath regulation)</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pratyāhāra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(sense-withdrawal)</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dhāraṇā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(focused attention)</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dhyāna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(sustained meditation)</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samādhi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(absorption)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Settle (2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Sukhāsana. 5 breaths.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The eight limbs</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Reveal the eight-limb chart.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Walk through each limb with a one-line gloss:</a:t>
            </a:r>
            <a:endParaRPr lang="en-US" sz="1200" dirty="0"/>
          </a:p>
        </p:txBody>
      </p:sp>
      <p:sp>
        <p:nvSpPr>
          <p:cNvPr id="5" name="Text 3"/>
          <p:cNvSpPr/>
          <p:nvPr/>
        </p:nvSpPr>
        <p:spPr>
          <a:xfrm>
            <a:off x="406301" y="125432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Each row: # · Sanskrit · Meaning · Example.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The eight limbs (cont.)</a:t>
            </a:r>
            <a:endParaRPr lang="en-US" sz="1800" dirty="0"/>
          </a:p>
        </p:txBody>
      </p:sp>
      <p:sp>
        <p:nvSpPr>
          <p:cNvPr id="4" name="Text 2"/>
          <p:cNvSpPr/>
          <p:nvPr/>
        </p:nvSpPr>
        <p:spPr>
          <a:xfrm>
            <a:off x="634901" y="883593"/>
            <a:ext cx="8102798" cy="15007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1</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yama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restraints · non-harming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ahiṁsā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truthfulness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satya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2</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niyama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observances · cleanliness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śauca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self-study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svādhyāya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āsana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posture · tāḍāsana, vṛkṣāsana — what we're learning</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4</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prāṇāyāma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breath regulation · natural-breath observation</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5</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pratyāhāra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sense-withdrawal · turning attention away from external sights/sounds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6</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dhāraṇā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focused attention · holding the mind on one object for 12 seconds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The eight limbs (cont.)</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dhyāna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sustained meditation · unbroken attention for several minutes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8</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samādhi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absorption · total integration — the final stage</a:t>
            </a:r>
            <a:endParaRPr lang="en-US" sz="1200" dirty="0"/>
          </a:p>
        </p:txBody>
      </p:sp>
      <p:sp>
        <p:nvSpPr>
          <p:cNvPr id="5" name="Text 3"/>
          <p:cNvSpPr/>
          <p:nvPr/>
        </p:nvSpPr>
        <p:spPr>
          <a:xfrm>
            <a:off x="634901" y="1510754"/>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Source quote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aloud, don't memorise):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The eight limbs (cont.)</a:t>
            </a:r>
            <a:endParaRPr lang="en-US" sz="1800" dirty="0"/>
          </a:p>
        </p:txBody>
      </p:sp>
      <p:sp>
        <p:nvSpPr>
          <p:cNvPr id="4" name="Text 2"/>
          <p:cNvSpPr/>
          <p:nvPr/>
        </p:nvSpPr>
        <p:spPr>
          <a:xfrm>
            <a:off x="406301" y="883593"/>
            <a:ext cx="8331398" cy="842963"/>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842963"/>
          </a:xfrm>
          <a:prstGeom prst="line">
            <a:avLst/>
          </a:prstGeom>
          <a:noFill/>
          <a:ln w="57150">
            <a:solidFill>
              <a:srgbClr val="FE4447"/>
            </a:solidFill>
            <a:prstDash val="solid"/>
          </a:ln>
        </p:spPr>
      </p:sp>
      <p:sp>
        <p:nvSpPr>
          <p:cNvPr id="6" name="Text 4"/>
          <p:cNvSpPr/>
          <p:nvPr/>
        </p:nvSpPr>
        <p:spPr>
          <a:xfrm>
            <a:off x="692051" y="1074093"/>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"Yoga is practised in eight different stages: yama, niyama, āsana, prāṇāyāma, pratyāhāra, dhāraṇā, dhyāna, and samādhi." — Śrīmad-Bhāgavatam, Canto 3 (purport)</a:t>
            </a:r>
            <a:endParaRPr lang="en-US" sz="1300" dirty="0"/>
          </a:p>
        </p:txBody>
      </p:sp>
      <p:sp>
        <p:nvSpPr>
          <p:cNvPr id="7" name="Text 5"/>
          <p:cNvSpPr/>
          <p:nvPr/>
        </p:nvSpPr>
        <p:spPr>
          <a:xfrm>
            <a:off x="406301" y="1828056"/>
            <a:ext cx="8331398" cy="611981"/>
          </a:xfrm>
          <a:prstGeom prst="rect">
            <a:avLst/>
          </a:prstGeom>
          <a:solidFill>
            <a:srgbClr val="F4F8F9"/>
          </a:solidFill>
          <a:ln/>
        </p:spPr>
        <p:txBody>
          <a:bodyPr wrap="square" rtlCol="0" anchor="ctr"/>
          <a:lstStyle/>
          <a:p>
            <a:pPr indent="0" marL="0">
              <a:buNone/>
            </a:pPr>
            <a:endParaRPr lang="en-US" dirty="0"/>
          </a:p>
        </p:txBody>
      </p:sp>
      <p:sp>
        <p:nvSpPr>
          <p:cNvPr id="8" name="Shape 6"/>
          <p:cNvSpPr/>
          <p:nvPr/>
        </p:nvSpPr>
        <p:spPr>
          <a:xfrm>
            <a:off x="434876" y="1828056"/>
            <a:ext cx="0" cy="611981"/>
          </a:xfrm>
          <a:prstGeom prst="line">
            <a:avLst/>
          </a:prstGeom>
          <a:noFill/>
          <a:ln w="57150">
            <a:solidFill>
              <a:srgbClr val="FE4447"/>
            </a:solidFill>
            <a:prstDash val="solid"/>
          </a:ln>
        </p:spPr>
      </p:sp>
      <p:sp>
        <p:nvSpPr>
          <p:cNvPr id="9" name="Text 7"/>
          <p:cNvSpPr/>
          <p:nvPr/>
        </p:nvSpPr>
        <p:spPr>
          <a:xfrm>
            <a:off x="692051" y="2018556"/>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"The Bhagavad-gītā addresses all eight limbs of rāja-yoga."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Veda, Secrets from the East</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(Prabhupāda)</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The eight limbs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Patterns to notice (write on board):</a:t>
            </a:r>
            <a:endParaRPr lang="en-US" sz="1200" dirty="0"/>
          </a:p>
        </p:txBody>
      </p:sp>
      <p:sp>
        <p:nvSpPr>
          <p:cNvPr id="5" name="Text 3"/>
          <p:cNvSpPr/>
          <p:nvPr/>
        </p:nvSpPr>
        <p:spPr>
          <a:xfrm>
            <a:off x="634901" y="1266974"/>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Limbs 1–2 are about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conduct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(how you live).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Limbs 3–4 are about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the body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(what we practise this module).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Limbs 5–8 are about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the mind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The eight limbs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"Why does Patañjali put 'living ethically' BEFORE 'posture'? Why not start with the easy physical stuff?"</a:t>
            </a:r>
            <a:endParaRPr lang="en-US" sz="1200" dirty="0"/>
          </a:p>
        </p:txBody>
      </p:sp>
      <p:sp>
        <p:nvSpPr>
          <p:cNvPr id="5" name="Text 3"/>
          <p:cNvSpPr/>
          <p:nvPr/>
        </p:nvSpPr>
        <p:spPr>
          <a:xfrm>
            <a:off x="634901" y="1266974"/>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Take 2 student answers.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Reinforce: the tradition says a turbulent inner life makes meditation impossible, so you have to settle the outer life first. (At Middle band that's a sufficient gloss.)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Practice (15 min) — Tāḍāsana + introduction to vṛkṣāsana</a:t>
            </a:r>
            <a:endParaRPr lang="en-US" sz="1800" dirty="0"/>
          </a:p>
        </p:txBody>
      </p:sp>
      <p:sp>
        <p:nvSpPr>
          <p:cNvPr id="4" name="Text 2"/>
          <p:cNvSpPr/>
          <p:nvPr/>
        </p:nvSpPr>
        <p:spPr>
          <a:xfrm>
            <a:off x="634901" y="883593"/>
            <a:ext cx="8102798" cy="2232124"/>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Tāḍāsana, 3 holds of 30 sec each.</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Now: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vṛkṣāsana (tree posture).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Stand in tāḍāsana.</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Shift weight onto the left foot.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Place the right foot's sole against the inside of the left calf (NOT the side of the knee).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Hands at heart centre, or raised above the head.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Gaze fixed on one spot on the wall ahead.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Hold for 20 seconds. Switch sides.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Wobbling is normal. Falling is information, not failure.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Exit ticket (8 min)</a:t>
            </a:r>
            <a:endParaRPr lang="en-US" sz="1800" dirty="0"/>
          </a:p>
        </p:txBody>
      </p:sp>
      <p:sp>
        <p:nvSpPr>
          <p:cNvPr id="4" name="Text 2"/>
          <p:cNvSpPr/>
          <p:nvPr/>
        </p:nvSpPr>
        <p:spPr>
          <a:xfrm>
            <a:off x="634901" y="883593"/>
            <a:ext cx="8102798" cy="54471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Worksheet: students match each of the 8 limbs to a description.</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See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quizzes/formative.md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Part 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12570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Three-question recap:</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Which limb is posture?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(3rd — āsana.)</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Which limb is breath?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(4th — prāṇāyāma.)</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What comes LAST?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(8th — samādhi.)</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Preview Day 3: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"Tomorrow — five foundational āsanas, including the tree we tried today."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112169"/>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112169"/>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The Eight Limbs of Yoga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(Patañjali's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aṣṭāṅga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7" name="Text 5"/>
          <p:cNvSpPr/>
          <p:nvPr/>
        </p:nvSpPr>
        <p:spPr>
          <a:xfrm>
            <a:off x="692051" y="1343174"/>
            <a:ext cx="7973389" cy="923925"/>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 Sanskrit | Meaning | |---|----------|---------| | 1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yama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restraints (don'ts) | | 2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niyama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observances (dos) | | 3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āsana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posture | | 4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prāṇāyāma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breath regulation | | 5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pratyāhāra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sense-withdrawal | | 6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dhāraṇā</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focused attention | | 7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dhyāna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sustained meditation | | 8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samādhi</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absorption |</a:t>
            </a:r>
            <a:endParaRPr lang="en-US" sz="1300" dirty="0"/>
          </a:p>
        </p:txBody>
      </p:sp>
      <p:sp>
        <p:nvSpPr>
          <p:cNvPr id="8" name="Text 6"/>
          <p:cNvSpPr/>
          <p:nvPr/>
        </p:nvSpPr>
        <p:spPr>
          <a:xfrm>
            <a:off x="692051" y="2305199"/>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Limbs 1–2: conduct. 3–4: body. 5–8: mind.</a:t>
            </a:r>
            <a:endParaRPr lang="en-US" sz="1300" dirty="0"/>
          </a:p>
        </p:txBody>
      </p:sp>
      <p:sp>
        <p:nvSpPr>
          <p:cNvPr id="9" name="Text 7"/>
          <p:cNvSpPr/>
          <p:nvPr/>
        </p:nvSpPr>
        <p:spPr>
          <a:xfrm>
            <a:off x="692051" y="2574280"/>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Today's pose: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vṛkṣāsana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(tree). Stand on one leg. Balance. Wobble is allowed.</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Memorise the 8 limbs in order. Bring to next class — pop quiz.</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Practice tāḍāsana + vṛkṣāsana for 5 min before breakfast.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Add the meanings of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yama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niyama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with at least 2 examples each (ahiṁsā, satya, śauca, santoṣa, etc.).</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Memorise just the 4 physical/body limbs (3, 4, 5) — āsana, prāṇāyāma, pratyāhāra — and the 1 mental endpoint (8 — samādhi). Build up.</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11808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Sanskrit names will be slippery for some students. Daily chorus repetition helps; create a hand gesture per limb for the kinesthetic learners.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Watch knee placement during vṛkṣāsana — the foot must NOT press into the side of the knee (medial cruciate strain risk). Foot above OR below the knee, never on it.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If a student falls during balance, normalise it: "wobbling is what balance learning looks like."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50661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vidya-karana RAG cache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day-02-eightlimbs.json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chunks from SB 3 purport,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Veda, Secrets from the East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Journey of Self Discovery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2026-05-28T05:49:09Z</dcterms:created>
  <dcterms:modified xsi:type="dcterms:W3CDTF">2026-05-28T05:49:09Z</dcterms:modified>
</cp:coreProperties>
</file>