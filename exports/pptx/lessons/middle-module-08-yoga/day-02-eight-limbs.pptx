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380851"/>
            <a:ext cx="8498026" cy="350490"/>
          </a:xfrm>
          <a:prstGeom prst="rect">
            <a:avLst/>
          </a:prstGeom>
          <a:noFill/>
          <a:ln/>
        </p:spPr>
        <p:txBody>
          <a:bodyPr wrap="square" lIns="0" tIns="0" rIns="0" bIns="0" rtlCol="0" anchor="t"/>
          <a:lstStyle/>
          <a:p>
            <a:pPr algn="l" indent="0" marL="0">
              <a:lnSpc>
                <a:spcPts val="2760"/>
              </a:lnSpc>
              <a:spcAft>
                <a:spcPts val="1000"/>
              </a:spcAft>
              <a:buNone/>
            </a:pPr>
            <a:r>
              <a:rPr lang="en-US" sz="2400" b="1" dirty="0">
                <a:solidFill>
                  <a:srgbClr val="277884"/>
                </a:solidFill>
                <a:latin typeface="Georgia" pitchFamily="34" charset="0"/>
                <a:ea typeface="Georgia" pitchFamily="34" charset="-122"/>
                <a:cs typeface="Georgia" pitchFamily="34" charset="-120"/>
              </a:rPr>
              <a:t>Day 2 — The Eight Limbs (Aṣṭāṅga)</a:t>
            </a:r>
            <a:endParaRPr lang="en-US" sz="2400" dirty="0"/>
          </a:p>
        </p:txBody>
      </p:sp>
      <p:sp>
        <p:nvSpPr>
          <p:cNvPr id="4" name="Text 2"/>
          <p:cNvSpPr/>
          <p:nvPr/>
        </p:nvSpPr>
        <p:spPr>
          <a:xfrm>
            <a:off x="406301" y="89639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Module: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Yoga ·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Band:</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Middle ·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Time: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45 min (10 min movement)</a:t>
            </a:r>
            <a:endParaRPr lang="en-US" sz="1200" dirty="0"/>
          </a:p>
        </p:txBody>
      </p:sp>
      <p:sp>
        <p:nvSpPr>
          <p:cNvPr id="5" name="Text 3"/>
          <p:cNvSpPr/>
          <p:nvPr/>
        </p:nvSpPr>
        <p:spPr>
          <a:xfrm>
            <a:off x="406301" y="1223963"/>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Learning objective</a:t>
            </a:r>
            <a:endParaRPr lang="en-US" sz="1800" dirty="0"/>
          </a:p>
        </p:txBody>
      </p:sp>
      <p:sp>
        <p:nvSpPr>
          <p:cNvPr id="6" name="Text 4"/>
          <p:cNvSpPr/>
          <p:nvPr/>
        </p:nvSpPr>
        <p:spPr>
          <a:xfrm>
            <a:off x="406301" y="1637854"/>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By the end of this lesson, students will name all eight limbs of Patañjali's yoga in order and identify which limbs are physical, which are mental, and which are about ethical conduct.</a:t>
            </a:r>
            <a:endParaRPr lang="en-US" sz="1200" dirty="0"/>
          </a:p>
        </p:txBody>
      </p:sp>
      <p:sp>
        <p:nvSpPr>
          <p:cNvPr id="7" name="Text 5"/>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Materials</a:t>
            </a:r>
            <a:endParaRPr lang="en-US" sz="1800" dirty="0"/>
          </a:p>
        </p:txBody>
      </p:sp>
      <p:sp>
        <p:nvSpPr>
          <p:cNvPr id="4" name="Text 2"/>
          <p:cNvSpPr/>
          <p:nvPr/>
        </p:nvSpPr>
        <p:spPr>
          <a:xfrm>
            <a:off x="406301" y="870942"/>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Wall chart (or board diagram) showing the 8 limbs as a vertical or circular arrangement. – Worksheet: limb-matching exit ticket.</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Vocabulary introduced today</a:t>
            </a:r>
            <a:endParaRPr lang="en-US" sz="1800" dirty="0"/>
          </a:p>
        </p:txBody>
      </p:sp>
      <p:sp>
        <p:nvSpPr>
          <p:cNvPr id="4" name="Text 2"/>
          <p:cNvSpPr/>
          <p:nvPr/>
        </p:nvSpPr>
        <p:spPr>
          <a:xfrm>
            <a:off x="634901" y="883593"/>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aṣṭāṅga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(IAST: aṣṭāṅga; lit. "eight-limbed") — Patañjali's eight-stage scheme.</a:t>
            </a:r>
            <a:endParaRPr lang="en-US" sz="1200" dirty="0"/>
          </a:p>
        </p:txBody>
      </p:sp>
      <p:sp>
        <p:nvSpPr>
          <p:cNvPr id="5" name="Text 3"/>
          <p:cNvSpPr/>
          <p:nvPr/>
        </p:nvSpPr>
        <p:spPr>
          <a:xfrm>
            <a:off x="406301" y="1254323"/>
            <a:ext cx="8498026" cy="639812"/>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All eight limbs: -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yama</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(ethical restraints) -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niyama</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(personal observances) -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āsana</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(posture) -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prāṇāyāma</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(breath regulation) -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pratyāhāra</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(sense-withdrawal) -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dhāraṇā</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(focused attention) -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dhyāna</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(sustained meditation) -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samādhi</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(absorption)</a:t>
            </a:r>
            <a:endParaRPr lang="en-US" sz="1200" dirty="0"/>
          </a:p>
        </p:txBody>
      </p:sp>
      <p:sp>
        <p:nvSpPr>
          <p:cNvPr id="6" name="Text 4"/>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Lesson flow</a:t>
            </a:r>
            <a:endParaRPr lang="en-US" sz="1800" dirty="0"/>
          </a:p>
        </p:txBody>
      </p:sp>
      <p:sp>
        <p:nvSpPr>
          <p:cNvPr id="4" name="Text 2"/>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Settle (2 min)</a:t>
            </a:r>
            <a:endParaRPr lang="en-US" sz="1800" dirty="0"/>
          </a:p>
        </p:txBody>
      </p:sp>
      <p:sp>
        <p:nvSpPr>
          <p:cNvPr id="4" name="Text 2"/>
          <p:cNvSpPr/>
          <p:nvPr/>
        </p:nvSpPr>
        <p:spPr>
          <a:xfrm>
            <a:off x="406301" y="87094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Sukhāsana. 5 breaths.</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Core (15 min) — The eight limbs</a:t>
            </a:r>
            <a:endParaRPr lang="en-US" sz="1800" dirty="0"/>
          </a:p>
        </p:txBody>
      </p:sp>
      <p:sp>
        <p:nvSpPr>
          <p:cNvPr id="4" name="Text 2"/>
          <p:cNvSpPr/>
          <p:nvPr/>
        </p:nvSpPr>
        <p:spPr>
          <a:xfrm>
            <a:off x="634901" y="883593"/>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Reveal the eight-limb chart.</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Walk through each limb with a one-line gloss:</a:t>
            </a:r>
            <a:endParaRPr lang="en-US" sz="1200" dirty="0"/>
          </a:p>
        </p:txBody>
      </p:sp>
      <p:sp>
        <p:nvSpPr>
          <p:cNvPr id="5" name="Text 3"/>
          <p:cNvSpPr/>
          <p:nvPr/>
        </p:nvSpPr>
        <p:spPr>
          <a:xfrm>
            <a:off x="406301" y="1254323"/>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Each row: # · Sanskrit · Meaning · Example.</a:t>
            </a:r>
            <a:endParaRPr lang="en-US" sz="1200" dirty="0"/>
          </a:p>
        </p:txBody>
      </p:sp>
      <p:sp>
        <p:nvSpPr>
          <p:cNvPr id="6" name="Text 4"/>
          <p:cNvSpPr/>
          <p:nvPr/>
        </p:nvSpPr>
        <p:spPr>
          <a:xfrm>
            <a:off x="634901" y="1556445"/>
            <a:ext cx="8102798" cy="1988344"/>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1</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yama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restraints · non-harming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ahiṁsā</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truthfulness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satya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2</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niyama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observances · cleanliness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śauca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self-study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svādhyāya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3</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āsana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posture · tāḍāsana, vṛkṣāsana — what we're learning</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4</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prāṇāyāma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breath regulation · natural-breath observation</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5</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pratyāhāra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sense-withdrawal · turning attention away from external sights/sounds</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6</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dhāraṇā</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focused attention · holding the mind on one object for 12 seconds</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7</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dhyāna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sustained meditation · unbroken attention for several minutes</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8</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samādhi</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absorption · total integration — the final stage</a:t>
            </a:r>
            <a:endParaRPr lang="en-US" sz="1200" dirty="0"/>
          </a:p>
        </p:txBody>
      </p:sp>
      <p:sp>
        <p:nvSpPr>
          <p:cNvPr id="7" name="Text 5"/>
          <p:cNvSpPr/>
          <p:nvPr/>
        </p:nvSpPr>
        <p:spPr>
          <a:xfrm>
            <a:off x="634901" y="3646289"/>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Source quote</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(read aloud, don't memorise):</a:t>
            </a:r>
            <a:endParaRPr lang="en-US" sz="1200" dirty="0"/>
          </a:p>
        </p:txBody>
      </p:sp>
      <p:sp>
        <p:nvSpPr>
          <p:cNvPr id="8" name="Text 6"/>
          <p:cNvSpPr/>
          <p:nvPr/>
        </p:nvSpPr>
        <p:spPr>
          <a:xfrm>
            <a:off x="406301" y="4017020"/>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&gt; "Yoga is practised in eight different stages: yama, niyama, āsana, prāṇāyāma, pratyāhāra, dhāraṇā, dhyāna, and samādhi."    &gt; — Śrīmad-Bhāgavatam, Canto 3 (purport)</a:t>
            </a:r>
            <a:endParaRPr lang="en-US" sz="1200" dirty="0"/>
          </a:p>
        </p:txBody>
      </p:sp>
      <p:sp>
        <p:nvSpPr>
          <p:cNvPr id="9" name="Text 7"/>
          <p:cNvSpPr/>
          <p:nvPr/>
        </p:nvSpPr>
        <p:spPr>
          <a:xfrm>
            <a:off x="406301" y="4519761"/>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&gt; "The Bhagavad-gītā addresses all eight limbs of rāja-yoga." &gt; —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Veda, Secrets from the East</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(Prabhupāda)</a:t>
            </a:r>
            <a:endParaRPr lang="en-US" sz="1200" dirty="0"/>
          </a:p>
        </p:txBody>
      </p:sp>
      <p:sp>
        <p:nvSpPr>
          <p:cNvPr id="10" name="Text 8"/>
          <p:cNvSpPr/>
          <p:nvPr/>
        </p:nvSpPr>
        <p:spPr>
          <a:xfrm>
            <a:off x="634901" y="4821882"/>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Patterns to notice (write on board):</a:t>
            </a:r>
            <a:endParaRPr lang="en-US" sz="1200" dirty="0"/>
          </a:p>
        </p:txBody>
      </p:sp>
      <p:sp>
        <p:nvSpPr>
          <p:cNvPr id="11" name="Text 9"/>
          <p:cNvSpPr/>
          <p:nvPr/>
        </p:nvSpPr>
        <p:spPr>
          <a:xfrm>
            <a:off x="406301" y="5192613"/>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Limbs 1–2 are about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conduct</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(how you live). – Limbs 3–4 are about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the body</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(what we practise this module). – Limbs 5–8 are about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the mind</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a:t>
            </a:r>
            <a:endParaRPr lang="en-US" sz="1200" dirty="0"/>
          </a:p>
        </p:txBody>
      </p:sp>
      <p:sp>
        <p:nvSpPr>
          <p:cNvPr id="12" name="Text 10"/>
          <p:cNvSpPr/>
          <p:nvPr/>
        </p:nvSpPr>
        <p:spPr>
          <a:xfrm>
            <a:off x="634901" y="5708005"/>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"Why does Patañjali put 'living ethically' BEFORE 'posture'? Why not start with the easy physical stuff?"</a:t>
            </a:r>
            <a:endParaRPr lang="en-US" sz="1200" dirty="0"/>
          </a:p>
        </p:txBody>
      </p:sp>
      <p:sp>
        <p:nvSpPr>
          <p:cNvPr id="13" name="Text 11"/>
          <p:cNvSpPr/>
          <p:nvPr/>
        </p:nvSpPr>
        <p:spPr>
          <a:xfrm>
            <a:off x="406301" y="6078736"/>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Take 2 student answers.    – Reinforce: the tradition says a turbulent inner life makes meditation impossible, so you have to settle the outer life first. (At Middle band that's a sufficient gloss.)</a:t>
            </a:r>
            <a:endParaRPr lang="en-US" sz="1200" dirty="0"/>
          </a:p>
        </p:txBody>
      </p:sp>
      <p:sp>
        <p:nvSpPr>
          <p:cNvPr id="14" name="Text 12"/>
          <p:cNvSpPr/>
          <p:nvPr/>
        </p:nvSpPr>
        <p:spPr>
          <a:xfrm>
            <a:off x="406301" y="6657677"/>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Practice (15 min) — Tāḍāsana + introduction to vṛkṣāsana</a:t>
            </a:r>
            <a:endParaRPr lang="en-US" sz="1800" dirty="0"/>
          </a:p>
        </p:txBody>
      </p:sp>
      <p:sp>
        <p:nvSpPr>
          <p:cNvPr id="4" name="Text 2"/>
          <p:cNvSpPr/>
          <p:nvPr/>
        </p:nvSpPr>
        <p:spPr>
          <a:xfrm>
            <a:off x="406301" y="870942"/>
            <a:ext cx="8498026" cy="853083"/>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Tāḍāsana, 3 holds of 30 sec each. – Now: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vṛkṣāsana (tree posture).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 Stand in tāḍāsana. – Shift weight onto the left foot. – Place the right foot's sole against the inside of the left calf (NOT the side of the knee). – Hands at heart centre, or raised above the head. – Gaze fixed on one spot on the wall ahead. – Hold for 20 seconds. Switch sides. – Wobbling is normal. Falling is information, not failure.</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Exit ticket (8 min)</a:t>
            </a:r>
            <a:endParaRPr lang="en-US" sz="1800" dirty="0"/>
          </a:p>
        </p:txBody>
      </p:sp>
      <p:sp>
        <p:nvSpPr>
          <p:cNvPr id="4" name="Text 2"/>
          <p:cNvSpPr/>
          <p:nvPr/>
        </p:nvSpPr>
        <p:spPr>
          <a:xfrm>
            <a:off x="406301" y="870942"/>
            <a:ext cx="8498026" cy="222796"/>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Worksheet: students match each of the 8 limbs to a description. – See </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quizzes/formative.md</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Part A.</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Wrap-up (5 min)</a:t>
            </a:r>
            <a:endParaRPr lang="en-US" sz="1800" dirty="0"/>
          </a:p>
        </p:txBody>
      </p:sp>
      <p:sp>
        <p:nvSpPr>
          <p:cNvPr id="4" name="Text 2"/>
          <p:cNvSpPr/>
          <p:nvPr/>
        </p:nvSpPr>
        <p:spPr>
          <a:xfrm>
            <a:off x="406301" y="870942"/>
            <a:ext cx="8498026" cy="639812"/>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Three-question recap: – Which limb is posture?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(3rd — āsana.)</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 Which limb is breath?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(4th — prāṇāyāma.)</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 What comes LAST?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(8th — samādhi.)</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 Preview Day 3: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"Tomorrow — five foundational āsanas, including the tree we tried today."</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Student-facing content</a:t>
            </a:r>
            <a:endParaRPr lang="en-US" sz="1800" dirty="0"/>
          </a:p>
        </p:txBody>
      </p:sp>
      <p:sp>
        <p:nvSpPr>
          <p:cNvPr id="4" name="Text 2"/>
          <p:cNvSpPr/>
          <p:nvPr/>
        </p:nvSpPr>
        <p:spPr>
          <a:xfrm>
            <a:off x="406301" y="883593"/>
            <a:ext cx="8331398" cy="2112169"/>
          </a:xfrm>
          <a:prstGeom prst="rect">
            <a:avLst/>
          </a:prstGeom>
          <a:solidFill>
            <a:srgbClr val="F4F8F9"/>
          </a:solidFill>
          <a:ln/>
        </p:spPr>
        <p:txBody>
          <a:bodyPr wrap="square" rtlCol="0" anchor="ctr"/>
          <a:lstStyle/>
          <a:p>
            <a:pPr indent="0" marL="0">
              <a:buNone/>
            </a:pPr>
            <a:endParaRPr lang="en-US" dirty="0"/>
          </a:p>
        </p:txBody>
      </p:sp>
      <p:sp>
        <p:nvSpPr>
          <p:cNvPr id="5" name="Shape 3"/>
          <p:cNvSpPr/>
          <p:nvPr/>
        </p:nvSpPr>
        <p:spPr>
          <a:xfrm>
            <a:off x="434876" y="883593"/>
            <a:ext cx="0" cy="2112169"/>
          </a:xfrm>
          <a:prstGeom prst="line">
            <a:avLst/>
          </a:prstGeom>
          <a:noFill/>
          <a:ln w="57150">
            <a:solidFill>
              <a:srgbClr val="FE4447"/>
            </a:solidFill>
            <a:prstDash val="solid"/>
          </a:ln>
        </p:spPr>
      </p:sp>
      <p:sp>
        <p:nvSpPr>
          <p:cNvPr id="6" name="Text 4"/>
          <p:cNvSpPr/>
          <p:nvPr/>
        </p:nvSpPr>
        <p:spPr>
          <a:xfrm>
            <a:off x="692051" y="1074093"/>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b="1" i="1" dirty="0">
                <a:solidFill>
                  <a:srgbClr val="1C2833"/>
                </a:solidFill>
                <a:latin typeface="Georgia" pitchFamily="34" charset="0"/>
                <a:ea typeface="Georgia" pitchFamily="34" charset="-122"/>
                <a:cs typeface="Georgia" pitchFamily="34" charset="-120"/>
              </a:rPr>
              <a:t>The Eight Limbs of Yoga</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(Patañjali's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aṣṭāṅga</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a:t>
            </a:r>
            <a:endParaRPr lang="en-US" sz="1300" dirty="0"/>
          </a:p>
        </p:txBody>
      </p:sp>
      <p:sp>
        <p:nvSpPr>
          <p:cNvPr id="7" name="Text 5"/>
          <p:cNvSpPr/>
          <p:nvPr/>
        </p:nvSpPr>
        <p:spPr>
          <a:xfrm>
            <a:off x="692051" y="1343174"/>
            <a:ext cx="7973389" cy="923925"/>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 | Sanskrit | Meaning | |---|----------|---------| | 1 |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yama</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 restraints (don'ts) | | 2 |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niyama</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 observances (dos) | | 3 |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āsana</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 posture | | 4 |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prāṇāyāma</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 breath regulation | | 5 |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pratyāhāra</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 sense-withdrawal | | 6 |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dhāraṇā</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 focused attention | | 7 |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dhyāna</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 sustained meditation | | 8 |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samādhi</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 absorption |</a:t>
            </a:r>
            <a:endParaRPr lang="en-US" sz="1300" dirty="0"/>
          </a:p>
        </p:txBody>
      </p:sp>
      <p:sp>
        <p:nvSpPr>
          <p:cNvPr id="8" name="Text 6"/>
          <p:cNvSpPr/>
          <p:nvPr/>
        </p:nvSpPr>
        <p:spPr>
          <a:xfrm>
            <a:off x="692051" y="2305199"/>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Limbs 1–2: conduct. 3–4: body. 5–8: mind.</a:t>
            </a:r>
            <a:endParaRPr lang="en-US" sz="1300" dirty="0"/>
          </a:p>
        </p:txBody>
      </p:sp>
      <p:sp>
        <p:nvSpPr>
          <p:cNvPr id="9" name="Text 7"/>
          <p:cNvSpPr/>
          <p:nvPr/>
        </p:nvSpPr>
        <p:spPr>
          <a:xfrm>
            <a:off x="692051" y="2574280"/>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Today's pose: </a:t>
            </a:r>
            <a:pPr algn="l" indent="0" marL="0">
              <a:lnSpc>
                <a:spcPts val="1820"/>
              </a:lnSpc>
              <a:spcBef>
                <a:spcPts val="300"/>
              </a:spcBef>
              <a:spcAft>
                <a:spcPts val="300"/>
              </a:spcAft>
              <a:buNone/>
            </a:pPr>
            <a:r>
              <a:rPr lang="en-US" sz="1300" b="1" i="1" dirty="0">
                <a:solidFill>
                  <a:srgbClr val="1C2833"/>
                </a:solidFill>
                <a:latin typeface="Georgia" pitchFamily="34" charset="0"/>
                <a:ea typeface="Georgia" pitchFamily="34" charset="-122"/>
                <a:cs typeface="Georgia" pitchFamily="34" charset="-120"/>
              </a:rPr>
              <a:t>vṛkṣāsana</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(tree). Stand on one leg. Balance. Wobble is allowed.</a:t>
            </a:r>
            <a:endParaRPr lang="en-US" sz="1300" dirty="0"/>
          </a:p>
        </p:txBody>
      </p:sp>
      <p:sp>
        <p:nvSpPr>
          <p:cNvPr id="10" name="Text 8"/>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Homework</a:t>
            </a:r>
            <a:endParaRPr lang="en-US" sz="1800" dirty="0"/>
          </a:p>
        </p:txBody>
      </p:sp>
      <p:sp>
        <p:nvSpPr>
          <p:cNvPr id="4" name="Text 2"/>
          <p:cNvSpPr/>
          <p:nvPr/>
        </p:nvSpPr>
        <p:spPr>
          <a:xfrm>
            <a:off x="406301" y="870942"/>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Memorise the 8 limbs in order. Bring to next class — pop quiz. – Practice tāḍāsana + vṛkṣāsana for 5 min before breakfast.</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Differentiation</a:t>
            </a:r>
            <a:endParaRPr lang="en-US" sz="1800" dirty="0"/>
          </a:p>
        </p:txBody>
      </p:sp>
      <p:sp>
        <p:nvSpPr>
          <p:cNvPr id="4" name="Text 2"/>
          <p:cNvSpPr/>
          <p:nvPr/>
        </p:nvSpPr>
        <p:spPr>
          <a:xfrm>
            <a:off x="634901" y="883593"/>
            <a:ext cx="8102798" cy="73134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Tier up:</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Add the meanings of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yama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and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niyama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with at least 2 examples each (ahiṁsā, satya, śauca, santoṣa, etc.).</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Tier down:</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Memorise just the 4 physical/body limbs (3, 4, 5) — āsana, prāṇāyāma, pratyāhāra — and the 1 mental endpoint (8 — samādhi). Build up.</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Teacher notes</a:t>
            </a:r>
            <a:endParaRPr lang="en-US" sz="1800" dirty="0"/>
          </a:p>
        </p:txBody>
      </p:sp>
      <p:sp>
        <p:nvSpPr>
          <p:cNvPr id="4" name="Text 2"/>
          <p:cNvSpPr/>
          <p:nvPr/>
        </p:nvSpPr>
        <p:spPr>
          <a:xfrm>
            <a:off x="406301" y="870942"/>
            <a:ext cx="8498026" cy="853083"/>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The Sanskrit names will be slippery for some students. Daily chorus repetition helps; create a hand gesture per limb for the kinesthetic learners. – Watch knee placement during vṛkṣāsana — the foot must NOT press into the side of the knee (medial cruciate strain risk). Foot above OR below the knee, never on it. – If a student falls during balance, normalise it: "wobbling is what balance learning looks like."</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Citation(s) used in this lesson</a:t>
            </a:r>
            <a:endParaRPr lang="en-US" sz="1800" dirty="0"/>
          </a:p>
        </p:txBody>
      </p:sp>
      <p:sp>
        <p:nvSpPr>
          <p:cNvPr id="4" name="Text 2"/>
          <p:cNvSpPr/>
          <p:nvPr/>
        </p:nvSpPr>
        <p:spPr>
          <a:xfrm>
            <a:off x="634901" y="883593"/>
            <a:ext cx="8102798" cy="50661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vidya-karana RAG cache </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day-02-eightlimbs.json</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chunks from SB 3 purport,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Veda, Secrets from the East</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Journey of Self Discovery</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 Middle</dc:title>
  <dc:subject>PptxGenJS Presentation</dc:subject>
  <dc:creator>IKS Curriculum</dc:creator>
  <cp:lastModifiedBy>IKS Curriculum</cp:lastModifiedBy>
  <cp:revision>1</cp:revision>
  <dcterms:created xsi:type="dcterms:W3CDTF">2026-05-28T04:20:23Z</dcterms:created>
  <dcterms:modified xsi:type="dcterms:W3CDTF">2026-05-28T04:20:23Z</dcterms:modified>
</cp:coreProperties>
</file>