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4 — Dinacharya (Daily Routine)</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Ayurveda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recall the components of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dinacharya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(waking, oral hygiene, oil massage, exercise, meals, sleep) and articulate the principle behind each.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Wall chart of dinacharya timeline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Whiteboard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Dinacharya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daily routine (literally "day's conduct")</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Brāhma muhūrta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"Brahma's hour," ~96 min before sunrise (recommended wake time, traditionally)</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Abhyanga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oil self-massage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Vyāyāma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exercise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Daily prompt + recall: dosha balance principle from yesterday.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dinacharya timeline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(build on the board, in order):</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Time · Practice · Why.</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634901" y="883593"/>
            <a:ext cx="8102798" cy="15007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Brāhma muhūrta (before sunrise)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Wake · Body's natural alertness peak</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Just after waking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Drink warm water · Stimulates digestion, aids elimination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Oral hygiene (tongue scraping, oil pulling) · Removes overnight buildup</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Pre-bath</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Abhyanga (warm oil self-massage) · Calms Vāta; nourishes skin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Exercise (vyāyāma) — up to 50% capacity · Builds Pitta; doesn't deplete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Mid-morning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Largest meal of the day · Digestive fire (Pitta) is strongest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Evening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Light dinner, before sunset (ideally) · Aligns with digestive rhythm</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Night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Sleep by 10pm · Aligns with Kapha→Pitta night cycle</a:t>
            </a:r>
            <a:endParaRPr lang="en-US" sz="1200" dirty="0"/>
          </a:p>
        </p:txBody>
      </p:sp>
      <p:sp>
        <p:nvSpPr>
          <p:cNvPr id="5" name="Text 3"/>
          <p:cNvSpPr/>
          <p:nvPr/>
        </p:nvSpPr>
        <p:spPr>
          <a:xfrm>
            <a:off x="634901" y="1510754"/>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principle: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the day is divided into Kapha (6am–10am), Pitta (10am–2pm), Vāta (2pm–6pm), then repeating. Each time block has dominant dosha character. Activities aligned with the block work with the body, not against it.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Modern science overlap:</a:t>
            </a:r>
            <a:endParaRPr lang="en-US" sz="1200" dirty="0"/>
          </a:p>
        </p:txBody>
      </p:sp>
      <p:sp>
        <p:nvSpPr>
          <p:cNvPr id="5" name="Text 3"/>
          <p:cNvSpPr/>
          <p:nvPr/>
        </p:nvSpPr>
        <p:spPr>
          <a:xfrm>
            <a:off x="634901" y="1266974"/>
            <a:ext cx="8102798" cy="121890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Circadian biology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(Aschoff 1965, Nobel Prize 2017 to Hall, Rosbash, Young) — confirms ~24-hour rhythms in metabolism, hormones, sleep.</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Time-restricted eating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(Satchidananda Panda's work) — confirms larger meal earlier is metabolically better.</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Sleep science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confirms sleeping by ~10pm aligns with melatonin curve.</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Oil massage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emerging evidence on skin barrier, lymphatic drainage.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(25 min)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honest framing: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Many dinacharya practices align with modern lifestyle medicine. The framework was figured out from observation centuries before modern measurement.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Read primary source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BG 6.17:</a:t>
            </a:r>
            <a:endParaRPr lang="en-US" sz="1200" dirty="0"/>
          </a:p>
        </p:txBody>
      </p:sp>
      <p:sp>
        <p:nvSpPr>
          <p:cNvPr id="5" name="Text 3"/>
          <p:cNvSpPr/>
          <p:nvPr/>
        </p:nvSpPr>
        <p:spPr>
          <a:xfrm>
            <a:off x="406301" y="1173063"/>
            <a:ext cx="8331398" cy="611981"/>
          </a:xfrm>
          <a:prstGeom prst="rect">
            <a:avLst/>
          </a:prstGeom>
          <a:solidFill>
            <a:srgbClr val="F4F8F9"/>
          </a:solidFill>
          <a:ln/>
        </p:spPr>
        <p:txBody>
          <a:bodyPr wrap="square" rtlCol="0" anchor="ctr"/>
          <a:lstStyle/>
          <a:p>
            <a:pPr indent="0" marL="0">
              <a:buNone/>
            </a:pPr>
            <a:endParaRPr lang="en-US" dirty="0"/>
          </a:p>
        </p:txBody>
      </p:sp>
      <p:sp>
        <p:nvSpPr>
          <p:cNvPr id="6" name="Shape 4"/>
          <p:cNvSpPr/>
          <p:nvPr/>
        </p:nvSpPr>
        <p:spPr>
          <a:xfrm>
            <a:off x="434876" y="1173063"/>
            <a:ext cx="0" cy="611981"/>
          </a:xfrm>
          <a:prstGeom prst="line">
            <a:avLst/>
          </a:prstGeom>
          <a:noFill/>
          <a:ln w="57150">
            <a:solidFill>
              <a:srgbClr val="FE4447"/>
            </a:solidFill>
            <a:prstDash val="solid"/>
          </a:ln>
        </p:spPr>
      </p:sp>
      <p:sp>
        <p:nvSpPr>
          <p:cNvPr id="7" name="Text 5"/>
          <p:cNvSpPr/>
          <p:nvPr/>
        </p:nvSpPr>
        <p:spPr>
          <a:xfrm>
            <a:off x="692051" y="136356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yuktāhāra-vihārasya yukta-ceṣṭasya karmasu</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yukta-svapnāvabodhasya yogo bhavati duḥkha-hā</a:t>
            </a:r>
            <a:endParaRPr lang="en-US" sz="1300" dirty="0"/>
          </a:p>
        </p:txBody>
      </p:sp>
      <p:sp>
        <p:nvSpPr>
          <p:cNvPr id="8" name="Text 6"/>
          <p:cNvSpPr/>
          <p:nvPr/>
        </p:nvSpPr>
        <p:spPr>
          <a:xfrm>
            <a:off x="406301" y="1873895"/>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"He who is regulated in eating, recreation, work, sleep, and waking can mitigate sorrow."</a:t>
            </a:r>
            <a:endParaRPr lang="en-US" sz="1200" dirty="0"/>
          </a:p>
        </p:txBody>
      </p:sp>
      <p:sp>
        <p:nvSpPr>
          <p:cNvPr id="9" name="Text 7"/>
          <p:cNvSpPr/>
          <p:nvPr/>
        </p:nvSpPr>
        <p:spPr>
          <a:xfrm>
            <a:off x="406301" y="216336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(Read aloud once. Won't fully analyse today — that's Day 7.)</a:t>
            </a:r>
            <a:endParaRPr lang="en-US" sz="12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(8 min) — Map your dinacharya</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Each student writes their CURRENT daily routine in the dinacharya timeline format. Notice where it aligns and where it doesn't.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(2 min)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5: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 mid-module check + project topic."</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Pick ONE dinacharya practice you don't currently do. Try it tomorrow. Note how it felt.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about Panda's time-restricted eating research. Note overlap with dinacharya meal timing.</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Focus on 3 practices: wake with sun, eat largest meal mid-morning, sleep by 10pm.</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"brāhma muhūrta wake time" is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traditionally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recommended but unrealistic for many students. Don't push.</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science overlap is real; don't oversell ("Ayurveda predicted everything"). The honest framing: "tradition observed; science measured; they agree on much."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a:t>
            </a:r>
            <a:endParaRPr lang="en-US" sz="1800" dirty="0"/>
          </a:p>
        </p:txBody>
      </p:sp>
      <p:sp>
        <p:nvSpPr>
          <p:cNvPr id="4" name="Text 2"/>
          <p:cNvSpPr/>
          <p:nvPr/>
        </p:nvSpPr>
        <p:spPr>
          <a:xfrm>
            <a:off x="634901" y="883593"/>
            <a:ext cx="8102798" cy="54471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BG 6.17 — vidya-karana RAG cache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day-04-dinacharya.json#chunks[0]</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Panda, S. (2018).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The Circadian Code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Rodale. (Modern alignment.)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2026-05-28T05:43:35Z</dcterms:created>
  <dcterms:modified xsi:type="dcterms:W3CDTF">2026-05-28T05:43:35Z</dcterms:modified>
</cp:coreProperties>
</file>