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380851"/>
            <a:ext cx="8498026" cy="350490"/>
          </a:xfrm>
          <a:prstGeom prst="rect">
            <a:avLst/>
          </a:prstGeom>
          <a:noFill/>
          <a:ln/>
        </p:spPr>
        <p:txBody>
          <a:bodyPr wrap="square" lIns="0" tIns="0" rIns="0" bIns="0" rtlCol="0" anchor="t"/>
          <a:lstStyle/>
          <a:p>
            <a:pPr algn="l" indent="0" marL="0">
              <a:lnSpc>
                <a:spcPts val="2760"/>
              </a:lnSpc>
              <a:spcAft>
                <a:spcPts val="1000"/>
              </a:spcAft>
              <a:buNone/>
            </a:pPr>
            <a:r>
              <a:rPr lang="en-US" sz="2400" b="1" dirty="0">
                <a:solidFill>
                  <a:srgbClr val="277884"/>
                </a:solidFill>
                <a:latin typeface="Georgia" pitchFamily="34" charset="0"/>
                <a:ea typeface="Georgia" pitchFamily="34" charset="-122"/>
                <a:cs typeface="Georgia" pitchFamily="34" charset="-120"/>
              </a:rPr>
              <a:t>Day 5 — Mid-Module Check</a:t>
            </a:r>
            <a:endParaRPr lang="en-US" sz="2400" dirty="0"/>
          </a:p>
        </p:txBody>
      </p:sp>
      <p:sp>
        <p:nvSpPr>
          <p:cNvPr id="4" name="Text 2"/>
          <p:cNvSpPr/>
          <p:nvPr/>
        </p:nvSpPr>
        <p:spPr>
          <a:xfrm>
            <a:off x="406301" y="89639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Module: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Panchabhūta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Band: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Middle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Time: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45 min</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Learning objective</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By the end of this lesson, students will demonstrate working recall of all five elements, their qualities, and the creation sequence, and will commit to a project topic and partner.</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Materials</a:t>
            </a:r>
            <a:endParaRPr lang="en-US" sz="1800" dirty="0"/>
          </a:p>
        </p:txBody>
      </p:sp>
      <p:sp>
        <p:nvSpPr>
          <p:cNvPr id="4" name="Text 2"/>
          <p:cNvSpPr/>
          <p:nvPr/>
        </p:nvSpPr>
        <p:spPr>
          <a:xfrm>
            <a:off x="634901" y="883593"/>
            <a:ext cx="8102798" cy="8075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Printed formative quiz (5 questions, see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quizzes/formative.md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Part B) — one per student.</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Sample project briefs (see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assessments/project-brief.md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one per pair.</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Sticky notes (3 per student).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Lesson flow</a:t>
            </a:r>
            <a:endParaRPr lang="en-US" sz="1800" dirty="0"/>
          </a:p>
        </p:txBody>
      </p:sp>
      <p:sp>
        <p:nvSpPr>
          <p:cNvPr id="4" name="Text 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Warm-up (5 min)</a:t>
            </a:r>
            <a:endParaRPr lang="en-US" sz="1800" dirty="0"/>
          </a:p>
        </p:txBody>
      </p:sp>
      <p:sp>
        <p:nvSpPr>
          <p:cNvPr id="4" name="Text 2"/>
          <p:cNvSpPr/>
          <p:nvPr/>
        </p:nvSpPr>
        <p:spPr>
          <a:xfrm>
            <a:off x="634901" y="883593"/>
            <a:ext cx="8102798" cy="5256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Hand back yesterday's formative slip (the 5 quick questions from Day 3). Don't review answers — just hand them back.</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Daily prompt: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"Which element did you notice most over the weekend?"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2 students.</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(20 min) — Formative quiz + class review</a:t>
            </a:r>
            <a:endParaRPr lang="en-US" sz="1800" dirty="0"/>
          </a:p>
        </p:txBody>
      </p:sp>
      <p:sp>
        <p:nvSpPr>
          <p:cNvPr id="4" name="Text 2"/>
          <p:cNvSpPr/>
          <p:nvPr/>
        </p:nvSpPr>
        <p:spPr>
          <a:xfrm>
            <a:off x="634901" y="883593"/>
            <a:ext cx="8102798" cy="116175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Formative quiz (10 min)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quizzes/formative.md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Part B. Closed notebook. 5 questions: MCQ on the order of emergence, fill-in on the quality-table, one short-answer "name an object dominated by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ākāśa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Review together (10 min)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go through each question. Don't grade now; grade overnight. The goal here is exposure to common errors. Ask: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"who would have answered (b)? Why?"</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Invite the wrong reasoning, surface the misconception, correct it.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Activity (15 min) — Project commitment</a:t>
            </a:r>
            <a:endParaRPr lang="en-US" sz="1800" dirty="0"/>
          </a:p>
        </p:txBody>
      </p:sp>
      <p:sp>
        <p:nvSpPr>
          <p:cNvPr id="4" name="Text 2"/>
          <p:cNvSpPr/>
          <p:nvPr/>
        </p:nvSpPr>
        <p:spPr>
          <a:xfrm>
            <a:off x="634901" y="883593"/>
            <a:ext cx="8102798" cy="2155924"/>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Hand out the project brief. Read aloud the </a:t>
            </a:r>
            <a:pPr algn="l" indent="0" marL="0">
              <a:lnSpc>
                <a:spcPts val="1620"/>
              </a:lnSpc>
              <a:spcAft>
                <a:spcPts val="300"/>
              </a:spcAft>
              <a:buNone/>
            </a:pPr>
            <a:r>
              <a:rPr lang="en-US" sz="1200" b="1" dirty="0">
                <a:solidFill>
                  <a:srgbClr val="1C2833"/>
                </a:solidFill>
                <a:latin typeface="Arial" pitchFamily="34" charset="0"/>
                <a:ea typeface="Arial" pitchFamily="34" charset="-122"/>
                <a:cs typeface="Arial" pitchFamily="34" charset="-120"/>
              </a:rPr>
              <a:t>one-paragraph project description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and the </a:t>
            </a:r>
            <a:pPr algn="l" indent="0" marL="0">
              <a:lnSpc>
                <a:spcPts val="1620"/>
              </a:lnSpc>
              <a:spcAft>
                <a:spcPts val="300"/>
              </a:spcAft>
              <a:buNone/>
            </a:pPr>
            <a:r>
              <a:rPr lang="en-US" sz="1200" b="1" dirty="0">
                <a:solidFill>
                  <a:srgbClr val="1C2833"/>
                </a:solidFill>
                <a:latin typeface="Arial" pitchFamily="34" charset="0"/>
                <a:ea typeface="Arial" pitchFamily="34" charset="-122"/>
                <a:cs typeface="Arial" pitchFamily="34" charset="-120"/>
              </a:rPr>
              <a:t>list of project format options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(poster, demo, short story, 90-second video, infographic, songbook).</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Pairs / individuals choose:</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Element they'll focus on</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Format</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One-sentence "what we'll show"</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Each pair writes their three choices on a sticky note and posts on the board under the element label.</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Teacher does a 30-second sanity check on each — if a pair has chosen something impractical for the time available, redirect now.</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Wrap-up (5 min)</a:t>
            </a:r>
            <a:endParaRPr lang="en-US" sz="1800" dirty="0"/>
          </a:p>
        </p:txBody>
      </p:sp>
      <p:sp>
        <p:nvSpPr>
          <p:cNvPr id="4" name="Text 2"/>
          <p:cNvSpPr/>
          <p:nvPr/>
        </p:nvSpPr>
        <p:spPr>
          <a:xfrm>
            <a:off x="634901" y="883593"/>
            <a:ext cx="8102798" cy="9370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The board is a snapshot of the class's project distribution. Note out loud: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"We have 4 groups on water, only 1 on space — interesting. Group on space, you'll have a unique presentation. Water groups, find a way to make yours distinct."</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Preview Day 6: "Tomorrow we leave Sanskrit for a day and look at the modern science framework — and ask which one is 'right.'"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Student-facing content</a:t>
            </a:r>
            <a:endParaRPr lang="en-US" sz="1800" dirty="0"/>
          </a:p>
        </p:txBody>
      </p:sp>
      <p:sp>
        <p:nvSpPr>
          <p:cNvPr id="4" name="Text 2"/>
          <p:cNvSpPr/>
          <p:nvPr/>
        </p:nvSpPr>
        <p:spPr>
          <a:xfrm>
            <a:off x="406301" y="883593"/>
            <a:ext cx="8331398" cy="1881187"/>
          </a:xfrm>
          <a:prstGeom prst="rect">
            <a:avLst/>
          </a:prstGeom>
          <a:solidFill>
            <a:srgbClr val="F4F8F9"/>
          </a:solidFill>
          <a:ln/>
        </p:spPr>
        <p:txBody>
          <a:bodyPr wrap="square" rtlCol="0" anchor="ctr"/>
          <a:lstStyle/>
          <a:p>
            <a:pPr indent="0" marL="0">
              <a:buNone/>
            </a:pPr>
            <a:endParaRPr lang="en-US" dirty="0"/>
          </a:p>
        </p:txBody>
      </p:sp>
      <p:sp>
        <p:nvSpPr>
          <p:cNvPr id="5" name="Shape 3"/>
          <p:cNvSpPr/>
          <p:nvPr/>
        </p:nvSpPr>
        <p:spPr>
          <a:xfrm>
            <a:off x="434876" y="883593"/>
            <a:ext cx="0" cy="1881187"/>
          </a:xfrm>
          <a:prstGeom prst="line">
            <a:avLst/>
          </a:prstGeom>
          <a:noFill/>
          <a:ln w="57150">
            <a:solidFill>
              <a:srgbClr val="FE4447"/>
            </a:solidFill>
            <a:prstDash val="solid"/>
          </a:ln>
        </p:spPr>
      </p:sp>
      <p:sp>
        <p:nvSpPr>
          <p:cNvPr id="6" name="Text 4"/>
          <p:cNvSpPr/>
          <p:nvPr/>
        </p:nvSpPr>
        <p:spPr>
          <a:xfrm>
            <a:off x="692051" y="1074093"/>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Mid-module check</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 you'll take a short quiz today and choose your project.</a:t>
            </a:r>
            <a:endParaRPr lang="en-US" sz="1300" dirty="0"/>
          </a:p>
        </p:txBody>
      </p:sp>
      <p:sp>
        <p:nvSpPr>
          <p:cNvPr id="7" name="Text 5"/>
          <p:cNvSpPr/>
          <p:nvPr/>
        </p:nvSpPr>
        <p:spPr>
          <a:xfrm>
            <a:off x="692051" y="1343174"/>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Project options for your final assignment (Days 8–10):</a:t>
            </a:r>
            <a:endParaRPr lang="en-US" sz="1300" dirty="0"/>
          </a:p>
        </p:txBody>
      </p:sp>
      <p:sp>
        <p:nvSpPr>
          <p:cNvPr id="8" name="Text 6"/>
          <p:cNvSpPr/>
          <p:nvPr/>
        </p:nvSpPr>
        <p:spPr>
          <a:xfrm>
            <a:off x="692051" y="1612255"/>
            <a:ext cx="7973389" cy="692944"/>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Format | Best for elements ... | |--------|------------------------| | Poster (A2) | Any | | Live demo (2 min) |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tejas</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(fire),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vāyu</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(air) | | Short story (1 page) | Any — especially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ākāśa</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 | 90-second video | Any | | Infographic |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pṛthvī</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ap</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(data-heavy) | | Original song / poem |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vāyu</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ākāśa</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a:t>
            </a:r>
            <a:endParaRPr lang="en-US" sz="1300" dirty="0"/>
          </a:p>
        </p:txBody>
      </p:sp>
      <p:sp>
        <p:nvSpPr>
          <p:cNvPr id="9" name="Text 7"/>
          <p:cNvSpPr/>
          <p:nvPr/>
        </p:nvSpPr>
        <p:spPr>
          <a:xfrm>
            <a:off x="692051" y="2343299"/>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You'll work in pairs or alone. Decide today.</a:t>
            </a:r>
            <a:endParaRPr lang="en-US" sz="1300" dirty="0"/>
          </a:p>
        </p:txBody>
      </p:sp>
      <p:sp>
        <p:nvSpPr>
          <p:cNvPr id="10" name="Text 8"/>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Homework</a:t>
            </a:r>
            <a:endParaRPr lang="en-US" sz="1800" dirty="0"/>
          </a:p>
        </p:txBody>
      </p:sp>
      <p:sp>
        <p:nvSpPr>
          <p:cNvPr id="4" name="Text 2"/>
          <p:cNvSpPr/>
          <p:nvPr/>
        </p:nvSpPr>
        <p:spPr>
          <a:xfrm>
            <a:off x="634901" y="883593"/>
            <a:ext cx="8102798" cy="7313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Submit project plan in writing by next morning. Format: 1 paragraph stating element, format, and what audience will see/hear/feel.</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Begin gathering project materials.</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Differentiation</a:t>
            </a:r>
            <a:endParaRPr lang="en-US" sz="1800" dirty="0"/>
          </a:p>
        </p:txBody>
      </p:sp>
      <p:sp>
        <p:nvSpPr>
          <p:cNvPr id="4" name="Text 2"/>
          <p:cNvSpPr/>
          <p:nvPr/>
        </p:nvSpPr>
        <p:spPr>
          <a:xfrm>
            <a:off x="634901" y="883593"/>
            <a:ext cx="8102798" cy="7313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up:</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 pair tackling space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ākāśa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challenge: how do you make a poster about emptiness? Force the constraint and find a creative answer.</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down: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Allow individual work with teacher check-ins every 10 minutes during Days 8–9.</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Teacher notes</a:t>
            </a:r>
            <a:endParaRPr lang="en-US" sz="1800" dirty="0"/>
          </a:p>
        </p:txBody>
      </p:sp>
      <p:sp>
        <p:nvSpPr>
          <p:cNvPr id="4" name="Text 2"/>
          <p:cNvSpPr/>
          <p:nvPr/>
        </p:nvSpPr>
        <p:spPr>
          <a:xfrm>
            <a:off x="634901" y="883593"/>
            <a:ext cx="8102798" cy="9370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Grade the formative quiz tonight and walk in tomorrow knowing who is shaky on the creation sequence vs. who is shaky on the tanmātra mapping. The two error patterns need different reteaching.</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If too many pairs cluster on one element (e.g. 6 pairs on fire), gently broker — "groups 4 and 5, would you consider switching to space or air? You'll have less competition for attention on presentation day."</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Citation(s) used in this lesson</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No new citations introduced.</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 Middle</dc:title>
  <dc:subject>PptxGenJS Presentation</dc:subject>
  <dc:creator>IKS Curriculum</dc:creator>
  <cp:lastModifiedBy>IKS Curriculum</cp:lastModifiedBy>
  <cp:revision>1</cp:revision>
  <dcterms:created xsi:type="dcterms:W3CDTF">2026-05-28T05:42:40Z</dcterms:created>
  <dcterms:modified xsi:type="dcterms:W3CDTF">2026-05-28T05:42:40Z</dcterms:modified>
</cp:coreProperties>
</file>