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</p:sldIdLst>
  <p:notesMasterIdLst>
    <p:notesMasterId r:id="rId20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notesMaster" Target="notesMasters/notesMaster1.xml"/><Relationship Id="rId21" Type="http://schemas.openxmlformats.org/officeDocument/2006/relationships/presProps" Target="presProps.xml"/><Relationship Id="rId22" Type="http://schemas.openxmlformats.org/officeDocument/2006/relationships/viewProps" Target="viewProps.xml"/><Relationship Id="rId23" Type="http://schemas.openxmlformats.org/officeDocument/2006/relationships/theme" Target="theme/theme1.xml"/><Relationship Id="rId24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27788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380851"/>
            <a:ext cx="8498026" cy="7009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760"/>
              </a:lnSpc>
              <a:spcAft>
                <a:spcPts val="1000"/>
              </a:spcAft>
              <a:buNone/>
            </a:pPr>
            <a:r>
              <a:rPr lang="en-US" sz="2400" b="1" dirty="0">
                <a:solidFill>
                  <a:srgbClr val="277884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Day 6 — Cross-Disciplinary: Pañcabhūta and Modern Science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406301" y="1246882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b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Module: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Panchabhūta ·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b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Band: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Middle ·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b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Time: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45 min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Middle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27788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FE444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Learning objective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42654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By the end of this lesson, students will compare the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pañcabhūta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framework with the modern states-of-matter / periodic-table framework, identifying what each captures that the other does not.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Middle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27788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FE444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Materials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634901" y="883593"/>
            <a:ext cx="8102798" cy="76944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copy of the standard periodic table on the wall (any classroom poster works).</a:t>
            </a:r>
            <a:endParaRPr lang="en-US" sz="1200" dirty="0"/>
          </a:p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printed 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pañcabhūta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table (the one built on Day 3).</a:t>
            </a:r>
            <a:endParaRPr lang="en-US" sz="1200" dirty="0"/>
          </a:p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two-column comparison worksheet (blank, students fill in).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Middle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27788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FE444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Vocabulary recap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 new Sanskrit. Today is the day to use English freely and compare frameworks.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Middle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27788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FE444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Lesson flow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Middle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27788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FE444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Warm-up (5 min)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634901" y="883593"/>
            <a:ext cx="8102798" cy="97512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Daily prompt — 2 students.</a:t>
            </a:r>
            <a:endParaRPr lang="en-US" sz="1200" dirty="0"/>
          </a:p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Provocation: 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"If I told you 'fire is not an element,' would I be right or wrong?"</a:t>
            </a:r>
            <a:endParaRPr lang="en-US" sz="1200" dirty="0"/>
          </a:p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Take both sides. Don't resolve. 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"Today we'll see how both answers can be correct, because they're answering different questions."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Middle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27788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FE444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Core (25 min)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634901" y="883593"/>
            <a:ext cx="8102798" cy="281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b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Two frameworks, two questions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— put on the board: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1254323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Each row: Framework · What it sorts · The question it answers.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634901" y="1556445"/>
            <a:ext cx="8102798" cy="52566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Pañcabhūta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(c. 1500 BCE onwards) — Everyday matter and space · "What categories of stuff do I live among?"</a:t>
            </a:r>
            <a:endParaRPr lang="en-US" sz="1200" dirty="0"/>
          </a:p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b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Modern periodic table (1869 onwards)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— Atoms · "What kinds of atoms exist?"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Middle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27788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FE444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Core (25 min) (cont.)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634901" y="883593"/>
            <a:ext cx="8102798" cy="281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b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Side-by-side comparison.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Build this table together on the board (students copy):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1254323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Each row: Property ·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Pañcabhūta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· Modern science.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Middle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27788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FE444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Core (25 min) (cont.)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634901" y="883593"/>
            <a:ext cx="8102798" cy="150078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b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Number of categories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— 5 · 118 elements; ~4 states of matter</a:t>
            </a:r>
            <a:endParaRPr lang="en-US" sz="1200" dirty="0"/>
          </a:p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b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Includes empty space?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— Yes (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ākāśa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) · No (space is the 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absence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of matter)</a:t>
            </a:r>
            <a:endParaRPr lang="en-US" sz="1200" dirty="0"/>
          </a:p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b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Distinguishes heat/light?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— Yes (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tejas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is its own element) · No (energy is not an element; fire is hot gas)</a:t>
            </a:r>
            <a:endParaRPr lang="en-US" sz="1200" dirty="0"/>
          </a:p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b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Distinguishes liquid from solid?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— Yes (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ap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vs 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pṛthvī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) · Yes (states of matter)</a:t>
            </a:r>
            <a:endParaRPr lang="en-US" sz="1200" dirty="0"/>
          </a:p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b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Distinguishes hydrogen from helium?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— No (both are 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vāyu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) · Yes (different atoms)</a:t>
            </a:r>
            <a:endParaRPr lang="en-US" sz="1200" dirty="0"/>
          </a:p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b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Method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— Sensory observation · Experiment + measurement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Middle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27788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FE444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Core (25 min) (cont.)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634901" y="883593"/>
            <a:ext cx="8102798" cy="281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b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Useful for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— Sorting your everyday environment, ecology, Ayurveda · Chemistry, materials science, physics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634901" y="1266974"/>
            <a:ext cx="8102798" cy="281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b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Important framing (write large on the board):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406301" y="1650355"/>
            <a:ext cx="8331398" cy="842963"/>
          </a:xfrm>
          <a:prstGeom prst="rect">
            <a:avLst/>
          </a:prstGeom>
          <a:solidFill>
            <a:srgbClr val="F4F8F9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7" name="Shape 5"/>
          <p:cNvSpPr/>
          <p:nvPr/>
        </p:nvSpPr>
        <p:spPr>
          <a:xfrm>
            <a:off x="434876" y="1650355"/>
            <a:ext cx="0" cy="842963"/>
          </a:xfrm>
          <a:prstGeom prst="line">
            <a:avLst/>
          </a:prstGeom>
          <a:noFill/>
          <a:ln w="57150">
            <a:solidFill>
              <a:srgbClr val="FE4447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692051" y="1840855"/>
            <a:ext cx="7973389" cy="46196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2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300" b="1" i="1" dirty="0">
                <a:solidFill>
                  <a:srgbClr val="1C283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It is not a competition.</a:t>
            </a:r>
            <a:pPr algn="l" indent="0" marL="0">
              <a:lnSpc>
                <a:spcPts val="182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300" dirty="0">
                <a:solidFill>
                  <a:srgbClr val="1C283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A modern chemist still uses the words </a:t>
            </a:r>
            <a:pPr algn="l" indent="0" marL="0">
              <a:lnSpc>
                <a:spcPts val="182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300" i="1" dirty="0">
                <a:solidFill>
                  <a:srgbClr val="1C283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solid, liquid, gas</a:t>
            </a:r>
            <a:pPr algn="l" indent="0" marL="0">
              <a:lnSpc>
                <a:spcPts val="182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300" dirty="0">
                <a:solidFill>
                  <a:srgbClr val="1C283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. Modern Indian classical music still teaches </a:t>
            </a:r>
            <a:pPr algn="l" indent="0" marL="0">
              <a:lnSpc>
                <a:spcPts val="182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300" i="1" dirty="0">
                <a:solidFill>
                  <a:srgbClr val="1C283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śabda</a:t>
            </a:r>
            <a:pPr algn="l" indent="0" marL="0">
              <a:lnSpc>
                <a:spcPts val="182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300" dirty="0">
                <a:solidFill>
                  <a:srgbClr val="1C283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. Both frameworks survive because both are useful.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Middle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27788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FE444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Core (25 min) (cont.)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634901" y="883593"/>
            <a:ext cx="8102798" cy="281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b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One worked example: a candle flame.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634901" y="1266974"/>
            <a:ext cx="8102798" cy="118080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Pañcabhūta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lens: dominantly 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tejas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(heat + light + transformation). Touching air (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vāyu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) which feeds it. Made possible by 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ākāśa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around it.</a:t>
            </a:r>
            <a:endParaRPr lang="en-US" sz="1200" dirty="0"/>
          </a:p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Modern chemistry lens: combustion reaction — hydrocarbon (wax) + O₂ → CO₂ + H₂O + light + heat. The "flame" is incandescent gas (mostly soot particles glowing).</a:t>
            </a:r>
            <a:endParaRPr lang="en-US" sz="1200" dirty="0"/>
          </a:p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Same object, two complete descriptions. Neither one wrong.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Middle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27788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FE444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Activity (10 min) — Compare-Contrast Worksheet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Students pick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b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any 3 objects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from the Day 4 sort. For each, they fill in a 2-column row: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634901" y="1173063"/>
            <a:ext cx="8102798" cy="52566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b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Pañcabhūta description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(which element dominates, which tanmātra, which others present)</a:t>
            </a:r>
            <a:endParaRPr lang="en-US" sz="1200" dirty="0"/>
          </a:p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b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Modern science description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(state of matter, dominant chemical components if known)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406301" y="1787575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They then write one sentence: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"For this object, the framework I'd choose to describe it depends on ..."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Middle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27788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FE444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Wrap-up (5 min)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634901" y="883593"/>
            <a:ext cx="8102798" cy="97512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Cold-call 3 students to share their "I'd choose framework X because ..." sentence.</a:t>
            </a:r>
            <a:endParaRPr lang="en-US" sz="1200" dirty="0"/>
          </a:p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Note out loud: there's no universal right answer. The framework depends on the question.</a:t>
            </a:r>
            <a:endParaRPr lang="en-US" sz="1200" dirty="0"/>
          </a:p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Preview Day 7: "Tomorrow we'll look at what happens when one of the five elements is 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out of balance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in a real ecosystem — and what that has to do with us."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Middle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27788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FE444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Student-facing content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83593"/>
            <a:ext cx="8331398" cy="2343150"/>
          </a:xfrm>
          <a:prstGeom prst="rect">
            <a:avLst/>
          </a:prstGeom>
          <a:solidFill>
            <a:srgbClr val="F4F8F9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5" name="Shape 3"/>
          <p:cNvSpPr/>
          <p:nvPr/>
        </p:nvSpPr>
        <p:spPr>
          <a:xfrm>
            <a:off x="434876" y="883593"/>
            <a:ext cx="0" cy="2343150"/>
          </a:xfrm>
          <a:prstGeom prst="line">
            <a:avLst/>
          </a:prstGeom>
          <a:noFill/>
          <a:ln w="57150">
            <a:solidFill>
              <a:srgbClr val="FE4447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692051" y="1074093"/>
            <a:ext cx="7973389" cy="23098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2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300" b="1" i="1" dirty="0">
                <a:solidFill>
                  <a:srgbClr val="1C283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Two frameworks for the same world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692051" y="1343174"/>
            <a:ext cx="7973389" cy="6929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2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300" dirty="0">
                <a:solidFill>
                  <a:srgbClr val="1C283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The </a:t>
            </a:r>
            <a:pPr algn="l" indent="0" marL="0">
              <a:lnSpc>
                <a:spcPts val="182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300" i="1" dirty="0">
                <a:solidFill>
                  <a:srgbClr val="1C283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pañcabhūta</a:t>
            </a:r>
            <a:pPr algn="l" indent="0" marL="0">
              <a:lnSpc>
                <a:spcPts val="182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300" dirty="0">
                <a:solidFill>
                  <a:srgbClr val="1C283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tradition organises matter and space into 5 categories using sensory observation. Modern science organises matter into 118 elements (and 4+ states of matter) using experiments and measurement. They are answering different questions.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692051" y="2074218"/>
            <a:ext cx="7973389" cy="6929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2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300" dirty="0">
                <a:solidFill>
                  <a:srgbClr val="1C283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| Question | Framework that fits | |----------|--------------------| | "What's the dominant </a:t>
            </a:r>
            <a:pPr algn="l" indent="0" marL="0">
              <a:lnSpc>
                <a:spcPts val="182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300" i="1" dirty="0">
                <a:solidFill>
                  <a:srgbClr val="1C283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feel</a:t>
            </a:r>
            <a:pPr algn="l" indent="0" marL="0">
              <a:lnSpc>
                <a:spcPts val="182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300" dirty="0">
                <a:solidFill>
                  <a:srgbClr val="1C283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of this object?" | Pañcabhūta | | "What atoms make up this object?" | Periodic table | | "Why does soil smell after rain?" | Both, in different ways |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692051" y="2805261"/>
            <a:ext cx="7973389" cy="23098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2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300" i="1" dirty="0">
                <a:solidFill>
                  <a:srgbClr val="1C283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Both frameworks are still in use today. Neither one is "wrong."</a:t>
            </a:r>
            <a:endParaRPr lang="en-US" sz="1300" dirty="0"/>
          </a:p>
        </p:txBody>
      </p:sp>
      <p:sp>
        <p:nvSpPr>
          <p:cNvPr id="10" name="Text 8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Middle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27788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FE444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Homework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634901" y="883593"/>
            <a:ext cx="8102798" cy="48756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Choose 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b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one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of the modules from your science textbook chapter on Matter (states of matter, or the periodic table). Write a 1-paragraph note: 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what would the pañcabhūta framework get right about this topic, and what would it miss?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Middle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27788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FE444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Differentiation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634901" y="883593"/>
            <a:ext cx="8102798" cy="93702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b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One tier up: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Read about 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plasma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as a fourth state of matter. Where would 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plasma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fit in 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pañcabhūta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? Defend your placement.</a:t>
            </a:r>
            <a:endParaRPr lang="en-US" sz="1200" dirty="0"/>
          </a:p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b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One tier down: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Just remember the framing: 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both frameworks survive because both are useful.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The comparisons can be filled in over the next few days.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Middle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27788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FE444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Teacher notes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634901" y="883593"/>
            <a:ext cx="8102798" cy="159216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This is the day skeptical students will engage most. Welcome it. Do not retreat into "ancient Indians were right too" — that defeats the lesson. The honest stance is 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both frameworks are real intellectual achievements with different scopes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.</a:t>
            </a:r>
            <a:endParaRPr lang="en-US" sz="1200" dirty="0"/>
          </a:p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If a student says "the pañcabhūta framework is incomplete because it can't predict chemistry" — they're correct. Acknowledge that. Then ask: "Can the periodic table predict whether the air in this room feels stuffy or fresh? Both frameworks have limits."</a:t>
            </a:r>
            <a:endParaRPr lang="en-US" sz="1200" dirty="0"/>
          </a:p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For NEP §4.6 compliance, the framing is integration, not replacement. The line to hold: students are learning 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two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useful frameworks, not one true one.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Middle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27788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FE444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Citation(s) used in this lesson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634901" y="883593"/>
            <a:ext cx="8102798" cy="75039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 new RAG citations introduced.</a:t>
            </a:r>
            <a:endParaRPr lang="en-US" sz="1200" dirty="0"/>
          </a:p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Modern science references: NCERT Class 9 Science, Chapters 1 ("Matter in Our Surroundings") and 5 — see 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sources.md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Middle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18</Slides>
  <Notes>18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18</vt:i4>
      </vt:variant>
    </vt:vector>
  </HeadingPairs>
  <TitlesOfParts>
    <vt:vector size="21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 — Middle</dc:title>
  <dc:subject>PptxGenJS Presentation</dc:subject>
  <dc:creator>IKS Curriculum</dc:creator>
  <cp:lastModifiedBy>IKS Curriculum</cp:lastModifiedBy>
  <cp:revision>1</cp:revision>
  <dcterms:created xsi:type="dcterms:W3CDTF">2026-05-28T05:42:47Z</dcterms:created>
  <dcterms:modified xsi:type="dcterms:W3CDTF">2026-05-28T05:42:47Z</dcterms:modified>
</cp:coreProperties>
</file>