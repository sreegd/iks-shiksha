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27788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3 — Five Qualities and Five Senses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Panchabhūta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Band: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Middle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45 min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223963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Learning objective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06301" y="1637854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the end of this lesson, students will match each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tanmātra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(subtle quality) to its element and to the sense organ that perceives it, and explain why this mapping is symmetric.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Materials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6398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Board with a blank 3-column table ready – Optional: small samples for the senses station — a bell (sound), a piece of cotton (touch), a coloured leaf (form), a piece of jaggery or salt crystal (taste), a sprig of mint or a slice of orange peel (smell) – Notebook, pen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Vocabulary introduced today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tanmātra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(IAST: tanmātra; lit. "that-much, subtle essence") — the perceptual quality that "belongs" to each element. Five of them: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śabda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(sound),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sparśa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(touch),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rūpa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(form),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rasa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(taste),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gandha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(smell).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Lesson flow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Warm-up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Daily prompt: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"Which element did you notice most yesterday?"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2 students share. – Hold up the bell. Ring it once.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"What did you just perceive?"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(Sound.)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386334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"Now — through what element did the sound reach you?"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(Air, and ultimately space.)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(20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the master table on the board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(one row at a time, asking students to predict the senses):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254323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row: Element · Tanmātra (quality) · Sense organ · Test it:.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34901" y="1556445"/>
            <a:ext cx="8102798" cy="12570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ākāśa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(space) —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śabda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(sound) · ear · Ring the bell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vāyu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(air) —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sparśa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(touch) · skin · Feel a breeze on your hand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tejas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(fire) —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rūpa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(form / colour) · eye · Look at a flame's colour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(water) —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rasa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(taste) · tongue · Taste sweetness / saltiness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pṛthvī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(earth) —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gandha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(smell) · nose · Smell soil, or jaggery, or peel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34901" y="2914948"/>
            <a:ext cx="8102798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 to yesterday's quality-count rule: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tanmātra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added at each element is the new quality that earth carries all five of. So earth — solid stuff — is the one you can perceive in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way.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34901" y="3504009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check.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Read (don't memorise):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06301" y="3874740"/>
            <a:ext cx="8498026" cy="6398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 "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mṛdutvaṁ kaṭhinatvaṁ ca śaityam uṣṇatvam eva ca / etat sparśasya sparśatvaṁ tanmātratvaṁ nabhasvataḥ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 &gt; "Softness, hardness, cold and heat — these are the qualities of touch, which is the subtle attribute (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tanmātra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 of air (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nabhasvat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)." &gt; — Śrīmad-Bhāgavatam 3.26.36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06301" y="459075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"Notice what the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tanmātra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of touch is — not just 'softness' but also 'cold and heat.' The tradition is sorting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physical sensations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into the air-element bucket. Does that surprise you?"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34901" y="5106144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Modern parallel (one sentence each, no deep dive yet — that's Day 6):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06301" y="5476875"/>
            <a:ext cx="8498026" cy="853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Modern physiology: sound = pressure waves transmitted through a medium → ear drum. Touch = mechanoreceptors in skin. Form = light reflected off objects → retina. Taste = chemical receptors on tongue. Smell = airborne molecules → olfactory receptors. – Both systems are sorting our perception. The Indian system asks "what kind of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stuff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does this perception live in?" Modern science asks "what physical process produces this perception?"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06301" y="6482358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Activity (15 min) — Sense Station Rotation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5 stations around the room (or 5 desks, one per element). Each has:   – A label (Sanskrit + English + tanmātra + sense organ)   – A small sample to perceive (see materials list)   – A worksheet question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373684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Students work in pairs. 2 minutes per station. They rotate clockwise.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1663154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At each station, they answer in one sentence: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"What did I perceive? What other element could I perceive at the same time?"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(E.g. at the bell station: heard the sound — also felt the vibration if they touched the bell.)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34901" y="2178546"/>
            <a:ext cx="8102798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End-of-rotation discussion (3 min):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Did any sample give you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than one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perception? Which? What does that tell us about how the elements overlap in the real world?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Wrap-up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3009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Formative quiz on a slip of paper (5 questions, 3 min)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see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quizzes/formative.md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Part A.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273373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Collect for grading; the next day's class includes the result.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Student-facing content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83593"/>
            <a:ext cx="8331398" cy="2343150"/>
          </a:xfrm>
          <a:prstGeom prst="rect">
            <a:avLst/>
          </a:prstGeom>
          <a:solidFill>
            <a:srgbClr val="F4F8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34876" y="883593"/>
            <a:ext cx="0" cy="2343150"/>
          </a:xfrm>
          <a:prstGeom prst="line">
            <a:avLst/>
          </a:prstGeom>
          <a:noFill/>
          <a:ln w="57150">
            <a:solidFill>
              <a:srgbClr val="FE444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92051" y="1074093"/>
            <a:ext cx="797338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b="1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Each element has a quality. Each quality is perceived by a sense.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92051" y="1343174"/>
            <a:ext cx="7973389" cy="692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| Element | Quality (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tanmātra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) | Perceived by | |---|---|---| | 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ākāśa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(space) | 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śabda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(sound) | ear | | 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vāyu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(air) | 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sparśa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(touch) | skin | | 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tejas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(fire) | 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rūpa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(form, colour) | eye | | 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(water) | 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rasa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(taste) | tongue | | 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pṛthvī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(earth) | 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gandha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(smell) | nose |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92051" y="2074218"/>
            <a:ext cx="7973389" cy="4619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Earth has all five qualities. That's why you can hear soil shift, feel its texture, see its colour, taste its mineral content (you've all chewed sand in childhood — admit it), and smell it after rain.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92051" y="2574280"/>
            <a:ext cx="7973389" cy="4619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&gt; "Softness, hardness, cold and heat are the qualities of touch, the subtle attribute of air." &gt; — Śrīmad-Bhāgavatam 3.26.36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Homework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For each of your three home-objects (which you'll bring on Day 4), figure out the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dominant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element and the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dominant tanmātra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Write one line per object.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Differentiation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9370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tier up: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What about ultrasonic sound (above 20,000 Hz) — humans can't hear it, but bats can. Does it still belong to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ākāśa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 What about magnetic fields, which no human sense can detect directly?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tier down: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Focus on memorising the table. The "why does this match the order of creation?" question can come later.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Teacher notes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10663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Some students will challenge "fire = form/colour." Walk them through: the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defining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perception of fire is what we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light, colour. We feel heat from fire, but that's borrowed from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vāyu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's tanmātra of touch (heat). The mapping is about the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quality each element introduces. – Watch for the smell-station: students will spend most of their time there. That's fine. Give them 30 extra seconds and pull them along. – If using jaggery / sweets — check for diabetic students. Substitute with salt or a non-edible smell-only sample.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Citation(s) used in this lesson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769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"SB 3.26.36" — vidya-karana RAG cache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day-03-qualities.json#chunks[3]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(tanmātra of touch, qualities of air)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"SB 3.26.44" — vidya-karana RAG cache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day-03-qualities.json#chunks[0]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(rasa transforms into gandha; smell perceived by nose)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— Middle</dc:title>
  <dc:subject>PptxGenJS Presentation</dc:subject>
  <dc:creator>IKS Curriculum</dc:creator>
  <cp:lastModifiedBy>IKS Curriculum</cp:lastModifiedBy>
  <cp:revision>1</cp:revision>
  <dcterms:created xsi:type="dcterms:W3CDTF">2026-05-28T04:15:31Z</dcterms:created>
  <dcterms:modified xsi:type="dcterms:W3CDTF">2026-05-28T04:15:31Z</dcterms:modified>
</cp:coreProperties>
</file>