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5 — Lunar Months and the Festival Calendar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Moon Phases &amp; Tithi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Middle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will name the 12 lunar months in order, explain how each month is named (after the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nakṣatra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its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pūrṇimā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), and link at least three festivals to their tithi-and-month positions.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 with a 12-row table ready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printed list of major festivals across the 12 lunar months (one per pair)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Notebooks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Vocabulary introduced today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11808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māsa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(IAST: māsa; lit. "month") — a lunar month, ~29.53 days.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nakṣatra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(IAST: nakṣatra; lit. "lunar mansion") — one of 27 segments of the ecliptic, each ~13°20' wide. (Full coverage in a later module — today's mention is just for naming.)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adhika māsa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(IAST: adhika-māsa; lit. "extra month") — an intercalary 13th month inserted approximately every 32.5 months.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prompt: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"Did you see the Moon last night? What tithi?"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2 students share.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recall using yesterday's tithi calendar: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month did we build the calendar for?"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(May, June, etc.)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"In the Indian lunar calendar, what month is that?"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(Answer: it depends — let's find out.)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(20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12 lunar months.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Write the list on the board: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5432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row: # · Lunar month (IAST) · Roughly corresponds to · Named after.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(20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7196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Caitra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March–April · nakṣatra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Citrā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Vaiśākha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April–May ·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Viśākhā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Jyeṣṭha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May–June ·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Jyeṣṭhā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Āṣāḍha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June–July ·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Pūrva-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Uttara-āṣāḍhā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Śrāvaṇa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July–August ·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Śravaṇa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Bhādrapada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August–September ·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Pūrva-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Uttara-bhādrapadā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Āśvina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September–October ·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Aśvinī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Kārtika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October–November ·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Kṛttikā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Mārgaśīrṣa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November–December ·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Mṛgaśīrṣa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Pauṣa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December–January ·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Puṣya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Māgha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January–February ·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Maghā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(20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Phālguna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February–March ·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Phālgunī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(Pūrva / Uttara)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266974"/>
            <a:ext cx="8102798" cy="693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these names? The naming convention.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lunar month is named after the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nakṣatra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which the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pūrṇimā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(full moon) of that month falls. The Moon at full moon is opposite the Sun, so it sits in a specific star background — the nakṣatra. The lunar month inherits its name from that nakṣatra.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(20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month-counting conventions.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This is a real difference and worth noting: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266974"/>
            <a:ext cx="8102798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Amānta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the lunar month ends at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amāvasyā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Common in South and Western India (Maharashtra, Karnataka, Andhra, Tamil Nadu, Gujarat).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Pūrṇimānta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the lunar month ends at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pūrṇimā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Common in North India (Uttar Pradesh, Bihar, North Indian Hindi belt).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(20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the same fortnight can be called by different month names under the two conventions! For example, the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kṛṣṇa pakṣa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before Janmāṣṭamī is 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Śrāvaṇa kṛṣṇa pakṣa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 under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pūrṇimānta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Bhādrapada kṛṣṇa pakṣa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 under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amānta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Both are correct — they are counting from different anchor points.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599605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Linking festivals to tithis — the festival table.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Write 6 examples: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970336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row: Festival · Lunar month + pakṣa + tithi · What it celebrates / who observes.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(20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1988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Ugādi / Gudi Pādvā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Caitra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śukla pratipadā · Lunar new year (in much of South / West India)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Rāma Navamī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Caitra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śukla navamī · Birth of Rāma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Akṣaya Tṛtīyā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Vaiśākha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śukla tṛtīyā · Auspicious for beginnings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Guru Pūrṇimā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Āṣāḍha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pūrṇimā · Honouring teachers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Janmāṣṭamī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Bhādrapada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(or Śrāvaṇa, depending) kṛṣṇa aṣṭamī · Birth of Kṛṣṇa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Dīpāvalī / Dīwālī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Kārtika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amāvasyā · Festival of lights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Mahā-śivarātri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Phālguna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(or Māgha) kṛṣṇa caturdaśī · Great night of Śiva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Holī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Phālguna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pūrṇimā · Festival of colours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(20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festival here has a precise tithi-and-month coordinate. That's the whole point of the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pañcāṅga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system.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(20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898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intercalation puzzle —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adhika māsa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12 lunar months × 29.53 days = 354.36 days. The solar year is 365.24 days. So the lunar calendar drifts behind by ~11 days a year. After 3 years that's 33 days — about a whole month. To re-align, the Indian system inserts an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adhika māsa* ("extra month") roughly every 32.5 months. This is what makes the Indian calendar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lunisolar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rather than purely lunar. (More on this in the cross-cultural lesson, Day 9.)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(15 min) — Festival mapping + formative quiz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A (8 min) — pair work.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Each pair gets the printed festival list (about 12 festivals). Their job: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 which lunar month each festival falls in.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the tithi and pakṣa.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ONE festival that no one in the pair had heard of before. Write its month + pakṣa + tithi.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(15 min) — Festival mapping + formative quiz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B (7 min) — formative quiz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quizzes/formative.md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Part B. Collect and mark within 24 hours.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student names a festival their family celebrates; the class names the tithi+pakṣa+month. Two rounds.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decision deadline: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by the end of today, every student has a project partner (or has confirmed individual work) and a tentative topic. Sticky note on the board.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Student-facing content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83593"/>
            <a:ext cx="8331398" cy="2112169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4876" y="883593"/>
            <a:ext cx="0" cy="2112169"/>
          </a:xfrm>
          <a:prstGeom prst="line">
            <a:avLst/>
          </a:prstGeom>
          <a:noFill/>
          <a:ln w="57150">
            <a:solidFill>
              <a:srgbClr val="FE44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2051" y="1074093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*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There are 12 lunar months. Each is named after the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nakṣatra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in which its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pūrṇimā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falls.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*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92051" y="1343174"/>
            <a:ext cx="7973389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Caitra, Vaiśākha, Jyeṣṭha, Āṣāḍha, Śrāvaṇa, Bhādrapada, Āśvina, Kārtika, Mārgaśīrṣa, Pauṣa, Māgha, Phālguna.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92051" y="1843236"/>
            <a:ext cx="7973389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conventions: months end at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amāvasyā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amānta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 or at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pūrṇimā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pūrṇimānta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). Different regions, different conventions — same astronomy.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92051" y="2343299"/>
            <a:ext cx="7973389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Indian festival sits at a precise (month + pakṣa + tithi) coordinate. The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pañcāṅga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tells you exactly when.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Continue the Moon diary.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 your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plan paragraph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5–8 sentences stating which lunar phenomenon you'll cover (phases / eclipses / intercalary month / something else), in what format, and what your audience walks away with.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Adhika māsa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deep-dive. Look up the rule: an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adhika māsa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a lunar month in which no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saṁkrānti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(Sun's entry into a new zodiac sign) occurs. Why does the rule produce ~7 extra months in 19 years?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Memorise only the first 6 month names this week. The rest can come during the project.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13864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amānta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pūrṇimānta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distinction confuses everyone the first time. It's OK to leave students slightly fuzzy on it — the key insight is that conventions vary regionally, and "the calendar" isn't one fixed thing.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 students will know a festival under a regional name (e.g.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Gudi Pādvā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vs.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Ugādi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both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Caitra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śukla pratipadā). Honour both.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"12 months are named after nakṣatras" point doesn't need full nakṣatra coverage today — that comes in a later module. Today we just say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naming convention is.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Citation(s) used in this lesson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 reference: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pañcāṅga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sources (named in class). Paraphrase from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Sūrya-siddhānta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chapter 14 (computation of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adhika māsa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— cited by text and chapter name only.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Middle</dc:title>
  <dc:subject>PptxGenJS Presentation</dc:subject>
  <dc:creator>IKS Curriculum</dc:creator>
  <cp:lastModifiedBy>IKS Curriculum</cp:lastModifiedBy>
  <cp:revision>1</cp:revision>
  <dcterms:created xsi:type="dcterms:W3CDTF">2026-05-28T05:47:00Z</dcterms:created>
  <dcterms:modified xsi:type="dcterms:W3CDTF">2026-05-28T05:47:00Z</dcterms:modified>
</cp:coreProperties>
</file>