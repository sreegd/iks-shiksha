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5D1D2E"/>
          </a:solidFill>
          <a:ln/>
        </p:spPr>
        <p:txBody>
          <a:bodyPr wrap="square" rtlCol="0" anchor="ctr"/>
          <a:lstStyle/>
          <a:p>
            <a:pPr indent="0" marL="0">
              <a:buNone/>
            </a:pPr>
            <a:endParaRPr lang="en-US" dirty="0"/>
          </a:p>
        </p:txBody>
      </p:sp>
      <p:sp>
        <p:nvSpPr>
          <p:cNvPr id="3" name="Text 1"/>
          <p:cNvSpPr/>
          <p:nvPr/>
        </p:nvSpPr>
        <p:spPr>
          <a:xfrm>
            <a:off x="406301" y="380851"/>
            <a:ext cx="8498026" cy="350490"/>
          </a:xfrm>
          <a:prstGeom prst="rect">
            <a:avLst/>
          </a:prstGeom>
          <a:noFill/>
          <a:ln/>
        </p:spPr>
        <p:txBody>
          <a:bodyPr wrap="square" lIns="0" tIns="0" rIns="0" bIns="0" rtlCol="0" anchor="t"/>
          <a:lstStyle/>
          <a:p>
            <a:pPr algn="l" indent="0" marL="0">
              <a:lnSpc>
                <a:spcPts val="2760"/>
              </a:lnSpc>
              <a:spcAft>
                <a:spcPts val="1000"/>
              </a:spcAft>
              <a:buNone/>
            </a:pPr>
            <a:r>
              <a:rPr lang="en-US" sz="2400" b="1" dirty="0">
                <a:solidFill>
                  <a:srgbClr val="5D1D2E"/>
                </a:solidFill>
                <a:latin typeface="Times New Roman" pitchFamily="34" charset="0"/>
                <a:ea typeface="Times New Roman" pitchFamily="34" charset="-122"/>
                <a:cs typeface="Times New Roman" pitchFamily="34" charset="-120"/>
              </a:rPr>
              <a:t>Day 7 — Two's Complement in Computers</a:t>
            </a:r>
            <a:endParaRPr lang="en-US" sz="2400" dirty="0"/>
          </a:p>
        </p:txBody>
      </p:sp>
      <p:sp>
        <p:nvSpPr>
          <p:cNvPr id="4" name="Text 2"/>
          <p:cNvSpPr/>
          <p:nvPr/>
        </p:nvSpPr>
        <p:spPr>
          <a:xfrm>
            <a:off x="406301" y="896392"/>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b="1" dirty="0">
                <a:solidFill>
                  <a:srgbClr val="1A1A1A"/>
                </a:solidFill>
                <a:latin typeface="Georgia" pitchFamily="34" charset="0"/>
                <a:ea typeface="Georgia" pitchFamily="34" charset="-122"/>
                <a:cs typeface="Georgia" pitchFamily="34" charset="-120"/>
              </a:rPr>
              <a:t>Module:</a:t>
            </a:r>
            <a:pPr algn="l" indent="0" marL="0">
              <a:lnSpc>
                <a:spcPts val="1680"/>
              </a:lnSpc>
              <a:spcBef>
                <a:spcPts val="300"/>
              </a:spcBef>
              <a:spcAft>
                <a:spcPts val="300"/>
              </a:spcAft>
              <a:buNone/>
            </a:pPr>
            <a:r>
              <a:rPr lang="en-US" sz="1200" dirty="0">
                <a:solidFill>
                  <a:srgbClr val="1A1A1A"/>
                </a:solidFill>
                <a:latin typeface="Georgia" pitchFamily="34" charset="0"/>
                <a:ea typeface="Georgia" pitchFamily="34" charset="-122"/>
                <a:cs typeface="Georgia" pitchFamily="34" charset="-120"/>
              </a:rPr>
              <a:t> Subtraction — Nikhilam (All from 9) · </a:t>
            </a:r>
            <a:pPr algn="l" indent="0" marL="0">
              <a:lnSpc>
                <a:spcPts val="1680"/>
              </a:lnSpc>
              <a:spcBef>
                <a:spcPts val="300"/>
              </a:spcBef>
              <a:spcAft>
                <a:spcPts val="300"/>
              </a:spcAft>
              <a:buNone/>
            </a:pPr>
            <a:r>
              <a:rPr lang="en-US" sz="1200" b="1" dirty="0">
                <a:solidFill>
                  <a:srgbClr val="1A1A1A"/>
                </a:solidFill>
                <a:latin typeface="Georgia" pitchFamily="34" charset="0"/>
                <a:ea typeface="Georgia" pitchFamily="34" charset="-122"/>
                <a:cs typeface="Georgia" pitchFamily="34" charset="-120"/>
              </a:rPr>
              <a:t>Band:</a:t>
            </a:r>
            <a:pPr algn="l" indent="0" marL="0">
              <a:lnSpc>
                <a:spcPts val="1680"/>
              </a:lnSpc>
              <a:spcBef>
                <a:spcPts val="300"/>
              </a:spcBef>
              <a:spcAft>
                <a:spcPts val="300"/>
              </a:spcAft>
              <a:buNone/>
            </a:pPr>
            <a:r>
              <a:rPr lang="en-US" sz="1200" dirty="0">
                <a:solidFill>
                  <a:srgbClr val="1A1A1A"/>
                </a:solidFill>
                <a:latin typeface="Georgia" pitchFamily="34" charset="0"/>
                <a:ea typeface="Georgia" pitchFamily="34" charset="-122"/>
                <a:cs typeface="Georgia" pitchFamily="34" charset="-120"/>
              </a:rPr>
              <a:t> Senior · </a:t>
            </a:r>
            <a:pPr algn="l" indent="0" marL="0">
              <a:lnSpc>
                <a:spcPts val="1680"/>
              </a:lnSpc>
              <a:spcBef>
                <a:spcPts val="300"/>
              </a:spcBef>
              <a:spcAft>
                <a:spcPts val="300"/>
              </a:spcAft>
              <a:buNone/>
            </a:pPr>
            <a:r>
              <a:rPr lang="en-US" sz="1200" b="1" dirty="0">
                <a:solidFill>
                  <a:srgbClr val="1A1A1A"/>
                </a:solidFill>
                <a:latin typeface="Georgia" pitchFamily="34" charset="0"/>
                <a:ea typeface="Georgia" pitchFamily="34" charset="-122"/>
                <a:cs typeface="Georgia" pitchFamily="34" charset="-120"/>
              </a:rPr>
              <a:t>Time:</a:t>
            </a:r>
            <a:pPr algn="l" indent="0" marL="0">
              <a:lnSpc>
                <a:spcPts val="1680"/>
              </a:lnSpc>
              <a:spcBef>
                <a:spcPts val="300"/>
              </a:spcBef>
              <a:spcAft>
                <a:spcPts val="300"/>
              </a:spcAft>
              <a:buNone/>
            </a:pPr>
            <a:r>
              <a:rPr lang="en-US" sz="1200" dirty="0">
                <a:solidFill>
                  <a:srgbClr val="1A1A1A"/>
                </a:solidFill>
                <a:latin typeface="Georgia" pitchFamily="34" charset="0"/>
                <a:ea typeface="Georgia" pitchFamily="34" charset="-122"/>
                <a:cs typeface="Georgia" pitchFamily="34" charset="-120"/>
              </a:rPr>
              <a:t> 45 min</a:t>
            </a:r>
            <a:endParaRPr lang="en-US" sz="1200" dirty="0"/>
          </a:p>
        </p:txBody>
      </p:sp>
      <p:sp>
        <p:nvSpPr>
          <p:cNvPr id="5" name="Text 3"/>
          <p:cNvSpPr/>
          <p:nvPr/>
        </p:nvSpPr>
        <p:spPr>
          <a:xfrm>
            <a:off x="406301" y="1223963"/>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997929"/>
                </a:solidFill>
                <a:latin typeface="Times New Roman" pitchFamily="34" charset="0"/>
                <a:ea typeface="Times New Roman" pitchFamily="34" charset="-122"/>
                <a:cs typeface="Times New Roman" pitchFamily="34" charset="-120"/>
              </a:rPr>
              <a:t>Learning objective</a:t>
            </a:r>
            <a:endParaRPr lang="en-US" sz="1800" dirty="0"/>
          </a:p>
        </p:txBody>
      </p:sp>
      <p:sp>
        <p:nvSpPr>
          <p:cNvPr id="6" name="Text 4"/>
          <p:cNvSpPr/>
          <p:nvPr/>
        </p:nvSpPr>
        <p:spPr>
          <a:xfrm>
            <a:off x="406301" y="1637854"/>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A1A1A"/>
                </a:solidFill>
                <a:latin typeface="Georgia" pitchFamily="34" charset="0"/>
                <a:ea typeface="Georgia" pitchFamily="34" charset="-122"/>
                <a:cs typeface="Georgia" pitchFamily="34" charset="-120"/>
              </a:rPr>
              <a:t>By the end of this lesson, students will: show how the same idea underlies binary computer subtraction.</a:t>
            </a:r>
            <a:endParaRPr lang="en-US" sz="1200" dirty="0"/>
          </a:p>
        </p:txBody>
      </p:sp>
      <p:sp>
        <p:nvSpPr>
          <p:cNvPr id="7" name="Text 5"/>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A1A1A"/>
                </a:solidFill>
                <a:latin typeface="Georgia" pitchFamily="34" charset="0"/>
                <a:ea typeface="Georgia" pitchFamily="34" charset="-122"/>
                <a:cs typeface="Georgia" pitchFamily="34" charset="-120"/>
              </a:rPr>
              <a:t>Senior ·  · IKS Curriculum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5D1D2E"/>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997929"/>
                </a:solidFill>
                <a:latin typeface="Times New Roman" pitchFamily="34" charset="0"/>
                <a:ea typeface="Times New Roman" pitchFamily="34" charset="-122"/>
                <a:cs typeface="Times New Roman" pitchFamily="34" charset="-120"/>
              </a:rPr>
              <a:t>Materials</a:t>
            </a:r>
            <a:endParaRPr lang="en-US" sz="1800" dirty="0"/>
          </a:p>
        </p:txBody>
      </p:sp>
      <p:sp>
        <p:nvSpPr>
          <p:cNvPr id="4" name="Text 2"/>
          <p:cNvSpPr/>
          <p:nvPr/>
        </p:nvSpPr>
        <p:spPr>
          <a:xfrm>
            <a:off x="406301" y="870942"/>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A1A1A"/>
                </a:solidFill>
                <a:latin typeface="Georgia" pitchFamily="34" charset="0"/>
                <a:ea typeface="Georgia" pitchFamily="34" charset="-122"/>
                <a:cs typeface="Georgia" pitchFamily="34" charset="-120"/>
              </a:rPr>
              <a:t>– Whiteboard / chart paper – Notebook, pen per student</a:t>
            </a:r>
            <a:endParaRPr lang="en-US" sz="1200" dirty="0"/>
          </a:p>
        </p:txBody>
      </p:sp>
      <p:sp>
        <p:nvSpPr>
          <p:cNvPr id="5" name="Text 3"/>
          <p:cNvSpPr/>
          <p:nvPr/>
        </p:nvSpPr>
        <p:spPr>
          <a:xfrm>
            <a:off x="634901" y="1173063"/>
            <a:ext cx="8102798" cy="281880"/>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dirty="0">
                <a:solidFill>
                  <a:srgbClr val="1A1A1A"/>
                </a:solidFill>
                <a:latin typeface="Georgia" pitchFamily="34" charset="0"/>
                <a:ea typeface="Georgia" pitchFamily="34" charset="-122"/>
                <a:cs typeface="Georgia" pitchFamily="34" charset="-120"/>
              </a:rPr>
              <a:t>(See lesson-plan.md for any day-specific materials)</a:t>
            </a:r>
            <a:endParaRPr lang="en-US" sz="1200" dirty="0"/>
          </a:p>
        </p:txBody>
      </p:sp>
      <p:sp>
        <p:nvSpPr>
          <p:cNvPr id="6" name="Text 4"/>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A1A1A"/>
                </a:solidFill>
                <a:latin typeface="Georgia" pitchFamily="34" charset="0"/>
                <a:ea typeface="Georgia" pitchFamily="34" charset="-122"/>
                <a:cs typeface="Georgia" pitchFamily="34" charset="-120"/>
              </a:rPr>
              <a:t>Senior ·  · IKS Curriculum</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5D1D2E"/>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997929"/>
                </a:solidFill>
                <a:latin typeface="Times New Roman" pitchFamily="34" charset="0"/>
                <a:ea typeface="Times New Roman" pitchFamily="34" charset="-122"/>
                <a:cs typeface="Times New Roman" pitchFamily="34" charset="-120"/>
              </a:rPr>
              <a:t>Vocabulary introduced today</a:t>
            </a:r>
            <a:endParaRPr lang="en-US" sz="1800" dirty="0"/>
          </a:p>
        </p:txBody>
      </p:sp>
      <p:sp>
        <p:nvSpPr>
          <p:cNvPr id="4" name="Text 2"/>
          <p:cNvSpPr/>
          <p:nvPr/>
        </p:nvSpPr>
        <p:spPr>
          <a:xfrm>
            <a:off x="634901" y="883593"/>
            <a:ext cx="8102798" cy="281880"/>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i="1" dirty="0">
                <a:solidFill>
                  <a:srgbClr val="1A1A1A"/>
                </a:solidFill>
                <a:latin typeface="Georgia" pitchFamily="34" charset="0"/>
                <a:ea typeface="Georgia" pitchFamily="34" charset="-122"/>
                <a:cs typeface="Georgia" pitchFamily="34" charset="-120"/>
              </a:rPr>
              <a:t>Nikhilaṁ Navataścaramaṁ Daśataḥ</a:t>
            </a:r>
            <a:pPr algn="l" indent="0" marL="0">
              <a:lnSpc>
                <a:spcPts val="1620"/>
              </a:lnSpc>
              <a:spcAft>
                <a:spcPts val="300"/>
              </a:spcAft>
              <a:buNone/>
            </a:pPr>
            <a:r>
              <a:rPr lang="en-US" sz="1200" dirty="0">
                <a:solidFill>
                  <a:srgbClr val="1A1A1A"/>
                </a:solidFill>
                <a:latin typeface="Georgia" pitchFamily="34" charset="0"/>
                <a:ea typeface="Georgia" pitchFamily="34" charset="-122"/>
                <a:cs typeface="Georgia" pitchFamily="34" charset="-120"/>
              </a:rPr>
              <a:t> (IAST: Nikhilaṁ Navataścaramaṁ Daśataḥ; lit. ""all from 9, the last from 10"")</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A1A1A"/>
                </a:solidFill>
                <a:latin typeface="Georgia" pitchFamily="34" charset="0"/>
                <a:ea typeface="Georgia" pitchFamily="34" charset="-122"/>
                <a:cs typeface="Georgia" pitchFamily="34" charset="-120"/>
              </a:rPr>
              <a:t>Senior ·  · IKS Curriculum</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5D1D2E"/>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997929"/>
                </a:solidFill>
                <a:latin typeface="Times New Roman" pitchFamily="34" charset="0"/>
                <a:ea typeface="Times New Roman" pitchFamily="34" charset="-122"/>
                <a:cs typeface="Times New Roman" pitchFamily="34" charset="-120"/>
              </a:rPr>
              <a:t>Lesson flow</a:t>
            </a:r>
            <a:endParaRPr lang="en-US" sz="1800" dirty="0"/>
          </a:p>
        </p:txBody>
      </p:sp>
      <p:sp>
        <p:nvSpPr>
          <p:cNvPr id="4" name="Text 2"/>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A1A1A"/>
                </a:solidFill>
                <a:latin typeface="Georgia" pitchFamily="34" charset="0"/>
                <a:ea typeface="Georgia" pitchFamily="34" charset="-122"/>
                <a:cs typeface="Georgia" pitchFamily="34" charset="-120"/>
              </a:rPr>
              <a:t>Senior ·  · IKS Curriculum</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5D1D2E"/>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997929"/>
                </a:solidFill>
                <a:latin typeface="Times New Roman" pitchFamily="34" charset="0"/>
                <a:ea typeface="Times New Roman" pitchFamily="34" charset="-122"/>
                <a:cs typeface="Times New Roman" pitchFamily="34" charset="-120"/>
              </a:rPr>
              <a:t>Warm-up (5 min)</a:t>
            </a:r>
            <a:endParaRPr lang="en-US" sz="1800" dirty="0"/>
          </a:p>
        </p:txBody>
      </p:sp>
      <p:sp>
        <p:nvSpPr>
          <p:cNvPr id="4" name="Text 2"/>
          <p:cNvSpPr/>
          <p:nvPr/>
        </p:nvSpPr>
        <p:spPr>
          <a:xfrm>
            <a:off x="406301" y="870942"/>
            <a:ext cx="8498026" cy="42654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A1A1A"/>
                </a:solidFill>
                <a:latin typeface="Georgia" pitchFamily="34" charset="0"/>
                <a:ea typeface="Georgia" pitchFamily="34" charset="-122"/>
                <a:cs typeface="Georgia" pitchFamily="34" charset="-120"/>
              </a:rPr>
              <a:t>– Daily check-in: one-sentence response to </a:t>
            </a:r>
            <a:pPr algn="l" indent="0" marL="0">
              <a:lnSpc>
                <a:spcPts val="1680"/>
              </a:lnSpc>
              <a:spcBef>
                <a:spcPts val="300"/>
              </a:spcBef>
              <a:spcAft>
                <a:spcPts val="300"/>
              </a:spcAft>
              <a:buNone/>
            </a:pPr>
            <a:r>
              <a:rPr lang="en-US" sz="1200" i="1" dirty="0">
                <a:solidFill>
                  <a:srgbClr val="1A1A1A"/>
                </a:solidFill>
                <a:latin typeface="Georgia" pitchFamily="34" charset="0"/>
                <a:ea typeface="Georgia" pitchFamily="34" charset="-122"/>
                <a:cs typeface="Georgia" pitchFamily="34" charset="-120"/>
              </a:rPr>
              <a:t>"What's one thing you remember about yesterday's lesson?"</a:t>
            </a:r>
            <a:pPr algn="l" indent="0" marL="0">
              <a:lnSpc>
                <a:spcPts val="1680"/>
              </a:lnSpc>
              <a:spcBef>
                <a:spcPts val="300"/>
              </a:spcBef>
              <a:spcAft>
                <a:spcPts val="300"/>
              </a:spcAft>
              <a:buNone/>
            </a:pPr>
            <a:r>
              <a:rPr lang="en-US" sz="1200" dirty="0">
                <a:solidFill>
                  <a:srgbClr val="1A1A1A"/>
                </a:solidFill>
                <a:latin typeface="Georgia" pitchFamily="34" charset="0"/>
                <a:ea typeface="Georgia" pitchFamily="34" charset="-122"/>
                <a:cs typeface="Georgia" pitchFamily="34" charset="-120"/>
              </a:rPr>
              <a:t> – Hook: introduce a phenomenon or question that motivates today's concept.</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A1A1A"/>
                </a:solidFill>
                <a:latin typeface="Georgia" pitchFamily="34" charset="0"/>
                <a:ea typeface="Georgia" pitchFamily="34" charset="-122"/>
                <a:cs typeface="Georgia" pitchFamily="34" charset="-120"/>
              </a:rPr>
              <a:t>Senior ·  · IKS Curriculum</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5D1D2E"/>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997929"/>
                </a:solidFill>
                <a:latin typeface="Times New Roman" pitchFamily="34" charset="0"/>
                <a:ea typeface="Times New Roman" pitchFamily="34" charset="-122"/>
                <a:cs typeface="Times New Roman" pitchFamily="34" charset="-120"/>
              </a:rPr>
              <a:t>Core (20 min)</a:t>
            </a:r>
            <a:endParaRPr lang="en-US" sz="1800" dirty="0"/>
          </a:p>
        </p:txBody>
      </p:sp>
      <p:sp>
        <p:nvSpPr>
          <p:cNvPr id="4" name="Text 2"/>
          <p:cNvSpPr/>
          <p:nvPr/>
        </p:nvSpPr>
        <p:spPr>
          <a:xfrm>
            <a:off x="634901" y="883593"/>
            <a:ext cx="8102798" cy="487561"/>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b="1" dirty="0">
                <a:solidFill>
                  <a:srgbClr val="1A1A1A"/>
                </a:solidFill>
                <a:latin typeface="Georgia" pitchFamily="34" charset="0"/>
                <a:ea typeface="Georgia" pitchFamily="34" charset="-122"/>
                <a:cs typeface="Georgia" pitchFamily="34" charset="-120"/>
              </a:rPr>
              <a:t>Bridge to computing.</a:t>
            </a:r>
            <a:pPr algn="l" indent="0" marL="0">
              <a:lnSpc>
                <a:spcPts val="1620"/>
              </a:lnSpc>
              <a:spcAft>
                <a:spcPts val="300"/>
              </a:spcAft>
              <a:buNone/>
            </a:pPr>
            <a:r>
              <a:rPr lang="en-US" sz="1200" dirty="0">
                <a:solidFill>
                  <a:srgbClr val="1A1A1A"/>
                </a:solidFill>
                <a:latin typeface="Georgia" pitchFamily="34" charset="0"/>
                <a:ea typeface="Georgia" pitchFamily="34" charset="-122"/>
                <a:cs typeface="Georgia" pitchFamily="34" charset="-120"/>
              </a:rPr>
              <a:t> Modern computers don't have a subtraction circuit — they have an ADDER circuit. They subtract by adding the </a:t>
            </a:r>
            <a:pPr algn="l" indent="0" marL="0">
              <a:lnSpc>
                <a:spcPts val="1620"/>
              </a:lnSpc>
              <a:spcAft>
                <a:spcPts val="300"/>
              </a:spcAft>
              <a:buNone/>
            </a:pPr>
            <a:r>
              <a:rPr lang="en-US" sz="1200" i="1" dirty="0">
                <a:solidFill>
                  <a:srgbClr val="1A1A1A"/>
                </a:solidFill>
                <a:latin typeface="Georgia" pitchFamily="34" charset="0"/>
                <a:ea typeface="Georgia" pitchFamily="34" charset="-122"/>
                <a:cs typeface="Georgia" pitchFamily="34" charset="-120"/>
              </a:rPr>
              <a:t>two's complement</a:t>
            </a:r>
            <a:pPr algn="l" indent="0" marL="0">
              <a:lnSpc>
                <a:spcPts val="1620"/>
              </a:lnSpc>
              <a:spcAft>
                <a:spcPts val="300"/>
              </a:spcAft>
              <a:buNone/>
            </a:pPr>
            <a:r>
              <a:rPr lang="en-US" sz="1200" dirty="0">
                <a:solidFill>
                  <a:srgbClr val="1A1A1A"/>
                </a:solidFill>
                <a:latin typeface="Georgia" pitchFamily="34" charset="0"/>
                <a:ea typeface="Georgia" pitchFamily="34" charset="-122"/>
                <a:cs typeface="Georgia" pitchFamily="34" charset="-120"/>
              </a:rPr>
              <a:t> of the subtrahend. This is the same Nikhilam idea, in binary.</a:t>
            </a:r>
            <a:endParaRPr lang="en-US" sz="1200" dirty="0"/>
          </a:p>
        </p:txBody>
      </p:sp>
      <p:sp>
        <p:nvSpPr>
          <p:cNvPr id="5" name="Text 3"/>
          <p:cNvSpPr/>
          <p:nvPr/>
        </p:nvSpPr>
        <p:spPr>
          <a:xfrm>
            <a:off x="634901" y="1472654"/>
            <a:ext cx="8102798" cy="281880"/>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b="1" dirty="0">
                <a:solidFill>
                  <a:srgbClr val="1A1A1A"/>
                </a:solidFill>
                <a:latin typeface="Georgia" pitchFamily="34" charset="0"/>
                <a:ea typeface="Georgia" pitchFamily="34" charset="-122"/>
                <a:cs typeface="Georgia" pitchFamily="34" charset="-120"/>
              </a:rPr>
              <a:t>Binary Nikhilam.</a:t>
            </a:r>
            <a:pPr algn="l" indent="0" marL="0">
              <a:lnSpc>
                <a:spcPts val="1620"/>
              </a:lnSpc>
              <a:spcAft>
                <a:spcPts val="300"/>
              </a:spcAft>
              <a:buNone/>
            </a:pPr>
            <a:r>
              <a:rPr lang="en-US" sz="1200" dirty="0">
                <a:solidFill>
                  <a:srgbClr val="1A1A1A"/>
                </a:solidFill>
                <a:latin typeface="Georgia" pitchFamily="34" charset="0"/>
                <a:ea typeface="Georgia" pitchFamily="34" charset="-122"/>
                <a:cs typeface="Georgia" pitchFamily="34" charset="-120"/>
              </a:rPr>
              <a:t> For an 8-bit number:</a:t>
            </a:r>
            <a:endParaRPr lang="en-US" sz="1200" dirty="0"/>
          </a:p>
        </p:txBody>
      </p:sp>
      <p:sp>
        <p:nvSpPr>
          <p:cNvPr id="6" name="Text 4"/>
          <p:cNvSpPr/>
          <p:nvPr/>
        </p:nvSpPr>
        <p:spPr>
          <a:xfrm>
            <a:off x="406301" y="1843385"/>
            <a:ext cx="8498026" cy="42654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A1A1A"/>
                </a:solidFill>
                <a:latin typeface="Georgia" pitchFamily="34" charset="0"/>
                <a:ea typeface="Georgia" pitchFamily="34" charset="-122"/>
                <a:cs typeface="Georgia" pitchFamily="34" charset="-120"/>
              </a:rPr>
              <a:t>– One's complement: flip every bit (= "all from 1," the binary analogue of "all from 9").    – Two's complement: one's complement + 1.</a:t>
            </a:r>
            <a:endParaRPr lang="en-US" sz="1200" dirty="0"/>
          </a:p>
        </p:txBody>
      </p:sp>
      <p:sp>
        <p:nvSpPr>
          <p:cNvPr id="7" name="Text 5"/>
          <p:cNvSpPr/>
          <p:nvPr/>
        </p:nvSpPr>
        <p:spPr>
          <a:xfrm>
            <a:off x="634901" y="2358777"/>
            <a:ext cx="8102798" cy="281880"/>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b="1" dirty="0">
                <a:solidFill>
                  <a:srgbClr val="1A1A1A"/>
                </a:solidFill>
                <a:latin typeface="Georgia" pitchFamily="34" charset="0"/>
                <a:ea typeface="Georgia" pitchFamily="34" charset="-122"/>
                <a:cs typeface="Georgia" pitchFamily="34" charset="-120"/>
              </a:rPr>
              <a:t>Worked example.</a:t>
            </a:r>
            <a:pPr algn="l" indent="0" marL="0">
              <a:lnSpc>
                <a:spcPts val="1620"/>
              </a:lnSpc>
              <a:spcAft>
                <a:spcPts val="300"/>
              </a:spcAft>
              <a:buNone/>
            </a:pPr>
            <a:r>
              <a:rPr lang="en-US" sz="1200" dirty="0">
                <a:solidFill>
                  <a:srgbClr val="1A1A1A"/>
                </a:solidFill>
                <a:latin typeface="Georgia" pitchFamily="34" charset="0"/>
                <a:ea typeface="Georgia" pitchFamily="34" charset="-122"/>
                <a:cs typeface="Georgia" pitchFamily="34" charset="-120"/>
              </a:rPr>
              <a:t> Compute 9 − 5 in 8-bit binary:</a:t>
            </a:r>
            <a:endParaRPr lang="en-US" sz="1200" dirty="0"/>
          </a:p>
        </p:txBody>
      </p:sp>
      <p:sp>
        <p:nvSpPr>
          <p:cNvPr id="8" name="Text 6"/>
          <p:cNvSpPr/>
          <p:nvPr/>
        </p:nvSpPr>
        <p:spPr>
          <a:xfrm>
            <a:off x="406301" y="2729508"/>
            <a:ext cx="8498026" cy="42654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A1A1A"/>
                </a:solidFill>
                <a:latin typeface="Georgia" pitchFamily="34" charset="0"/>
                <a:ea typeface="Georgia" pitchFamily="34" charset="-122"/>
                <a:cs typeface="Georgia" pitchFamily="34" charset="-120"/>
              </a:rPr>
              <a:t>– 5 = 00000101    – Flip: 11111010 (one's complement)    – Add 1: 11111011 (two's complement)    – Add to 9 = 00001001: 00001001 + 11111011 = 100000100, drop the overflow bit → 00000100 = 4. ✓</a:t>
            </a:r>
            <a:endParaRPr lang="en-US" sz="1200" dirty="0"/>
          </a:p>
        </p:txBody>
      </p:sp>
      <p:sp>
        <p:nvSpPr>
          <p:cNvPr id="9" name="Text 7"/>
          <p:cNvSpPr/>
          <p:nvPr/>
        </p:nvSpPr>
        <p:spPr>
          <a:xfrm>
            <a:off x="634901" y="3244900"/>
            <a:ext cx="8102798" cy="281880"/>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b="1" dirty="0">
                <a:solidFill>
                  <a:srgbClr val="1A1A1A"/>
                </a:solidFill>
                <a:latin typeface="Georgia" pitchFamily="34" charset="0"/>
                <a:ea typeface="Georgia" pitchFamily="34" charset="-122"/>
                <a:cs typeface="Georgia" pitchFamily="34" charset="-120"/>
              </a:rPr>
              <a:t>Source.</a:t>
            </a:r>
            <a:pPr algn="l" indent="0" marL="0">
              <a:lnSpc>
                <a:spcPts val="1620"/>
              </a:lnSpc>
              <a:spcAft>
                <a:spcPts val="300"/>
              </a:spcAft>
              <a:buNone/>
            </a:pPr>
            <a:r>
              <a:rPr lang="en-US" sz="1200" dirty="0">
                <a:solidFill>
                  <a:srgbClr val="1A1A1A"/>
                </a:solidFill>
                <a:latin typeface="Georgia" pitchFamily="34" charset="0"/>
                <a:ea typeface="Georgia" pitchFamily="34" charset="-122"/>
                <a:cs typeface="Georgia" pitchFamily="34" charset="-120"/>
              </a:rPr>
              <a:t> D.E. Knuth, </a:t>
            </a:r>
            <a:pPr algn="l" indent="0" marL="0">
              <a:lnSpc>
                <a:spcPts val="1620"/>
              </a:lnSpc>
              <a:spcAft>
                <a:spcPts val="300"/>
              </a:spcAft>
              <a:buNone/>
            </a:pPr>
            <a:r>
              <a:rPr lang="en-US" sz="1200" i="1" dirty="0">
                <a:solidFill>
                  <a:srgbClr val="1A1A1A"/>
                </a:solidFill>
                <a:latin typeface="Georgia" pitchFamily="34" charset="0"/>
                <a:ea typeface="Georgia" pitchFamily="34" charset="-122"/>
                <a:cs typeface="Georgia" pitchFamily="34" charset="-120"/>
              </a:rPr>
              <a:t>The Art of Computer Programming</a:t>
            </a:r>
            <a:pPr algn="l" indent="0" marL="0">
              <a:lnSpc>
                <a:spcPts val="1620"/>
              </a:lnSpc>
              <a:spcAft>
                <a:spcPts val="300"/>
              </a:spcAft>
              <a:buNone/>
            </a:pPr>
            <a:r>
              <a:rPr lang="en-US" sz="1200" dirty="0">
                <a:solidFill>
                  <a:srgbClr val="1A1A1A"/>
                </a:solidFill>
                <a:latin typeface="Georgia" pitchFamily="34" charset="0"/>
                <a:ea typeface="Georgia" pitchFamily="34" charset="-122"/>
                <a:cs typeface="Georgia" pitchFamily="34" charset="-120"/>
              </a:rPr>
              <a:t>, vol. 2 — full treatment.</a:t>
            </a:r>
            <a:endParaRPr lang="en-US" sz="1200" dirty="0"/>
          </a:p>
        </p:txBody>
      </p:sp>
      <p:sp>
        <p:nvSpPr>
          <p:cNvPr id="10" name="Text 8"/>
          <p:cNvSpPr/>
          <p:nvPr/>
        </p:nvSpPr>
        <p:spPr>
          <a:xfrm>
            <a:off x="634901" y="3628281"/>
            <a:ext cx="8102798" cy="693241"/>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b="1" dirty="0">
                <a:solidFill>
                  <a:srgbClr val="1A1A1A"/>
                </a:solidFill>
                <a:latin typeface="Georgia" pitchFamily="34" charset="0"/>
                <a:ea typeface="Georgia" pitchFamily="34" charset="-122"/>
                <a:cs typeface="Georgia" pitchFamily="34" charset="-120"/>
              </a:rPr>
              <a:t>Critical-thinking close.</a:t>
            </a:r>
            <a:pPr algn="l" indent="0" marL="0">
              <a:lnSpc>
                <a:spcPts val="1620"/>
              </a:lnSpc>
              <a:spcAft>
                <a:spcPts val="300"/>
              </a:spcAft>
              <a:buNone/>
            </a:pPr>
            <a:r>
              <a:rPr lang="en-US" sz="1200" dirty="0">
                <a:solidFill>
                  <a:srgbClr val="1A1A1A"/>
                </a:solidFill>
                <a:latin typeface="Georgia" pitchFamily="34" charset="0"/>
                <a:ea typeface="Georgia" pitchFamily="34" charset="-122"/>
                <a:cs typeface="Georgia" pitchFamily="34" charset="-120"/>
              </a:rPr>
              <a:t> </a:t>
            </a:r>
            <a:pPr algn="l" indent="0" marL="0">
              <a:lnSpc>
                <a:spcPts val="1620"/>
              </a:lnSpc>
              <a:spcAft>
                <a:spcPts val="300"/>
              </a:spcAft>
              <a:buNone/>
            </a:pPr>
            <a:r>
              <a:rPr lang="en-US" sz="1200" i="1" dirty="0">
                <a:solidFill>
                  <a:srgbClr val="1A1A1A"/>
                </a:solidFill>
                <a:latin typeface="Georgia" pitchFamily="34" charset="0"/>
                <a:ea typeface="Georgia" pitchFamily="34" charset="-122"/>
                <a:cs typeface="Georgia" pitchFamily="34" charset="-120"/>
              </a:rPr>
              <a:t>"The Nikhilam sūtra (or its decimal-complement principle) and binary two's complement both date their origins to vastly different traditions and eras. What does this tell us about (a) the universality of certain algorithmic ideas and (b) the limits of cultural-priority claims?"</a:t>
            </a:r>
            <a:endParaRPr lang="en-US" sz="1200" dirty="0"/>
          </a:p>
        </p:txBody>
      </p:sp>
      <p:sp>
        <p:nvSpPr>
          <p:cNvPr id="11" name="Text 9"/>
          <p:cNvSpPr/>
          <p:nvPr/>
        </p:nvSpPr>
        <p:spPr>
          <a:xfrm>
            <a:off x="406301" y="4486573"/>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A1A1A"/>
                </a:solidFill>
                <a:latin typeface="Georgia" pitchFamily="34" charset="0"/>
                <a:ea typeface="Georgia" pitchFamily="34" charset="-122"/>
                <a:cs typeface="Georgia" pitchFamily="34" charset="-120"/>
              </a:rPr>
              <a:t>Senior ·  · IKS Curriculum</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5D1D2E"/>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997929"/>
                </a:solidFill>
                <a:latin typeface="Times New Roman" pitchFamily="34" charset="0"/>
                <a:ea typeface="Times New Roman" pitchFamily="34" charset="-122"/>
                <a:cs typeface="Times New Roman" pitchFamily="34" charset="-120"/>
              </a:rPr>
              <a:t>Activity (15 min)</a:t>
            </a:r>
            <a:endParaRPr lang="en-US" sz="1800" dirty="0"/>
          </a:p>
        </p:txBody>
      </p:sp>
      <p:sp>
        <p:nvSpPr>
          <p:cNvPr id="4" name="Text 2"/>
          <p:cNvSpPr/>
          <p:nvPr/>
        </p:nvSpPr>
        <p:spPr>
          <a:xfrm>
            <a:off x="406301" y="870942"/>
            <a:ext cx="8498026" cy="436066"/>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A1A1A"/>
                </a:solidFill>
                <a:latin typeface="Georgia" pitchFamily="34" charset="0"/>
                <a:ea typeface="Georgia" pitchFamily="34" charset="-122"/>
                <a:cs typeface="Georgia" pitchFamily="34" charset="-120"/>
              </a:rPr>
              <a:t>A scaled version of </a:t>
            </a:r>
            <a:pPr algn="l" indent="0" marL="0">
              <a:lnSpc>
                <a:spcPts val="1680"/>
              </a:lnSpc>
              <a:spcBef>
                <a:spcPts val="300"/>
              </a:spcBef>
              <a:spcAft>
                <a:spcPts val="300"/>
              </a:spcAft>
              <a:buNone/>
            </a:pPr>
            <a:r>
              <a:rPr lang="en-US" sz="1200" i="1" dirty="0">
                <a:solidFill>
                  <a:srgbClr val="1A1A1A"/>
                </a:solidFill>
                <a:latin typeface="Georgia" pitchFamily="34" charset="0"/>
                <a:ea typeface="Georgia" pitchFamily="34" charset="-122"/>
                <a:cs typeface="Georgia" pitchFamily="34" charset="-120"/>
              </a:rPr>
              <a:t>Complement Flashcards</a:t>
            </a:r>
            <a:pPr algn="l" indent="0" marL="0">
              <a:lnSpc>
                <a:spcPts val="1680"/>
              </a:lnSpc>
              <a:spcBef>
                <a:spcPts val="300"/>
              </a:spcBef>
              <a:spcAft>
                <a:spcPts val="300"/>
              </a:spcAft>
              <a:buNone/>
            </a:pPr>
            <a:r>
              <a:rPr lang="en-US" sz="1200" dirty="0">
                <a:solidFill>
                  <a:srgbClr val="1A1A1A"/>
                </a:solidFill>
                <a:latin typeface="Georgia" pitchFamily="34" charset="0"/>
                <a:ea typeface="Georgia" pitchFamily="34" charset="-122"/>
                <a:cs typeface="Georgia" pitchFamily="34" charset="-120"/>
              </a:rPr>
              <a:t> (see </a:t>
            </a:r>
            <a:pPr algn="l" indent="0" marL="0">
              <a:lnSpc>
                <a:spcPts val="1680"/>
              </a:lnSpc>
              <a:spcBef>
                <a:spcPts val="300"/>
              </a:spcBef>
              <a:spcAft>
                <a:spcPts val="300"/>
              </a:spcAft>
              <a:buNone/>
            </a:pPr>
            <a:r>
              <a:rPr lang="en-US" sz="1200" dirty="0">
                <a:solidFill>
                  <a:srgbClr val="1A1A1A"/>
                </a:solidFill>
                <a:latin typeface="Georgia" pitchFamily="34" charset="0"/>
                <a:ea typeface="Georgia" pitchFamily="34" charset="-122"/>
                <a:cs typeface="Georgia" pitchFamily="34" charset="-120"/>
              </a:rPr>
              <a:t>activities/</a:t>
            </a:r>
            <a:pPr algn="l" indent="0" marL="0">
              <a:lnSpc>
                <a:spcPts val="1680"/>
              </a:lnSpc>
              <a:spcBef>
                <a:spcPts val="300"/>
              </a:spcBef>
              <a:spcAft>
                <a:spcPts val="300"/>
              </a:spcAft>
              <a:buNone/>
            </a:pPr>
            <a:r>
              <a:rPr lang="en-US" sz="1200" dirty="0">
                <a:solidFill>
                  <a:srgbClr val="1A1A1A"/>
                </a:solidFill>
                <a:latin typeface="Georgia" pitchFamily="34" charset="0"/>
                <a:ea typeface="Georgia" pitchFamily="34" charset="-122"/>
                <a:cs typeface="Georgia" pitchFamily="34" charset="-120"/>
              </a:rPr>
              <a:t>). Today's slice: focus on the part of the activity that reinforces Two's Complement in Computers.</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A1A1A"/>
                </a:solidFill>
                <a:latin typeface="Georgia" pitchFamily="34" charset="0"/>
                <a:ea typeface="Georgia" pitchFamily="34" charset="-122"/>
                <a:cs typeface="Georgia" pitchFamily="34" charset="-120"/>
              </a:rPr>
              <a:t>Senior ·  · IKS Curriculum</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5D1D2E"/>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997929"/>
                </a:solidFill>
                <a:latin typeface="Times New Roman" pitchFamily="34" charset="0"/>
                <a:ea typeface="Times New Roman" pitchFamily="34" charset="-122"/>
                <a:cs typeface="Times New Roman" pitchFamily="34" charset="-120"/>
              </a:rPr>
              <a:t>Wrap-up (5 min)</a:t>
            </a:r>
            <a:endParaRPr lang="en-US" sz="1800" dirty="0"/>
          </a:p>
        </p:txBody>
      </p:sp>
      <p:sp>
        <p:nvSpPr>
          <p:cNvPr id="4" name="Text 2"/>
          <p:cNvSpPr/>
          <p:nvPr/>
        </p:nvSpPr>
        <p:spPr>
          <a:xfrm>
            <a:off x="406301" y="870942"/>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A1A1A"/>
                </a:solidFill>
                <a:latin typeface="Georgia" pitchFamily="34" charset="0"/>
                <a:ea typeface="Georgia" pitchFamily="34" charset="-122"/>
                <a:cs typeface="Georgia" pitchFamily="34" charset="-120"/>
              </a:rPr>
              <a:t>– One-sentence exit ticket: </a:t>
            </a:r>
            <a:pPr algn="l" indent="0" marL="0">
              <a:lnSpc>
                <a:spcPts val="1680"/>
              </a:lnSpc>
              <a:spcBef>
                <a:spcPts val="300"/>
              </a:spcBef>
              <a:spcAft>
                <a:spcPts val="300"/>
              </a:spcAft>
              <a:buNone/>
            </a:pPr>
            <a:r>
              <a:rPr lang="en-US" sz="1200" i="1" dirty="0">
                <a:solidFill>
                  <a:srgbClr val="1A1A1A"/>
                </a:solidFill>
                <a:latin typeface="Georgia" pitchFamily="34" charset="0"/>
                <a:ea typeface="Georgia" pitchFamily="34" charset="-122"/>
                <a:cs typeface="Georgia" pitchFamily="34" charset="-120"/>
              </a:rPr>
              <a:t>"What's one thing you learned today?"</a:t>
            </a:r>
            <a:pPr algn="l" indent="0" marL="0">
              <a:lnSpc>
                <a:spcPts val="1680"/>
              </a:lnSpc>
              <a:spcBef>
                <a:spcPts val="300"/>
              </a:spcBef>
              <a:spcAft>
                <a:spcPts val="300"/>
              </a:spcAft>
              <a:buNone/>
            </a:pPr>
            <a:r>
              <a:rPr lang="en-US" sz="1200" dirty="0">
                <a:solidFill>
                  <a:srgbClr val="1A1A1A"/>
                </a:solidFill>
                <a:latin typeface="Georgia" pitchFamily="34" charset="0"/>
                <a:ea typeface="Georgia" pitchFamily="34" charset="-122"/>
                <a:cs typeface="Georgia" pitchFamily="34" charset="-120"/>
              </a:rPr>
              <a:t> – Preview tomorrow.</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A1A1A"/>
                </a:solidFill>
                <a:latin typeface="Georgia" pitchFamily="34" charset="0"/>
                <a:ea typeface="Georgia" pitchFamily="34" charset="-122"/>
                <a:cs typeface="Georgia" pitchFamily="34" charset="-120"/>
              </a:rPr>
              <a:t>Senior ·  · IKS Curriculum</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5D1D2E"/>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997929"/>
                </a:solidFill>
                <a:latin typeface="Times New Roman" pitchFamily="34" charset="0"/>
                <a:ea typeface="Times New Roman" pitchFamily="34" charset="-122"/>
                <a:cs typeface="Times New Roman" pitchFamily="34" charset="-120"/>
              </a:rPr>
              <a:t>Homework</a:t>
            </a:r>
            <a:endParaRPr lang="en-US" sz="1800" dirty="0"/>
          </a:p>
        </p:txBody>
      </p:sp>
      <p:sp>
        <p:nvSpPr>
          <p:cNvPr id="4" name="Text 2"/>
          <p:cNvSpPr/>
          <p:nvPr/>
        </p:nvSpPr>
        <p:spPr>
          <a:xfrm>
            <a:off x="406301" y="870942"/>
            <a:ext cx="8498026" cy="222796"/>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A1A1A"/>
                </a:solidFill>
                <a:latin typeface="Georgia" pitchFamily="34" charset="0"/>
                <a:ea typeface="Georgia" pitchFamily="34" charset="-122"/>
                <a:cs typeface="Georgia" pitchFamily="34" charset="-120"/>
              </a:rPr>
              <a:t>(See </a:t>
            </a:r>
            <a:pPr algn="l" indent="0" marL="0">
              <a:lnSpc>
                <a:spcPts val="1680"/>
              </a:lnSpc>
              <a:spcBef>
                <a:spcPts val="300"/>
              </a:spcBef>
              <a:spcAft>
                <a:spcPts val="300"/>
              </a:spcAft>
              <a:buNone/>
            </a:pPr>
            <a:r>
              <a:rPr lang="en-US" sz="1200" dirty="0">
                <a:solidFill>
                  <a:srgbClr val="1A1A1A"/>
                </a:solidFill>
                <a:latin typeface="Georgia" pitchFamily="34" charset="0"/>
                <a:ea typeface="Georgia" pitchFamily="34" charset="-122"/>
                <a:cs typeface="Georgia" pitchFamily="34" charset="-120"/>
              </a:rPr>
              <a:t>homework.md</a:t>
            </a:r>
            <a:pPr algn="l" indent="0" marL="0">
              <a:lnSpc>
                <a:spcPts val="1680"/>
              </a:lnSpc>
              <a:spcBef>
                <a:spcPts val="300"/>
              </a:spcBef>
              <a:spcAft>
                <a:spcPts val="300"/>
              </a:spcAft>
              <a:buNone/>
            </a:pPr>
            <a:r>
              <a:rPr lang="en-US" sz="1200" dirty="0">
                <a:solidFill>
                  <a:srgbClr val="1A1A1A"/>
                </a:solidFill>
                <a:latin typeface="Georgia" pitchFamily="34" charset="0"/>
                <a:ea typeface="Georgia" pitchFamily="34" charset="-122"/>
                <a:cs typeface="Georgia" pitchFamily="34" charset="-120"/>
              </a:rPr>
              <a:t> for today's task.)</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A1A1A"/>
                </a:solidFill>
                <a:latin typeface="Georgia" pitchFamily="34" charset="0"/>
                <a:ea typeface="Georgia" pitchFamily="34" charset="-122"/>
                <a:cs typeface="Georgia" pitchFamily="34" charset="-120"/>
              </a:rPr>
              <a:t>Senior ·  · IKS Curriculum</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5D1D2E"/>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997929"/>
                </a:solidFill>
                <a:latin typeface="Times New Roman" pitchFamily="34" charset="0"/>
                <a:ea typeface="Times New Roman" pitchFamily="34" charset="-122"/>
                <a:cs typeface="Times New Roman" pitchFamily="34" charset="-120"/>
              </a:rPr>
              <a:t>Differentiation</a:t>
            </a:r>
            <a:endParaRPr lang="en-US" sz="1800" dirty="0"/>
          </a:p>
        </p:txBody>
      </p:sp>
      <p:sp>
        <p:nvSpPr>
          <p:cNvPr id="4" name="Text 2"/>
          <p:cNvSpPr/>
          <p:nvPr/>
        </p:nvSpPr>
        <p:spPr>
          <a:xfrm>
            <a:off x="634901" y="883593"/>
            <a:ext cx="8102798" cy="525661"/>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b="1" dirty="0">
                <a:solidFill>
                  <a:srgbClr val="1A1A1A"/>
                </a:solidFill>
                <a:latin typeface="Georgia" pitchFamily="34" charset="0"/>
                <a:ea typeface="Georgia" pitchFamily="34" charset="-122"/>
                <a:cs typeface="Georgia" pitchFamily="34" charset="-120"/>
              </a:rPr>
              <a:t>Extension:</a:t>
            </a:r>
            <a:pPr algn="l" indent="0" marL="0">
              <a:lnSpc>
                <a:spcPts val="1620"/>
              </a:lnSpc>
              <a:spcAft>
                <a:spcPts val="300"/>
              </a:spcAft>
              <a:buNone/>
            </a:pPr>
            <a:r>
              <a:rPr lang="en-US" sz="1200" dirty="0">
                <a:solidFill>
                  <a:srgbClr val="1A1A1A"/>
                </a:solidFill>
                <a:latin typeface="Georgia" pitchFamily="34" charset="0"/>
                <a:ea typeface="Georgia" pitchFamily="34" charset="-122"/>
                <a:cs typeface="Georgia" pitchFamily="34" charset="-120"/>
              </a:rPr>
              <a:t> offer one open question or extra problem for fast finishers.</a:t>
            </a:r>
            <a:endParaRPr lang="en-US" sz="1200" dirty="0"/>
          </a:p>
          <a:p>
            <a:pPr algn="l" marL="342900" indent="-342900">
              <a:lnSpc>
                <a:spcPts val="1620"/>
              </a:lnSpc>
              <a:spcAft>
                <a:spcPts val="300"/>
              </a:spcAft>
              <a:buSzPct val="100000"/>
              <a:buChar char="•"/>
            </a:pPr>
            <a:r>
              <a:rPr lang="en-US" sz="1200" b="1" dirty="0">
                <a:solidFill>
                  <a:srgbClr val="1A1A1A"/>
                </a:solidFill>
                <a:latin typeface="Georgia" pitchFamily="34" charset="0"/>
                <a:ea typeface="Georgia" pitchFamily="34" charset="-122"/>
                <a:cs typeface="Georgia" pitchFamily="34" charset="-120"/>
              </a:rPr>
              <a:t>Support:</a:t>
            </a:r>
            <a:pPr algn="l" indent="0" marL="0">
              <a:lnSpc>
                <a:spcPts val="1620"/>
              </a:lnSpc>
              <a:spcAft>
                <a:spcPts val="300"/>
              </a:spcAft>
              <a:buNone/>
            </a:pPr>
            <a:r>
              <a:rPr lang="en-US" sz="1200" dirty="0">
                <a:solidFill>
                  <a:srgbClr val="1A1A1A"/>
                </a:solidFill>
                <a:latin typeface="Georgia" pitchFamily="34" charset="0"/>
                <a:ea typeface="Georgia" pitchFamily="34" charset="-122"/>
                <a:cs typeface="Georgia" pitchFamily="34" charset="-120"/>
              </a:rPr>
              <a:t> pair students who need scaffolds; offer partial outlines.</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A1A1A"/>
                </a:solidFill>
                <a:latin typeface="Georgia" pitchFamily="34" charset="0"/>
                <a:ea typeface="Georgia" pitchFamily="34" charset="-122"/>
                <a:cs typeface="Georgia" pitchFamily="34" charset="-120"/>
              </a:rPr>
              <a:t>Senior ·  · IKS Curriculum</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5D1D2E"/>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997929"/>
                </a:solidFill>
                <a:latin typeface="Times New Roman" pitchFamily="34" charset="0"/>
                <a:ea typeface="Times New Roman" pitchFamily="34" charset="-122"/>
                <a:cs typeface="Times New Roman" pitchFamily="34" charset="-120"/>
              </a:rPr>
              <a:t>Teacher notes</a:t>
            </a:r>
            <a:endParaRPr lang="en-US" sz="1800" dirty="0"/>
          </a:p>
        </p:txBody>
      </p:sp>
      <p:sp>
        <p:nvSpPr>
          <p:cNvPr id="4" name="Text 2"/>
          <p:cNvSpPr/>
          <p:nvPr/>
        </p:nvSpPr>
        <p:spPr>
          <a:xfrm>
            <a:off x="406301" y="870942"/>
            <a:ext cx="8498026" cy="42654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A1A1A"/>
                </a:solidFill>
                <a:latin typeface="Georgia" pitchFamily="34" charset="0"/>
                <a:ea typeface="Georgia" pitchFamily="34" charset="-122"/>
                <a:cs typeface="Georgia" pitchFamily="34" charset="-120"/>
              </a:rPr>
              <a:t>– Citations: at least one quoted verse with citation per module. Day 1 already includes one if applicable; you may add more. – Connect to prior modules where natural (especially Module 2 pañcabhūta).</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A1A1A"/>
                </a:solidFill>
                <a:latin typeface="Georgia" pitchFamily="34" charset="0"/>
                <a:ea typeface="Georgia" pitchFamily="34" charset="-122"/>
                <a:cs typeface="Georgia" pitchFamily="34" charset="-120"/>
              </a:rPr>
              <a:t>Senior ·  · IKS Curriculum</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 Senior</dc:title>
  <dc:subject>PptxGenJS Presentation</dc:subject>
  <dc:creator>IKS Curriculum</dc:creator>
  <cp:lastModifiedBy>IKS Curriculum</cp:lastModifiedBy>
  <cp:revision>1</cp:revision>
  <dcterms:created xsi:type="dcterms:W3CDTF">2026-05-25T16:39:24Z</dcterms:created>
  <dcterms:modified xsi:type="dcterms:W3CDTF">2026-05-25T16:39:24Z</dcterms:modified>
</cp:coreProperties>
</file>