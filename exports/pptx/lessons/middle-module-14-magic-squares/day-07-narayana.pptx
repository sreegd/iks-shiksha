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Nārāyaṇa Paṇḍita and 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Gaṇita-kaumudī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Magic Squares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(a) place Nārāyaṇa Paṇḍita (14th c. CE) in the chronology of Indian mathematics, (b) describe what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covers, and (c) write a short reflection on why systematic written method matters.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– Notebook – A printed simple chronology chart (handout, see Student-facing content)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(introduced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_shared/glossary.md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"Moonlight of Mathematics," Nārāyaṇa's 1356 CE treatise.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Book 14 of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devoted to magic squares.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"You've been using Nārāyaṇa Paṇḍita's algorithm for three days. Today: who was he, what did he write, and why does it matter?"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Quick free-write (60 seconds): "What do I think I know about Nārāyaṇa already?" — students jot. Not collected.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a simple timeline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Period · Indian mathematics.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6445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 BCE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Śulba Sūtras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geometric ritual texts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 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Āryabhaṭa (b. 476)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Āryabhaṭīya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 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Brahmagupta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Brāhmasphuṭasiddhānta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~1100 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Bhāskara II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Līlāvatī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Bījagaṇita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1356 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*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Nārāyaṇa Paṇḍita —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Gaṇita-kaumudī***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~1400 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Mādhava (Kerala) — early infinite series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3146078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"Nārāyaṇa wrote in the 14th century — relatively 'late' in the medieval Indian mathematical tradition, but he produced one of the most comprehensive single works."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66147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 the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Fourteen books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vyavahāras*):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032200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Book 1–3: arithmetic (basic operations, fractions) – Book 4–6: ratios, percentage problems, alligation – Book 7–8: progressions and series – Book 9: combinatorics (permutations, partitions — Nārāyaṇa was a pioneer here) – Book 10–11: geometry of plane figures and solids – Book 12: triangular and figurate numbers – Book 13: practical problems (e.g. dilution of milk, mixture problems) - *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14: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magic squares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96148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treatise is comprehensive — it isn't only about magic squares. But the magic-square book is the longest and most systematic in any pre-modern work we have."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547687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systematic written method matters.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Discuss together: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5847606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Before Nārāyaṇa, magic squares appeared in many Indian and non-Indian sources — but mostly 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as recipes. – Nārāyaṇa gives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rules that work for any input size. This is what makes it mathematics, not just a curiosity collection. – This is the same distinction we draw today between "here's a Sudoku puzzle" and "here's an algorithm to generate Sudoku puzzles."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678953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paraphrase from the 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paraphrased: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7160270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"Magic squares of odd order are made by placing the first number in the top middle cell, and proceeding diagonally upward and rightward; if blocked, descend by one." (Nārāyaṇa Paṇḍita,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Book 14, 1356 CE — paraphrased.)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01" y="78762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rule you have been using. The original is in Sanskrit; this is a faithful paraphrase, not a quoted verse.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301" y="824195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Reflection paragraph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student writes 5–7 sentences in response to: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"Nārāyaṇa Paṇḍita gave us a rule, not a magic square. Why is having a rule more valuable than having just one example? Use specific evidence from this module."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Pairs swap and read each other's paragraphs. One quick comment each: "the part that landed" and "what I'd want more of."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Two volunteer-read paragraphs (with permission). – Preview Day 8: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go cross-cultural — China's Lo Shu and Europe's Dürer."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Polish your reflection paragraph from class. Add one more specific example (e.g. "I used the rule today to construct a 7×7 square in under 5 minutes; without the rule I would have been guessing all night.").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Compare Nārāyaṇa to Bhāskara II (~1150 CE). What did Bhāskara cover that Nārāyaṇa didn't? Vice versa? (Bhāskara: calculus precursors, planetary motion. Nārāyaṇa: combinatorics, magic squares.)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just 3–4 sentences. Focus on the "rule vs. example" distinction.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Avoid hero-worship framing. Nārāyaṇa was a brilliant systematiser; he was not the sole discoverer of magic squares. – A few students will ask whether Nārāyaṇa's methods were known outside India. Answer: yes, eventually — the same odd-order method shows up in 17th-c. European mathematics (via de la Loubère, 1687) probably with intermediate Islamic-world transmission. The independent re-discovery story is interesting but speculative. – The reflection paragraph is a low-stakes formative — don't grade harshly. Read for understanding, not for polish.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Nārāyaṇa Paṇḍita,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Book 14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1356 CE — primary source paraphrased. – Plofker (2009),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 in India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ch. on 14th-c. mathematics — secondary scholarly context.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2026-05-28T04:25:58Z</dcterms:created>
  <dcterms:modified xsi:type="dcterms:W3CDTF">2026-05-28T04:25:58Z</dcterms:modified>
</cp:coreProperties>
</file>