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380851"/>
            <a:ext cx="8498026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27788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Day 8 — Cross-cultural: Lo Shu and Dürer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06301" y="89639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Magic Squares (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Bhadragaṇita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 ·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Band: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Middle ·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45 min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223963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Learning objective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06301" y="1637854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 the end of this lesson, students will (a) identify the Chinese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 Shu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and Albrecht Dürer's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Melencolia I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magic squares, (b) note structural similarities and differences across cultures, and (c) begin their project planning.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Materials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Image of the Lo Shu square (turtle-shell pattern is helpful) – Image of Dürer's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Melencolia I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(1514) with the 4×4 corner visible – Project planning sheet (one per pair)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Vocabulary review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9370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 Shu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a Chinese 3×3 magic square attested at least from the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 Dai Liji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(Han dynasty, ~5th–1st c. BCE) and probably earlier.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Melencolia I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a 1514 engraving by the German artist Albrecht Dürer; its upper-right corner contains a famous 4×4 magic square.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Lesson flow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Warm-up (5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"Magic squares are not a one-culture phenomenon. Today we look at two famous non-Indian examples and compare."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254323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Show both images side by side, briefly. Don't analyse yet.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Activity (15 min) — Project planning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6493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Use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activities/activity-02-cross-cultural-compare.md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(a side-by-side worksheet). – Pairs commit to their project format (poster / video / written exposition) and one or two key ideas. – Each pair writes a 3-sentence project plan, hands in for teacher review by end of class.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Wrap-up (5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Two-pair quick share: "Our project is going to be ___ because ___." – Preview Day 9: project work + a brief look at Sudoku.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Student-facing content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83593"/>
            <a:ext cx="8331398" cy="2631281"/>
          </a:xfrm>
          <a:prstGeom prst="rect">
            <a:avLst/>
          </a:prstGeom>
          <a:solidFill>
            <a:srgbClr val="F4F8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434876" y="883593"/>
            <a:ext cx="0" cy="2631281"/>
          </a:xfrm>
          <a:prstGeom prst="line">
            <a:avLst/>
          </a:prstGeom>
          <a:noFill/>
          <a:ln w="57150">
            <a:solidFill>
              <a:srgbClr val="FE444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92051" y="1074093"/>
            <a:ext cx="7973389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b="1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Magic squares across cultures.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92051" y="1343174"/>
            <a:ext cx="7973389" cy="7500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``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Lo Shu (China, ~5th c. BCE) Dürer (Germany, 1514 CE) 4 | 9 | 2 16 | 3 | 2 | 13 --------- ---------------- 3 | 5 | 7 5 | 10 | 11 | 8 --------- ---------------- 8 | 1 | 6 9 | 6 | 7 | 12 ---------------- 4 | 15 | 14 | 1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``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92051" y="2131368"/>
            <a:ext cx="7973389" cy="4619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Lo Shu 3×3 is the same square as our Day-1 example (up to symmetry). The Dürer 4×4 shares the 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b="1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panel-magic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property with the Khajuraho square (~10th–11th c. CE) — every 2×2 panel sums to 34.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92051" y="2631430"/>
            <a:ext cx="7973389" cy="692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Multiple cultures arrived at magic squares: China (~5th c. BCE earliest documented), India (Khajuraho ~10th c. CE, Nārāyaṇa's 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Bhadragaṇita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1356 CE), the Islamic world (~11th c. CE on), and Europe (~14th c. CE on). No clean single origin.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Homework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Choose one of the three squares we've seen this fortnight (Day-1 / Khajuraho / Dürer). Verify its magic constant on a fresh piece of paper from scratch. Note one feature you find interesting.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Differentiation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9370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tier up: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Look up one more cultural example (e.g. al-Bīrūnī's magic squares, or the Jain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Pārśvanātha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yantra). Bring an image and a verified magic constant.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tier down: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Focus on one comparison: how is the Lo Shu the same as our Day-1 square? Trace the rotation that takes one into the other.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Teacher notes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10663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Don't fall into "ancient Indians invented this first" framing. The Lo Shu is older than any dated Indian magic square we have. Nārāyaṇa's contribution is the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systematic method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not the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discovery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– The Dürer corner being a date (1514) often delights students. Use that delight to motivate the project. – Some students will see the Khajuraho ~10th-c. dating and conclude it predates Lo Shu. That is incorrect. The Lo Shu has earlier documented evidence (Han dynasty texts). Be clear about which dates are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attestations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and which are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legends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Citation(s) used in this lesson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6398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Lo Shu: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 Dai Liji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(Chinese, Han dynasty, ~5th–1st c. BCE) — earliest documented Chinese mention. – Dürer,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Melencolia I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(1514) — material artefact. – Nārāyaṇa Paṇḍita,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Gaṇita-kaumudī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Book 14, 1356 CE — for context on Indian systematic treatment.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— Middle</dc:title>
  <dc:subject>PptxGenJS Presentation</dc:subject>
  <dc:creator>IKS Curriculum</dc:creator>
  <cp:lastModifiedBy>IKS Curriculum</cp:lastModifiedBy>
  <cp:revision>1</cp:revision>
  <dcterms:created xsi:type="dcterms:W3CDTF">2026-05-25T16:34:42Z</dcterms:created>
  <dcterms:modified xsi:type="dcterms:W3CDTF">2026-05-25T16:34:42Z</dcterms:modified>
</cp:coreProperties>
</file>