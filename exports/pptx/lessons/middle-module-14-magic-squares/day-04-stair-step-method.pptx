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The Stair-Step Method (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turagagati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reproduce Nārāyaṇa Paṇḍita's stair-step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algorithm to construct a 3×3 magic square from scratch, and will be able to state all five steps of the rule.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Printed blank 3×3 grids (3 per student) – A printed copy of the five-step rule (handout) — see Student-facing content below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turaga-gati; lit. "horse-step" or "knight-move") — Nārāyaṇa Paṇḍita's name for the diagonally-upward-right placement rule for constructing odd-order magic squares.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fluency: row-sum-to-15 quick fire. 5 rounds.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all built the 3×3 by guessing. Today we replace guessing with a method — Nārāyaṇa Paṇḍita's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rule from 1356 CE."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the rule.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Five steps. Write them on the board. Have students copy.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stair-step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method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for any odd-order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square: &gt; &gt; 1. Place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top-middle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cell. &gt; 2. From the cell containing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move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up and one to the right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(diagonally up-right) to place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+ 1. &gt; 3. If you go off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edge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wrap to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row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(same column you'd have landed in). &gt; 4. If you go off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edge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wrap to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column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(same row). &gt; 5. If the destination cell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filled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place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+ 1 in the cell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directly below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cell containing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instead. &gt; &gt; Continue until all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n*² cells are filled.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40952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 live on the 3×3.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through cell-by-cell, narrating each step: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792909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113" y="2792909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1627" y="291985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    1            2            3            4            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309443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Cell:  (1, c2)      (off-top,    (off-right,  filled —     (off-top,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326901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wrap to      wrap to      go directly  wrap to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344358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bottom)      left col)    below)       bottom)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6301" y="383396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4136082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30113" y="4136082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627" y="426303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| 1 | .          . | 1 | .          . | 1 | .         . | 1 | .         2 | 1 | 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443760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         ----------          ----------         ----------         ----------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6121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| . | .    →     . | . | .    →     3 | . | .    →    3 | . | .    →     3 | . | 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78675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         ----------          ----------         ----------         ----------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96133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| . | .          . | . | 2          . | . | 2         4 | . | 2         4 | . | 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6301" y="535171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Continue: 6 (up-right from 5, wraps), 7 (up-right from 6, blocked → below), 8, 9. Final: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301" y="5653832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30113" y="5653832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1627" y="578078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| 7 | 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595535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627" y="612993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| 5 | 1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627" y="630450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64790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| 3 | 8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06301" y="686946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 — this is exactly the square we discovered on Day 1. The method gave it to us directly, no guessing."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4901" y="7171581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this work?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Brief preview: the method spreads numbers evenly across rows, columns, and diagonals in a structured way. The full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Senior-band material. For now, the algorithm produces a magic square; verify by summing.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301" y="80298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Use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activities/activity-01-stair-step-drill.md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Each student constructs three 3×3 squares from scratch — first slowly, then faster. – Pair check: did your neighbour get the same square? Verify magic constant = 15.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recap of the 5-step rule. 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apply the same algorithm to a 5×5. The rule does not change."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6220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6220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stair-step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turagagati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method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for any odd-order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× n* magic square: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Place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top-middle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cell. 2. From the cell with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move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up and one to the right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place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+ 1. 3. If you go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 the top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wrap to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bottom row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4. If you go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 the right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wrap to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left column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5. If the destination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already filled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place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directly below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cell containing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instead.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 | 7 | 6 --------- 9 | 5 | 1 --------- 4 | 3 | 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6234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Nārāyaṇa Paṇḍita described this method in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Bhadragaṇita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(1356 CE). Modern textbooks sometimes call it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Siamese method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Loubère method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named for a European traveller who reported it from Siam in 1687. Nārāyaṇa described it 300+ years earlier.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Construct three 5×5 magic squares using the stair-step method. The magic constant should be 65 for all three. Yes — they will all be the same square. We'll discuss why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the method starting at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bottom-middle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 number 1 going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down-right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instead of up-right. Does it still produce a magic square? (Yes — a rotated version. Symmetry strikes again.)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Re-do the 3×3 construction with the rule sheet open in front of you. Speed comes later.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most common student error is step 5 — when blocked, students go in random directions instead of "directly below." Drill this. Repeat: "blocked → directly below." – A second common error: students try to apply this method to a 4×4 square. Remind them this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odd-order only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4×4 needs a different method (Day 6). – When students wrap (step 3 or 4), they often "lose" themselves on the grid. A useful trick: imagine the grid tiled — the cell at (off-top, column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is the same as (bottom row, column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– Walk around during the activity and correct misplacements early; mistakes compound.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primary source for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method we are using. – Plofker (2009),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Mathematics in India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secondary scholarly context.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2026-05-25T16:34:16Z</dcterms:created>
  <dcterms:modified xsi:type="dcterms:W3CDTF">2026-05-25T16:34:16Z</dcterms:modified>
</cp:coreProperties>
</file>