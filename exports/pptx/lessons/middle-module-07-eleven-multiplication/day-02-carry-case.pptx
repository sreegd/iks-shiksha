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</p:sldIdLst>
  <p:notesMasterIdLst>
    <p:notesMasterId r:id="rId15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notesMaster" Target="notesMasters/notesMaster1.xml"/><Relationship Id="rId16" Type="http://schemas.openxmlformats.org/officeDocument/2006/relationships/presProps" Target="presProps.xml"/><Relationship Id="rId17" Type="http://schemas.openxmlformats.org/officeDocument/2006/relationships/viewProps" Target="viewProps.xml"/><Relationship Id="rId18" Type="http://schemas.openxmlformats.org/officeDocument/2006/relationships/theme" Target="theme/theme1.xml"/><Relationship Id="rId19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380851"/>
            <a:ext cx="8498026" cy="3504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760"/>
              </a:lnSpc>
              <a:spcAft>
                <a:spcPts val="1000"/>
              </a:spcAft>
              <a:buNone/>
            </a:pPr>
            <a:r>
              <a:rPr lang="en-US" sz="2400" b="1" dirty="0">
                <a:solidFill>
                  <a:srgbClr val="277884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Day 2 — The Carry Case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406301" y="896392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Module: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×11 (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Ekādhikena Pūrveṇa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) ·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Band: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Middle ·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Time: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45 min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1223963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Learning objective</a:t>
            </a:r>
            <a:endParaRPr lang="en-US" sz="1800" dirty="0"/>
          </a:p>
        </p:txBody>
      </p:sp>
      <p:sp>
        <p:nvSpPr>
          <p:cNvPr id="6" name="Text 4"/>
          <p:cNvSpPr/>
          <p:nvPr/>
        </p:nvSpPr>
        <p:spPr>
          <a:xfrm>
            <a:off x="406301" y="1637854"/>
            <a:ext cx="8498026" cy="4265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By the end of this lesson, students will correctly handle the carry case in 2-digit × 11 (where the digit sum ≥ 10), including problems like 87 × 11 = 957, in under 5 seconds.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Materials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– Whiteboard. – Printed worksheet of 12 problems, mixing no-carry and carry cases. – Stopwatch.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Lesson flow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Warm-up (5 min)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– Neighbour-sum drill: teacher calls a 2-digit number with digit-sum &lt; 10; class chorus the ×11 product.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634901" y="1173063"/>
            <a:ext cx="8102798" cy="281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"12 times 11!" → "132!" — "34 times 11!" → "374!" —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10 in a minute.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Recall (3 min)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– Yesterday's problem: 73 × 11. 7 + 3 = 10. Why was this awkward?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634901" y="1173063"/>
            <a:ext cx="8102798" cy="281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"You can't put 10 in the middle of a 3-digit number. So what do we do? Carry the 1 — exactly like in standard addition."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Core (15 min) — The carry case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634901" y="883593"/>
            <a:ext cx="8102798" cy="281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Demonstrate 73 × 11 fully: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1266974"/>
            <a:ext cx="8331398" cy="1126778"/>
          </a:xfrm>
          <a:prstGeom prst="rect">
            <a:avLst/>
          </a:prstGeom>
          <a:solidFill>
            <a:srgbClr val="F4F8F9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6" name="Shape 4"/>
          <p:cNvSpPr/>
          <p:nvPr/>
        </p:nvSpPr>
        <p:spPr>
          <a:xfrm>
            <a:off x="430113" y="1266974"/>
            <a:ext cx="0" cy="1126778"/>
          </a:xfrm>
          <a:prstGeom prst="line">
            <a:avLst/>
          </a:prstGeom>
          <a:noFill/>
          <a:ln w="47625">
            <a:solidFill>
              <a:srgbClr val="277884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631627" y="1393924"/>
            <a:ext cx="8086939" cy="1745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75"/>
              </a:lnSpc>
              <a:buNone/>
            </a:pPr>
            <a:r>
              <a:rPr lang="en-US" sz="1100" dirty="0">
                <a:solidFill>
                  <a:srgbClr val="1C28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Step 1: Split:    7  _  3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631627" y="1568500"/>
            <a:ext cx="8086939" cy="1745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75"/>
              </a:lnSpc>
              <a:buNone/>
            </a:pPr>
            <a:r>
              <a:rPr lang="en-US" sz="1100" dirty="0">
                <a:solidFill>
                  <a:srgbClr val="1C28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Step 2: Add:      7 + 3 = 10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631627" y="1743075"/>
            <a:ext cx="8086939" cy="1745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75"/>
              </a:lnSpc>
              <a:buNone/>
            </a:pPr>
            <a:r>
              <a:rPr lang="en-US" sz="1100" dirty="0">
                <a:solidFill>
                  <a:srgbClr val="1C28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Step 3: Write the units digit of the sum (0) in the middle:    7  0  3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631627" y="1917650"/>
            <a:ext cx="8086939" cy="1745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75"/>
              </a:lnSpc>
              <a:buNone/>
            </a:pPr>
            <a:r>
              <a:rPr lang="en-US" sz="1100" dirty="0">
                <a:solidFill>
                  <a:srgbClr val="1C28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Step 4: Carry the tens digit of the sum (1) into the leftmost digit: 7 + 1 = 8.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631627" y="2092226"/>
            <a:ext cx="8086939" cy="1745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75"/>
              </a:lnSpc>
              <a:buNone/>
            </a:pPr>
            <a:r>
              <a:rPr lang="en-US" sz="1100" dirty="0">
                <a:solidFill>
                  <a:srgbClr val="1C28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Step 5: Answer:   8  0  3   →   803.</a:t>
            </a:r>
            <a:endParaRPr lang="en-US" sz="1100" dirty="0"/>
          </a:p>
        </p:txBody>
      </p:sp>
      <p:sp>
        <p:nvSpPr>
          <p:cNvPr id="12" name="Text 10"/>
          <p:cNvSpPr/>
          <p:nvPr/>
        </p:nvSpPr>
        <p:spPr>
          <a:xfrm>
            <a:off x="406301" y="2482602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Check: 73 × 11 = 73 × 10 + 73 = 730 + 73 =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803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. ✓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634901" y="2784723"/>
            <a:ext cx="8102798" cy="281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Try 87 × 11: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406301" y="3168104"/>
            <a:ext cx="8331398" cy="952202"/>
          </a:xfrm>
          <a:prstGeom prst="rect">
            <a:avLst/>
          </a:prstGeom>
          <a:solidFill>
            <a:srgbClr val="F4F8F9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5" name="Shape 13"/>
          <p:cNvSpPr/>
          <p:nvPr/>
        </p:nvSpPr>
        <p:spPr>
          <a:xfrm>
            <a:off x="430113" y="3168104"/>
            <a:ext cx="0" cy="952202"/>
          </a:xfrm>
          <a:prstGeom prst="line">
            <a:avLst/>
          </a:prstGeom>
          <a:noFill/>
          <a:ln w="47625">
            <a:solidFill>
              <a:srgbClr val="277884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631627" y="3295055"/>
            <a:ext cx="8086939" cy="1745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75"/>
              </a:lnSpc>
              <a:buNone/>
            </a:pPr>
            <a:r>
              <a:rPr lang="en-US" sz="1100" dirty="0">
                <a:solidFill>
                  <a:srgbClr val="1C28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8  _  7</a:t>
            </a:r>
            <a:endParaRPr lang="en-US" sz="1100" dirty="0"/>
          </a:p>
        </p:txBody>
      </p:sp>
      <p:sp>
        <p:nvSpPr>
          <p:cNvPr id="17" name="Text 15"/>
          <p:cNvSpPr/>
          <p:nvPr/>
        </p:nvSpPr>
        <p:spPr>
          <a:xfrm>
            <a:off x="631627" y="3469630"/>
            <a:ext cx="8086939" cy="1745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75"/>
              </a:lnSpc>
              <a:buNone/>
            </a:pPr>
            <a:r>
              <a:rPr lang="en-US" sz="1100" dirty="0">
                <a:solidFill>
                  <a:srgbClr val="1C28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8 + 7 = 15</a:t>
            </a:r>
            <a:endParaRPr lang="en-US" sz="1100" dirty="0"/>
          </a:p>
        </p:txBody>
      </p:sp>
      <p:sp>
        <p:nvSpPr>
          <p:cNvPr id="18" name="Text 16"/>
          <p:cNvSpPr/>
          <p:nvPr/>
        </p:nvSpPr>
        <p:spPr>
          <a:xfrm>
            <a:off x="631627" y="3644205"/>
            <a:ext cx="8086939" cy="1745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75"/>
              </a:lnSpc>
              <a:buNone/>
            </a:pPr>
            <a:r>
              <a:rPr lang="en-US" sz="1100" dirty="0">
                <a:solidFill>
                  <a:srgbClr val="1C28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Middle = 5; carry 1 into the 8 → 9.</a:t>
            </a:r>
            <a:endParaRPr lang="en-US" sz="1100" dirty="0"/>
          </a:p>
        </p:txBody>
      </p:sp>
      <p:sp>
        <p:nvSpPr>
          <p:cNvPr id="19" name="Text 17"/>
          <p:cNvSpPr/>
          <p:nvPr/>
        </p:nvSpPr>
        <p:spPr>
          <a:xfrm>
            <a:off x="631627" y="3818781"/>
            <a:ext cx="8086939" cy="1745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75"/>
              </a:lnSpc>
              <a:buNone/>
            </a:pPr>
            <a:r>
              <a:rPr lang="en-US" sz="1100" dirty="0">
                <a:solidFill>
                  <a:srgbClr val="1C28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Answer: 9  5  7 → 957.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406301" y="4209157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Check: 87 × 11 = 870 + 87 =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957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. ✓</a:t>
            </a:r>
            <a:endParaRPr lang="en-US" sz="1200" dirty="0"/>
          </a:p>
        </p:txBody>
      </p:sp>
      <p:sp>
        <p:nvSpPr>
          <p:cNvPr id="21" name="Text 19"/>
          <p:cNvSpPr/>
          <p:nvPr/>
        </p:nvSpPr>
        <p:spPr>
          <a:xfrm>
            <a:off x="634901" y="4511278"/>
            <a:ext cx="8102798" cy="281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Try 99 × 11:</a:t>
            </a:r>
            <a:endParaRPr lang="en-US" sz="1200" dirty="0"/>
          </a:p>
        </p:txBody>
      </p:sp>
      <p:sp>
        <p:nvSpPr>
          <p:cNvPr id="22" name="Text 20"/>
          <p:cNvSpPr/>
          <p:nvPr/>
        </p:nvSpPr>
        <p:spPr>
          <a:xfrm>
            <a:off x="406301" y="4894659"/>
            <a:ext cx="8331398" cy="1126778"/>
          </a:xfrm>
          <a:prstGeom prst="rect">
            <a:avLst/>
          </a:prstGeom>
          <a:solidFill>
            <a:srgbClr val="F4F8F9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3" name="Shape 21"/>
          <p:cNvSpPr/>
          <p:nvPr/>
        </p:nvSpPr>
        <p:spPr>
          <a:xfrm>
            <a:off x="430113" y="4894659"/>
            <a:ext cx="0" cy="1126778"/>
          </a:xfrm>
          <a:prstGeom prst="line">
            <a:avLst/>
          </a:prstGeom>
          <a:noFill/>
          <a:ln w="47625">
            <a:solidFill>
              <a:srgbClr val="277884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631627" y="5021610"/>
            <a:ext cx="8086939" cy="1745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75"/>
              </a:lnSpc>
              <a:buNone/>
            </a:pPr>
            <a:r>
              <a:rPr lang="en-US" sz="1100" dirty="0">
                <a:solidFill>
                  <a:srgbClr val="1C28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9 _ 9</a:t>
            </a:r>
            <a:endParaRPr lang="en-US" sz="1100" dirty="0"/>
          </a:p>
        </p:txBody>
      </p:sp>
      <p:sp>
        <p:nvSpPr>
          <p:cNvPr id="25" name="Text 23"/>
          <p:cNvSpPr/>
          <p:nvPr/>
        </p:nvSpPr>
        <p:spPr>
          <a:xfrm>
            <a:off x="631627" y="5196185"/>
            <a:ext cx="8086939" cy="1745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75"/>
              </a:lnSpc>
              <a:buNone/>
            </a:pPr>
            <a:r>
              <a:rPr lang="en-US" sz="1100" dirty="0">
                <a:solidFill>
                  <a:srgbClr val="1C28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9 + 9 = 18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631627" y="5370761"/>
            <a:ext cx="8086939" cy="1745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75"/>
              </a:lnSpc>
              <a:buNone/>
            </a:pPr>
            <a:r>
              <a:rPr lang="en-US" sz="1100" dirty="0">
                <a:solidFill>
                  <a:srgbClr val="1C28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Middle = 8; carry 1 into the 9 → 10.</a:t>
            </a:r>
            <a:endParaRPr lang="en-US" sz="1100" dirty="0"/>
          </a:p>
        </p:txBody>
      </p:sp>
      <p:sp>
        <p:nvSpPr>
          <p:cNvPr id="27" name="Text 25"/>
          <p:cNvSpPr/>
          <p:nvPr/>
        </p:nvSpPr>
        <p:spPr>
          <a:xfrm>
            <a:off x="631627" y="5545336"/>
            <a:ext cx="8086939" cy="1745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75"/>
              </a:lnSpc>
              <a:buNone/>
            </a:pPr>
            <a:r>
              <a:rPr lang="en-US" sz="1100" dirty="0">
                <a:solidFill>
                  <a:srgbClr val="1C28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But 10 isn't a single digit — so it becomes a "1" carried further: leftmost = 0, with a 1 carried to the left of that.</a:t>
            </a:r>
            <a:endParaRPr lang="en-US" sz="1100" dirty="0"/>
          </a:p>
        </p:txBody>
      </p:sp>
      <p:sp>
        <p:nvSpPr>
          <p:cNvPr id="28" name="Text 26"/>
          <p:cNvSpPr/>
          <p:nvPr/>
        </p:nvSpPr>
        <p:spPr>
          <a:xfrm>
            <a:off x="631627" y="5719911"/>
            <a:ext cx="8086939" cy="1745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75"/>
              </a:lnSpc>
              <a:buNone/>
            </a:pPr>
            <a:r>
              <a:rPr lang="en-US" sz="1100" dirty="0">
                <a:solidFill>
                  <a:srgbClr val="1C28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Answer: 1  0  8  9 → 1089.</a:t>
            </a:r>
            <a:endParaRPr lang="en-US" sz="1100" dirty="0"/>
          </a:p>
        </p:txBody>
      </p:sp>
      <p:sp>
        <p:nvSpPr>
          <p:cNvPr id="29" name="Text 27"/>
          <p:cNvSpPr/>
          <p:nvPr/>
        </p:nvSpPr>
        <p:spPr>
          <a:xfrm>
            <a:off x="406301" y="6110288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Check: 99 × 11 = 990 + 99 =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1089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. ✓ (4-digit answer because the carry cascaded.)</a:t>
            </a:r>
            <a:endParaRPr lang="en-US" sz="1200" dirty="0"/>
          </a:p>
        </p:txBody>
      </p:sp>
      <p:sp>
        <p:nvSpPr>
          <p:cNvPr id="30" name="Text 28"/>
          <p:cNvSpPr/>
          <p:nvPr/>
        </p:nvSpPr>
        <p:spPr>
          <a:xfrm>
            <a:off x="634901" y="6412409"/>
            <a:ext cx="8102798" cy="281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full procedure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(boxed on the board):</a:t>
            </a:r>
            <a:endParaRPr lang="en-US" sz="1200" dirty="0"/>
          </a:p>
        </p:txBody>
      </p:sp>
      <p:sp>
        <p:nvSpPr>
          <p:cNvPr id="31" name="Text 29"/>
          <p:cNvSpPr/>
          <p:nvPr/>
        </p:nvSpPr>
        <p:spPr>
          <a:xfrm>
            <a:off x="406301" y="6783139"/>
            <a:ext cx="8498026" cy="4265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&gt; *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For any 2-digit number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ab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× 11: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&gt; 1. Compute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+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. &gt; 2. If the sum is &lt; 10: answer is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(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a+b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)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. &gt; 3. If the sum is ≥ 10: middle digit = units digit of sum; add 1 to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. &gt; 4. If the new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a* is ≥ 10 (only happens at 99): cascade the carry.</a:t>
            </a:r>
            <a:endParaRPr lang="en-US" sz="1200" dirty="0"/>
          </a:p>
        </p:txBody>
      </p:sp>
      <p:sp>
        <p:nvSpPr>
          <p:cNvPr id="32" name="Text 30"/>
          <p:cNvSpPr/>
          <p:nvPr/>
        </p:nvSpPr>
        <p:spPr>
          <a:xfrm>
            <a:off x="406301" y="7362081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Activity (17 min) — Mixed practice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– Worksheet of 12 problems, half no-carry, half carry: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1173063"/>
            <a:ext cx="8331398" cy="777627"/>
          </a:xfrm>
          <a:prstGeom prst="rect">
            <a:avLst/>
          </a:prstGeom>
          <a:solidFill>
            <a:srgbClr val="F4F8F9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6" name="Shape 4"/>
          <p:cNvSpPr/>
          <p:nvPr/>
        </p:nvSpPr>
        <p:spPr>
          <a:xfrm>
            <a:off x="430113" y="1173063"/>
            <a:ext cx="0" cy="777627"/>
          </a:xfrm>
          <a:prstGeom prst="line">
            <a:avLst/>
          </a:prstGeom>
          <a:noFill/>
          <a:ln w="47625">
            <a:solidFill>
              <a:srgbClr val="277884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631627" y="1300014"/>
            <a:ext cx="8086939" cy="1745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75"/>
              </a:lnSpc>
              <a:buNone/>
            </a:pPr>
            <a:r>
              <a:rPr lang="en-US" sz="1100" dirty="0">
                <a:solidFill>
                  <a:srgbClr val="1C28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21 × 11    35 × 11    47 × 11    58 × 11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631627" y="1474589"/>
            <a:ext cx="8086939" cy="1745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75"/>
              </a:lnSpc>
              <a:buNone/>
            </a:pPr>
            <a:r>
              <a:rPr lang="en-US" sz="1100" dirty="0">
                <a:solidFill>
                  <a:srgbClr val="1C28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62 × 11    74 × 11    83 × 11    89 × 11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631627" y="1649164"/>
            <a:ext cx="8086939" cy="1745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75"/>
              </a:lnSpc>
              <a:buNone/>
            </a:pPr>
            <a:r>
              <a:rPr lang="en-US" sz="1100" dirty="0">
                <a:solidFill>
                  <a:srgbClr val="1C28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91 × 11    99 × 11    18 × 11    27 × 11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406301" y="2039541"/>
            <a:ext cx="8498026" cy="4265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– Round 1 (8 min): solo, untimed. Self-check with long multiplication on any 3 of them. – Round 2 (8 min): paired. Partner calls a problem; you answer aloud. Goal: under 5 seconds per problem.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Wrap-up (5 min)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4265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– Quick chorus: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"What does the trick break into?"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— Split, add, drop (and carry if needed). – Tease Day 3: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"Tomorrow we PROVE why this works. You'll write the algebra yourself."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Student-facing content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83593"/>
            <a:ext cx="8331398" cy="1612106"/>
          </a:xfrm>
          <a:prstGeom prst="rect">
            <a:avLst/>
          </a:prstGeom>
          <a:solidFill>
            <a:srgbClr val="F4F8F9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5" name="Shape 3"/>
          <p:cNvSpPr/>
          <p:nvPr/>
        </p:nvSpPr>
        <p:spPr>
          <a:xfrm>
            <a:off x="434876" y="883593"/>
            <a:ext cx="0" cy="1612106"/>
          </a:xfrm>
          <a:prstGeom prst="line">
            <a:avLst/>
          </a:prstGeom>
          <a:noFill/>
          <a:ln w="57150">
            <a:solidFill>
              <a:srgbClr val="FE4447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92051" y="1074093"/>
            <a:ext cx="7973389" cy="23098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b="1" i="1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The ×11 Trick (with carry)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692051" y="1343174"/>
            <a:ext cx="7973389" cy="46196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1. Split the digits. 2. Add them. 3. </a:t>
            </a:r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b="1" i="1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If the sum &lt; 10:</a:t>
            </a:r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drop it in the middle. Done. 4. </a:t>
            </a:r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b="1" i="1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If the sum ≥ 10:</a:t>
            </a:r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keep the units digit of the sum as the middle; add 1 to the leftmost digit.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692051" y="1843236"/>
            <a:ext cx="7973389" cy="46196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Examples: - 45 × 11: 4+5=9 → 4</a:t>
            </a:r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b="1" i="1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9</a:t>
            </a:r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5 = </a:t>
            </a:r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b="1" i="1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495</a:t>
            </a:r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- 87 × 11: 8+7=15 → 8</a:t>
            </a:r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b="1" i="1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(1)5</a:t>
            </a:r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7 → </a:t>
            </a:r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b="1" i="1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9</a:t>
            </a:r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57 = </a:t>
            </a:r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b="1" i="1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957</a:t>
            </a:r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- 99 × 11: 9+9=18 → 9</a:t>
            </a:r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b="1" i="1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(1)8</a:t>
            </a:r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9 → cascade → 1</a:t>
            </a:r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b="1" i="1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</a:t>
            </a:r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89 = </a:t>
            </a:r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b="1" i="1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1089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Homework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4265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– 8 mental ×11 problems (carry case): 76, 84, 85, 88, 93, 96, 67, 78 — multiplied by 11. Write the answers. – Time yourself. Goal: under 30 seconds total.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Differentiation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634901" y="883593"/>
            <a:ext cx="8102798" cy="7313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Tier up: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Find a 2-digit number where the trick gives a 4-digit answer (i.e. 99 × 11 = 1089). Can you find any others, or is 99 unique? Justify.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Tier down: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Solve only the no-carry problems on the worksheet today. We'll cement carries on Day 4.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Teacher notes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106635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– The most common error: students remember to write the units digit of the middle sum but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forget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to add the carry into the leftmost digit. Watch for "73 × 11 = 7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3" with no carry added — this is a classic mistake. – The 99 × 11 case (and the cascading carry) genuinely surprises students. Lean into it — it's evidence the algebra is doing real work, not arithmetic by coincidence. – If a student asks "why does this work?" — that's Day 3. Park it. Honour the curiosity by writing the question on a board sticky.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Citation(s) used in this lesson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– Tirthaji (1965), sūtra 1 (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Ekādhikena Pūrveṇa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) — the technique name.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634901" y="1173063"/>
            <a:ext cx="8102798" cy="281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Vedic Mathematics Batch1.pdf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(Vedic Cultural Center) — worked examples of the carry case.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13</Slides>
  <Notes>13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13</vt:i4>
      </vt:variant>
    </vt:vector>
  </HeadingPairs>
  <TitlesOfParts>
    <vt:vector size="16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 — Middle</dc:title>
  <dc:subject>PptxGenJS Presentation</dc:subject>
  <dc:creator>IKS Curriculum</dc:creator>
  <cp:lastModifiedBy>IKS Curriculum</cp:lastModifiedBy>
  <cp:revision>1</cp:revision>
  <dcterms:created xsi:type="dcterms:W3CDTF">2026-05-28T04:19:31Z</dcterms:created>
  <dcterms:modified xsi:type="dcterms:W3CDTF">2026-05-28T04:19:31Z</dcterms:modified>
</cp:coreProperties>
</file>