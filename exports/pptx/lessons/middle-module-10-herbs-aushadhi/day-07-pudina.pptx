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380851"/>
            <a:ext cx="8498026" cy="350490"/>
          </a:xfrm>
          <a:prstGeom prst="rect">
            <a:avLst/>
          </a:prstGeom>
          <a:noFill/>
          <a:ln/>
        </p:spPr>
        <p:txBody>
          <a:bodyPr wrap="square" lIns="0" tIns="0" rIns="0" bIns="0" rtlCol="0" anchor="t"/>
          <a:lstStyle/>
          <a:p>
            <a:pPr algn="l" indent="0" marL="0">
              <a:lnSpc>
                <a:spcPts val="2760"/>
              </a:lnSpc>
              <a:spcAft>
                <a:spcPts val="1000"/>
              </a:spcAft>
              <a:buNone/>
            </a:pPr>
            <a:r>
              <a:rPr lang="en-US" sz="2400" dirty="0">
                <a:solidFill>
                  <a:srgbClr val="277884"/>
                </a:solidFill>
                <a:latin typeface="Georgia" pitchFamily="34" charset="0"/>
                <a:ea typeface="Georgia" pitchFamily="34" charset="-122"/>
                <a:cs typeface="Georgia" pitchFamily="34" charset="-120"/>
              </a:rPr>
              <a:t>Day 7 — </a:t>
            </a:r>
            <a:pPr algn="l" indent="0" marL="0">
              <a:lnSpc>
                <a:spcPts val="2760"/>
              </a:lnSpc>
              <a:spcAft>
                <a:spcPts val="1000"/>
              </a:spcAft>
              <a:buNone/>
            </a:pPr>
            <a:r>
              <a:rPr lang="en-US" sz="2400" b="1" i="1" dirty="0">
                <a:solidFill>
                  <a:srgbClr val="277884"/>
                </a:solidFill>
                <a:latin typeface="Georgia" pitchFamily="34" charset="0"/>
                <a:ea typeface="Georgia" pitchFamily="34" charset="-122"/>
                <a:cs typeface="Georgia" pitchFamily="34" charset="-120"/>
              </a:rPr>
              <a:t>Pudīnā</a:t>
            </a:r>
            <a:pPr algn="l" indent="0" marL="0">
              <a:lnSpc>
                <a:spcPts val="2760"/>
              </a:lnSpc>
              <a:spcAft>
                <a:spcPts val="1000"/>
              </a:spcAft>
              <a:buNone/>
            </a:pPr>
            <a:r>
              <a:rPr lang="en-US" sz="2400" dirty="0">
                <a:solidFill>
                  <a:srgbClr val="277884"/>
                </a:solidFill>
                <a:latin typeface="Georgia" pitchFamily="34" charset="0"/>
                <a:ea typeface="Georgia" pitchFamily="34" charset="-122"/>
                <a:cs typeface="Georgia" pitchFamily="34" charset="-120"/>
              </a:rPr>
              <a:t> (Mint)</a:t>
            </a:r>
            <a:endParaRPr lang="en-US" sz="2400" dirty="0"/>
          </a:p>
        </p:txBody>
      </p:sp>
      <p:sp>
        <p:nvSpPr>
          <p:cNvPr id="4" name="Text 2"/>
          <p:cNvSpPr/>
          <p:nvPr/>
        </p:nvSpPr>
        <p:spPr>
          <a:xfrm>
            <a:off x="406301" y="89639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Module: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Auṣadhi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Band: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Middle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Time: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45 min</a:t>
            </a:r>
            <a:endParaRPr lang="en-US" sz="1200" dirty="0"/>
          </a:p>
        </p:txBody>
      </p:sp>
      <p:sp>
        <p:nvSpPr>
          <p:cNvPr id="5" name="Text 3"/>
          <p:cNvSpPr/>
          <p:nvPr/>
        </p:nvSpPr>
        <p:spPr>
          <a:xfrm>
            <a:off x="406301" y="1223963"/>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Learning objective</a:t>
            </a:r>
            <a:endParaRPr lang="en-US" sz="1800" dirty="0"/>
          </a:p>
        </p:txBody>
      </p:sp>
      <p:sp>
        <p:nvSpPr>
          <p:cNvPr id="6" name="Text 4"/>
          <p:cNvSpPr/>
          <p:nvPr/>
        </p:nvSpPr>
        <p:spPr>
          <a:xfrm>
            <a:off x="406301" y="1637854"/>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By the end of this lesson, students can identify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pudīnā</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Mentha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species) by leaf shape and the characteristic cooling smell, name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menthol</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as the principal volatile, distinguish two common varieties (spearmint vs peppermint), and explain that mint is classified as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śīta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(cooling) in Ayurveda — a classification that aligns with its measurable physiological effect.</a:t>
            </a:r>
            <a:endParaRPr lang="en-US" sz="1200" dirty="0"/>
          </a:p>
        </p:txBody>
      </p:sp>
      <p:sp>
        <p:nvSpPr>
          <p:cNvPr id="7" name="Text 5"/>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Materials</a:t>
            </a:r>
            <a:endParaRPr lang="en-US" sz="1800" dirty="0"/>
          </a:p>
        </p:txBody>
      </p:sp>
      <p:sp>
        <p:nvSpPr>
          <p:cNvPr id="4" name="Text 2"/>
          <p:cNvSpPr/>
          <p:nvPr/>
        </p:nvSpPr>
        <p:spPr>
          <a:xfrm>
            <a:off x="406301" y="870942"/>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Two sprigs of mint, ideally from two different varieties (spearmint and peppermint are easiest to source) – A small jar of dried mint leaves – A few peppermint candies or a small tube of menthol-containing balm — for the smell bridge (do not let students apply balm to their skin in class) – Ice cube + a small bowl (for the demo on cooling sensation) – Whiteboard</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Vocabulary introduced today</a:t>
            </a:r>
            <a:endParaRPr lang="en-US" sz="1800" dirty="0"/>
          </a:p>
        </p:txBody>
      </p:sp>
      <p:sp>
        <p:nvSpPr>
          <p:cNvPr id="4" name="Text 2"/>
          <p:cNvSpPr/>
          <p:nvPr/>
        </p:nvSpPr>
        <p:spPr>
          <a:xfrm>
            <a:off x="634901" y="883593"/>
            <a:ext cx="8102798" cy="97512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pudīnā</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(IAST: pudīnā) — mint. Commonly refers to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Mentha spicata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(spearmint) in Indian kitchens.</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Menthol</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the principal volatile cooling compound. Most concentrated in peppermint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Mentha × piperita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also present in smaller amounts in spearmint.</a:t>
            </a:r>
            <a:endParaRPr lang="en-US" sz="1200" dirty="0"/>
          </a:p>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śīta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(IAST: śīta; lit. "cool, cooling") — the cooling potency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vīrya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in Ayurveda. Contrasts with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uṣṇa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(heating).</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Lesson flow</a:t>
            </a:r>
            <a:endParaRPr lang="en-US" sz="1800" dirty="0"/>
          </a:p>
        </p:txBody>
      </p:sp>
      <p:sp>
        <p:nvSpPr>
          <p:cNvPr id="4" name="Text 2"/>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Warm-up (5 min)</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Pass the mint sprigs along the row. Each student takes a leaf, rubs gently, sniffs.</a:t>
            </a:r>
            <a:endParaRPr lang="en-US" sz="1200" dirty="0"/>
          </a:p>
        </p:txBody>
      </p:sp>
      <p:sp>
        <p:nvSpPr>
          <p:cNvPr id="5" name="Text 3"/>
          <p:cNvSpPr/>
          <p:nvPr/>
        </p:nvSpPr>
        <p:spPr>
          <a:xfrm>
            <a:off x="406301" y="1160413"/>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"Three words for the smell."</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(Likely: "fresh," "cool," "toothpaste-like.")</a:t>
            </a:r>
            <a:endParaRPr lang="en-US" sz="1200" dirty="0"/>
          </a:p>
        </p:txBody>
      </p:sp>
      <p:sp>
        <p:nvSpPr>
          <p:cNvPr id="6" name="Text 4"/>
          <p:cNvSpPr/>
          <p:nvPr/>
        </p:nvSpPr>
        <p:spPr>
          <a:xfrm>
            <a:off x="406301" y="1449884"/>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Hold an ice cube briefly — note how cold feels on the skin. Now ask: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"When you smelled the mint just now, did it feel like the ice or different?"</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(Different — but related. We'll explain.)</a:t>
            </a:r>
            <a:endParaRPr lang="en-US" sz="1200" dirty="0"/>
          </a:p>
        </p:txBody>
      </p:sp>
      <p:sp>
        <p:nvSpPr>
          <p:cNvPr id="7" name="Text 5"/>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Activity (15 min) — Variety taste-id challenge</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(Skip if cooking/tasting is not permitted at your school. Replace with a sketch-by-variety exercise.)</a:t>
            </a:r>
            <a:endParaRPr lang="en-US" sz="1200" dirty="0"/>
          </a:p>
        </p:txBody>
      </p:sp>
      <p:sp>
        <p:nvSpPr>
          <p:cNvPr id="5" name="Text 3"/>
          <p:cNvSpPr/>
          <p:nvPr/>
        </p:nvSpPr>
        <p:spPr>
          <a:xfrm>
            <a:off x="406301" y="1160413"/>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Set up two cups: spearmint chutney (from prepared chutney, very small portion per student) vs a peppermint candy crushed in water (tiny amount). – Each pair tries to identify which is which by taste alone. – Record what made them distinguishable — sharpness? Sweetness? Cooling intensity?</a:t>
            </a:r>
            <a:endParaRPr lang="en-US" sz="1200" dirty="0"/>
          </a:p>
        </p:txBody>
      </p:sp>
      <p:sp>
        <p:nvSpPr>
          <p:cNvPr id="6" name="Text 4"/>
          <p:cNvSpPr/>
          <p:nvPr/>
        </p:nvSpPr>
        <p:spPr>
          <a:xfrm>
            <a:off x="406301" y="1876425"/>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Final 5 min — group discussion:</a:t>
            </a:r>
            <a:endParaRPr lang="en-US" sz="1200" dirty="0"/>
          </a:p>
        </p:txBody>
      </p:sp>
      <p:sp>
        <p:nvSpPr>
          <p:cNvPr id="7" name="Text 5"/>
          <p:cNvSpPr/>
          <p:nvPr/>
        </p:nvSpPr>
        <p:spPr>
          <a:xfrm>
            <a:off x="634901" y="2178546"/>
            <a:ext cx="8102798" cy="7313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"Why does mint feel cool when it isn't actually cold?"</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(TRPM8 activation — students should be able to explain this back.)</a:t>
            </a:r>
            <a:endParaRPr lang="en-US" sz="1200" dirty="0"/>
          </a:p>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"What's the connection between the Ayurvedic word</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śīta</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 and this molecular trick?"</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(The tradition was tracking the effect; the science explains the cause.)</a:t>
            </a:r>
            <a:endParaRPr lang="en-US" sz="1200" dirty="0"/>
          </a:p>
        </p:txBody>
      </p:sp>
      <p:sp>
        <p:nvSpPr>
          <p:cNvPr id="8" name="Text 6"/>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Wrap-up (5 min)</a:t>
            </a:r>
            <a:endParaRPr lang="en-US" sz="1800" dirty="0"/>
          </a:p>
        </p:txBody>
      </p:sp>
      <p:sp>
        <p:nvSpPr>
          <p:cNvPr id="4" name="Text 2"/>
          <p:cNvSpPr/>
          <p:nvPr/>
        </p:nvSpPr>
        <p:spPr>
          <a:xfrm>
            <a:off x="406301" y="87094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Restate the safety rule. – Preview Day 8: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"Tomorrow we put all six herbs together — and look at them through the doṣa lens. Heating, cooling, what goes with what."</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Homework</a:t>
            </a:r>
            <a:endParaRPr lang="en-US" sz="1800" dirty="0"/>
          </a:p>
        </p:txBody>
      </p:sp>
      <p:sp>
        <p:nvSpPr>
          <p:cNvPr id="4" name="Text 2"/>
          <p:cNvSpPr/>
          <p:nvPr/>
        </p:nvSpPr>
        <p:spPr>
          <a:xfrm>
            <a:off x="406301" y="87094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Find pudina (or any mint) in your home or near it. Sketch the leaf. Identify which variety if you can. Note: where do you encounter mint most often in your week?</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Differentiation</a:t>
            </a:r>
            <a:endParaRPr lang="en-US" sz="1800" dirty="0"/>
          </a:p>
        </p:txBody>
      </p:sp>
      <p:sp>
        <p:nvSpPr>
          <p:cNvPr id="4" name="Text 2"/>
          <p:cNvSpPr/>
          <p:nvPr/>
        </p:nvSpPr>
        <p:spPr>
          <a:xfrm>
            <a:off x="634901" y="883593"/>
            <a:ext cx="8102798" cy="7313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One tier up:</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TRPM8 was identified as the cold receptor in 2002. Look up the David Julius lab work on TRP channels (2021 Nobel Prize in Physiology or Medicine). Be ready to share one finding next class.</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One tier down: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Focus on identifying mint by smell and remembering "menthol = cool feeling."</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Teacher notes</a:t>
            </a:r>
            <a:endParaRPr lang="en-US" sz="1800" dirty="0"/>
          </a:p>
        </p:txBody>
      </p:sp>
      <p:sp>
        <p:nvSpPr>
          <p:cNvPr id="4" name="Text 2"/>
          <p:cNvSpPr/>
          <p:nvPr/>
        </p:nvSpPr>
        <p:spPr>
          <a:xfrm>
            <a:off x="406301" y="870942"/>
            <a:ext cx="8498026" cy="1066354"/>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The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TRPM8 mechanism</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is the single most rewarding teaching moment of this module for a science-leaning student. The bridge from "cooling herb" (tradition) to "TRPM8 activation" (Nobel-winning science) is satisfying and intellectually honest. – If anyone in your class connects "menthol cooling = chilli burning = same kind of receptor trick," that's the inferential leap to highlight publicly. Praise it. – A few students may bring up vapour rubs / chest balms used in childhood. Acknowledge the use; note the infant caution; don't sermonise.</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Citation(s) used in this lesson</a:t>
            </a:r>
            <a:endParaRPr lang="en-US" sz="1800" dirty="0"/>
          </a:p>
        </p:txBody>
      </p:sp>
      <p:sp>
        <p:nvSpPr>
          <p:cNvPr id="4" name="Text 2"/>
          <p:cNvSpPr/>
          <p:nvPr/>
        </p:nvSpPr>
        <p:spPr>
          <a:xfrm>
            <a:off x="406301" y="870942"/>
            <a:ext cx="8498026" cy="853083"/>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Menthol activation of TRPM8: established in molecular pharmacology. David Julius and colleagues identified TRPM8 as the cold/menthol receptor (Julius lab, UCSF; 2021 Nobel Prize work). Reference is at the lab level only; specific paper not cited. – Peppermint oil for IBS: multiple systematic reviews exist. Teachers can search "peppermint oil IBS systematic review" in PubMed.</a:t>
            </a:r>
            <a:endParaRPr lang="en-US" sz="1200" dirty="0"/>
          </a:p>
        </p:txBody>
      </p:sp>
      <p:sp>
        <p:nvSpPr>
          <p:cNvPr id="5" name="Text 3"/>
          <p:cNvSpPr/>
          <p:nvPr/>
        </p:nvSpPr>
        <p:spPr>
          <a:xfrm>
            <a:off x="634901" y="1812875"/>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Pudīnā</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as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śīta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standard Ayurvedic nighantu reference; chapter-level only.</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 Middle</dc:title>
  <dc:subject>PptxGenJS Presentation</dc:subject>
  <dc:creator>IKS Curriculum</dc:creator>
  <cp:lastModifiedBy>IKS Curriculum</cp:lastModifiedBy>
  <cp:revision>1</cp:revision>
  <dcterms:created xsi:type="dcterms:W3CDTF">2026-05-25T16:30:28Z</dcterms:created>
  <dcterms:modified xsi:type="dcterms:W3CDTF">2026-05-25T16:30:28Z</dcterms:modified>
</cp:coreProperties>
</file>