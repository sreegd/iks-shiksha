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380851"/>
            <a:ext cx="8498026" cy="350490"/>
          </a:xfrm>
          <a:prstGeom prst="rect">
            <a:avLst/>
          </a:prstGeom>
          <a:noFill/>
          <a:ln/>
        </p:spPr>
        <p:txBody>
          <a:bodyPr wrap="square" lIns="0" tIns="0" rIns="0" bIns="0" rtlCol="0" anchor="t"/>
          <a:lstStyle/>
          <a:p>
            <a:pPr algn="l" indent="0" marL="0">
              <a:lnSpc>
                <a:spcPts val="2760"/>
              </a:lnSpc>
              <a:spcAft>
                <a:spcPts val="1000"/>
              </a:spcAft>
              <a:buNone/>
            </a:pPr>
            <a:r>
              <a:rPr lang="en-US" sz="2400" dirty="0">
                <a:solidFill>
                  <a:srgbClr val="277884"/>
                </a:solidFill>
                <a:latin typeface="Georgia" pitchFamily="34" charset="0"/>
                <a:ea typeface="Georgia" pitchFamily="34" charset="-122"/>
                <a:cs typeface="Georgia" pitchFamily="34" charset="-120"/>
              </a:rPr>
              <a:t>Day 7 — </a:t>
            </a:r>
            <a:pPr algn="l" indent="0" marL="0">
              <a:lnSpc>
                <a:spcPts val="2760"/>
              </a:lnSpc>
              <a:spcAft>
                <a:spcPts val="1000"/>
              </a:spcAft>
              <a:buNone/>
            </a:pPr>
            <a:r>
              <a:rPr lang="en-US" sz="2400" b="1" i="1" dirty="0">
                <a:solidFill>
                  <a:srgbClr val="277884"/>
                </a:solidFill>
                <a:latin typeface="Georgia" pitchFamily="34" charset="0"/>
                <a:ea typeface="Georgia" pitchFamily="34" charset="-122"/>
                <a:cs typeface="Georgia" pitchFamily="34" charset="-120"/>
              </a:rPr>
              <a:t>Pudīnā</a:t>
            </a:r>
            <a:pPr algn="l" indent="0" marL="0">
              <a:lnSpc>
                <a:spcPts val="2760"/>
              </a:lnSpc>
              <a:spcAft>
                <a:spcPts val="1000"/>
              </a:spcAft>
              <a:buNone/>
            </a:pPr>
            <a:r>
              <a:rPr lang="en-US" sz="2400" dirty="0">
                <a:solidFill>
                  <a:srgbClr val="277884"/>
                </a:solidFill>
                <a:latin typeface="Georgia" pitchFamily="34" charset="0"/>
                <a:ea typeface="Georgia" pitchFamily="34" charset="-122"/>
                <a:cs typeface="Georgia" pitchFamily="34" charset="-120"/>
              </a:rPr>
              <a:t> (Mint)</a:t>
            </a:r>
            <a:endParaRPr lang="en-US" sz="2400" dirty="0"/>
          </a:p>
        </p:txBody>
      </p:sp>
      <p:sp>
        <p:nvSpPr>
          <p:cNvPr id="4" name="Text 2"/>
          <p:cNvSpPr/>
          <p:nvPr/>
        </p:nvSpPr>
        <p:spPr>
          <a:xfrm>
            <a:off x="406301" y="89639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Module:</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Auṣadhi · </a:t>
            </a:r>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Band:</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Middle · </a:t>
            </a:r>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Time:</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45 min</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Learning objective</a:t>
            </a:r>
            <a:endParaRPr lang="en-US" sz="1800" dirty="0"/>
          </a:p>
        </p:txBody>
      </p:sp>
      <p:sp>
        <p:nvSpPr>
          <p:cNvPr id="4" name="Text 2"/>
          <p:cNvSpPr/>
          <p:nvPr/>
        </p:nvSpPr>
        <p:spPr>
          <a:xfrm>
            <a:off x="406301" y="870942"/>
            <a:ext cx="8498026" cy="639812"/>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By the end of this lesson, students can identify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pudīnā</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Mentha</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species) by leaf shape and the characteristic cooling smell, name </a:t>
            </a:r>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menthol</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as the principal volatile, distinguish two common varieties (spearmint vs peppermint), and explain that mint is classified as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śīta</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(cooling) in Ayurveda — a classification that aligns with its measurable physiological effect.</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Materials</a:t>
            </a:r>
            <a:endParaRPr lang="en-US" sz="1800" dirty="0"/>
          </a:p>
        </p:txBody>
      </p:sp>
      <p:sp>
        <p:nvSpPr>
          <p:cNvPr id="4" name="Text 2"/>
          <p:cNvSpPr/>
          <p:nvPr/>
        </p:nvSpPr>
        <p:spPr>
          <a:xfrm>
            <a:off x="634901" y="883593"/>
            <a:ext cx="8102798" cy="1462683"/>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Two sprigs of mint, ideally from two different varieties (spearmint and peppermint are easiest to source)</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A small jar of dried mint leaves</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A few peppermint candies or a small tube of menthol-containing balm — for the smell bridge (do not let students apply balm to their skin in class)</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Ice cube + a small bowl (for the demo on cooling sensation)</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Whiteboard</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Vocabulary introduced today</a:t>
            </a:r>
            <a:endParaRPr lang="en-US" sz="1800" dirty="0"/>
          </a:p>
        </p:txBody>
      </p:sp>
      <p:sp>
        <p:nvSpPr>
          <p:cNvPr id="4" name="Text 2"/>
          <p:cNvSpPr/>
          <p:nvPr/>
        </p:nvSpPr>
        <p:spPr>
          <a:xfrm>
            <a:off x="634901" y="883593"/>
            <a:ext cx="8102798" cy="975122"/>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pudīnā</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(IAST: pudīnā) — mint. Commonly refers to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Mentha spicata</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(spearmint) in Indian kitchens.</a:t>
            </a:r>
            <a:endParaRPr lang="en-US" sz="1200" dirty="0"/>
          </a:p>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Menthol</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the principal volatile cooling compound. Most concentrated in peppermint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Mentha × piperita</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also present in smaller amounts in spearmint.</a:t>
            </a:r>
            <a:endParaRPr lang="en-US" sz="1200" dirty="0"/>
          </a:p>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śīta</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(IAST: śīta; lit. "cool, cooling") — the cooling potency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vīrya</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in Ayurveda. Contrasts with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uṣṇa</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(heating).</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Lesson flow</a:t>
            </a:r>
            <a:endParaRPr lang="en-US" sz="1800" dirty="0"/>
          </a:p>
        </p:txBody>
      </p:sp>
      <p:sp>
        <p:nvSpPr>
          <p:cNvPr id="4" name="Text 2"/>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Warm-up (5 min)</a:t>
            </a:r>
            <a:endParaRPr lang="en-US" sz="1800" dirty="0"/>
          </a:p>
        </p:txBody>
      </p:sp>
      <p:sp>
        <p:nvSpPr>
          <p:cNvPr id="4" name="Text 2"/>
          <p:cNvSpPr/>
          <p:nvPr/>
        </p:nvSpPr>
        <p:spPr>
          <a:xfrm>
            <a:off x="406301" y="87094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Pass the mint sprigs along the row. Each student takes a leaf, rubs gently, sniffs.</a:t>
            </a:r>
            <a:endParaRPr lang="en-US" sz="1200" dirty="0"/>
          </a:p>
        </p:txBody>
      </p:sp>
      <p:sp>
        <p:nvSpPr>
          <p:cNvPr id="5" name="Text 3"/>
          <p:cNvSpPr/>
          <p:nvPr/>
        </p:nvSpPr>
        <p:spPr>
          <a:xfrm>
            <a:off x="406301" y="1160413"/>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"Three words for the smell."</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(Likely: "fresh," "cool," "toothpaste-like.")</a:t>
            </a:r>
            <a:endParaRPr lang="en-US" sz="1200" dirty="0"/>
          </a:p>
        </p:txBody>
      </p:sp>
      <p:sp>
        <p:nvSpPr>
          <p:cNvPr id="6" name="Text 4"/>
          <p:cNvSpPr/>
          <p:nvPr/>
        </p:nvSpPr>
        <p:spPr>
          <a:xfrm>
            <a:off x="406301" y="1449884"/>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Hold an ice cube briefly — note how cold feels on the skin. Now ask: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"When you smelled the mint just now, did it feel like the ice or different?"</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(Different — but related. We'll explain.)</a:t>
            </a:r>
            <a:endParaRPr lang="en-US" sz="1200" dirty="0"/>
          </a:p>
        </p:txBody>
      </p:sp>
      <p:sp>
        <p:nvSpPr>
          <p:cNvPr id="7" name="Text 5"/>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Core (20 min)</a:t>
            </a:r>
            <a:endParaRPr lang="en-US" sz="1800" dirty="0"/>
          </a:p>
        </p:txBody>
      </p:sp>
      <p:sp>
        <p:nvSpPr>
          <p:cNvPr id="4" name="Text 2"/>
          <p:cNvSpPr/>
          <p:nvPr/>
        </p:nvSpPr>
        <p:spPr>
          <a:xfrm>
            <a:off x="634901" y="883593"/>
            <a:ext cx="8102798" cy="281880"/>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Identify it.</a:t>
            </a:r>
            <a:endParaRPr lang="en-US" sz="1200" dirty="0"/>
          </a:p>
        </p:txBody>
      </p:sp>
      <p:sp>
        <p:nvSpPr>
          <p:cNvPr id="5" name="Text 3"/>
          <p:cNvSpPr/>
          <p:nvPr/>
        </p:nvSpPr>
        <p:spPr>
          <a:xfrm>
            <a:off x="634901" y="1266974"/>
            <a:ext cx="8102798" cy="1462683"/>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Mint family (Lamiaceae)</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same family as tulsi (square stems!). Make students check: press the mint stem between thumb and finger. Four flat sides.</a:t>
            </a:r>
            <a:endParaRPr lang="en-US" sz="1200" dirty="0"/>
          </a:p>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Leaf shape:</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oval-pointed, serrate (jagged) edges. Larger than tulsi leaves. Bright green.</a:t>
            </a:r>
            <a:endParaRPr lang="en-US" sz="1200" dirty="0"/>
          </a:p>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Smell:</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the unmistakable cooling-fresh aroma. Different varieties smell slightly different.</a:t>
            </a:r>
            <a:endParaRPr lang="en-US" sz="1200" dirty="0"/>
          </a:p>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Common varieties in India:</a:t>
            </a:r>
            <a:endParaRPr lang="en-US" sz="1200" dirty="0"/>
          </a:p>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Mentha spicata</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spearmint. The everyday "pudina" in chutney, raita.</a:t>
            </a:r>
            <a:endParaRPr lang="en-US" sz="1200" dirty="0"/>
          </a:p>
        </p:txBody>
      </p:sp>
      <p:sp>
        <p:nvSpPr>
          <p:cNvPr id="6" name="Text 4"/>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Core (20 min) (cont.)</a:t>
            </a:r>
            <a:endParaRPr lang="en-US" sz="1800" dirty="0"/>
          </a:p>
        </p:txBody>
      </p:sp>
      <p:sp>
        <p:nvSpPr>
          <p:cNvPr id="4" name="Text 2"/>
          <p:cNvSpPr/>
          <p:nvPr/>
        </p:nvSpPr>
        <p:spPr>
          <a:xfrm>
            <a:off x="634901" y="883593"/>
            <a:ext cx="8102798" cy="52566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Mentha × piperita</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peppermint. More concentrated menthol; sharper, "tooth-paste" smell.</a:t>
            </a:r>
            <a:endParaRPr lang="en-US" sz="1200" dirty="0"/>
          </a:p>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Mentha arvensis</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corn mint / Japanese mint — grown commercially in India for menthol extraction.</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Core (20 min) (cont.)</a:t>
            </a:r>
            <a:endParaRPr lang="en-US" sz="1800" dirty="0"/>
          </a:p>
        </p:txBody>
      </p:sp>
      <p:sp>
        <p:nvSpPr>
          <p:cNvPr id="4" name="Text 2"/>
          <p:cNvSpPr/>
          <p:nvPr/>
        </p:nvSpPr>
        <p:spPr>
          <a:xfrm>
            <a:off x="634901" y="883593"/>
            <a:ext cx="8102798" cy="281880"/>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The cooling trick — explained.</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This is the headline.</a:t>
            </a:r>
            <a:endParaRPr lang="en-US" sz="1200" dirty="0"/>
          </a:p>
        </p:txBody>
      </p:sp>
      <p:sp>
        <p:nvSpPr>
          <p:cNvPr id="5" name="Text 3"/>
          <p:cNvSpPr/>
          <p:nvPr/>
        </p:nvSpPr>
        <p:spPr>
          <a:xfrm>
            <a:off x="634901" y="1266974"/>
            <a:ext cx="8102798" cy="1835944"/>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Menthol activates a receptor in your skin called </a:t>
            </a:r>
            <a:pPr algn="l" indent="0" marL="0">
              <a:lnSpc>
                <a:spcPts val="1620"/>
              </a:lnSpc>
              <a:spcAft>
                <a:spcPts val="300"/>
              </a:spcAft>
              <a:buNone/>
            </a:pPr>
            <a:r>
              <a:rPr lang="en-US" sz="1200" b="1" dirty="0">
                <a:solidFill>
                  <a:srgbClr val="1C2833"/>
                </a:solidFill>
                <a:latin typeface="Arial" pitchFamily="34" charset="0"/>
                <a:ea typeface="Arial" pitchFamily="34" charset="-122"/>
                <a:cs typeface="Arial" pitchFamily="34" charset="-120"/>
              </a:rPr>
              <a:t>TRPM8</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the same receptor that activates when your skin actually gets cold.</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The receptor doesn't know whether the signal is from real cold or from a menthol molecule. It sends "cold!" to your brain either way.</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The result: </a:t>
            </a:r>
            <a:pPr algn="l" indent="0" marL="0">
              <a:lnSpc>
                <a:spcPts val="1620"/>
              </a:lnSpc>
              <a:spcAft>
                <a:spcPts val="300"/>
              </a:spcAft>
              <a:buNone/>
            </a:pPr>
            <a:r>
              <a:rPr lang="en-US" sz="1200" b="1" dirty="0">
                <a:solidFill>
                  <a:srgbClr val="1C2833"/>
                </a:solidFill>
                <a:latin typeface="Arial" pitchFamily="34" charset="0"/>
                <a:ea typeface="Arial" pitchFamily="34" charset="-122"/>
                <a:cs typeface="Arial" pitchFamily="34" charset="-120"/>
              </a:rPr>
              <a:t>you feel cool without your temperature actually dropping</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Your skin temperature is unchanged. Your perception of coolness is real.</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This is the same trick that capsaicin (chilli) plays in reverse — capsaicin activates TRPV1, the "heat" receptor, and your brain feels heat even though your skin isn't hot.</a:t>
            </a:r>
            <a:endParaRPr lang="en-US" sz="1200" dirty="0"/>
          </a:p>
        </p:txBody>
      </p:sp>
      <p:sp>
        <p:nvSpPr>
          <p:cNvPr id="6" name="Text 4"/>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Core (20 min) (cont.)</a:t>
            </a:r>
            <a:endParaRPr lang="en-US" sz="1800" dirty="0"/>
          </a:p>
        </p:txBody>
      </p:sp>
      <p:sp>
        <p:nvSpPr>
          <p:cNvPr id="4" name="Text 2"/>
          <p:cNvSpPr/>
          <p:nvPr/>
        </p:nvSpPr>
        <p:spPr>
          <a:xfrm>
            <a:off x="406301" y="870942"/>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This is one of the cleanest connections between </a:t>
            </a:r>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traditional classification</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śīta</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 cooling) and </a:t>
            </a:r>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modern molecular pharmacology</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(TRPM8 activation). The tradition got the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effect</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right; modern science explained the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mechanism</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Core (20 min) (cont.)</a:t>
            </a:r>
            <a:endParaRPr lang="en-US" sz="1800" dirty="0"/>
          </a:p>
        </p:txBody>
      </p:sp>
      <p:sp>
        <p:nvSpPr>
          <p:cNvPr id="4" name="Text 2"/>
          <p:cNvSpPr/>
          <p:nvPr/>
        </p:nvSpPr>
        <p:spPr>
          <a:xfrm>
            <a:off x="634901" y="883593"/>
            <a:ext cx="8102798" cy="281880"/>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What mint does — well-supported.</a:t>
            </a:r>
            <a:endParaRPr lang="en-US" sz="1200" dirty="0"/>
          </a:p>
        </p:txBody>
      </p:sp>
      <p:sp>
        <p:nvSpPr>
          <p:cNvPr id="5" name="Text 3"/>
          <p:cNvSpPr/>
          <p:nvPr/>
        </p:nvSpPr>
        <p:spPr>
          <a:xfrm>
            <a:off x="634901" y="1266974"/>
            <a:ext cx="8102798" cy="1424583"/>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Cooling sensation</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(TRPM8) — definitively established.</a:t>
            </a:r>
            <a:endParaRPr lang="en-US" sz="1200" dirty="0"/>
          </a:p>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Digestive support</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peppermint oil capsules have </a:t>
            </a:r>
            <a:pPr algn="l" indent="0" marL="0">
              <a:lnSpc>
                <a:spcPts val="1620"/>
              </a:lnSpc>
              <a:spcAft>
                <a:spcPts val="300"/>
              </a:spcAft>
              <a:buNone/>
            </a:pPr>
            <a:r>
              <a:rPr lang="en-US" sz="1200" b="1" dirty="0">
                <a:solidFill>
                  <a:srgbClr val="1C2833"/>
                </a:solidFill>
                <a:latin typeface="Arial" pitchFamily="34" charset="0"/>
                <a:ea typeface="Arial" pitchFamily="34" charset="-122"/>
                <a:cs typeface="Arial" pitchFamily="34" charset="-120"/>
              </a:rPr>
              <a:t>good clinical evidence</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for relieving symptoms of Irritable Bowel Syndrome (IBS) when prescribed by a doctor. Mechanism: relaxation of gut smooth muscle.</a:t>
            </a:r>
            <a:endParaRPr lang="en-US" sz="1200" dirty="0"/>
          </a:p>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Breath freshness</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antibacterial activity in the mouth.</a:t>
            </a:r>
            <a:endParaRPr lang="en-US" sz="1200" dirty="0"/>
          </a:p>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Headache relief</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when applied to the temples (the cooling sensation distracts from pain). Topical use of dilute menthol; not the same as ingesting essential oil.</a:t>
            </a:r>
            <a:endParaRPr lang="en-US" sz="1200" dirty="0"/>
          </a:p>
        </p:txBody>
      </p:sp>
      <p:sp>
        <p:nvSpPr>
          <p:cNvPr id="6" name="Text 4"/>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Core (20 min) (cont.)</a:t>
            </a:r>
            <a:endParaRPr lang="en-US" sz="1800" dirty="0"/>
          </a:p>
        </p:txBody>
      </p:sp>
      <p:sp>
        <p:nvSpPr>
          <p:cNvPr id="4" name="Text 2"/>
          <p:cNvSpPr/>
          <p:nvPr/>
        </p:nvSpPr>
        <p:spPr>
          <a:xfrm>
            <a:off x="634901" y="883593"/>
            <a:ext cx="8102798" cy="281880"/>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Cautions.</a:t>
            </a:r>
            <a:endParaRPr lang="en-US" sz="1200" dirty="0"/>
          </a:p>
        </p:txBody>
      </p:sp>
      <p:sp>
        <p:nvSpPr>
          <p:cNvPr id="5" name="Text 3"/>
          <p:cNvSpPr/>
          <p:nvPr/>
        </p:nvSpPr>
        <p:spPr>
          <a:xfrm>
            <a:off x="634901" y="1266974"/>
            <a:ext cx="8102798" cy="975122"/>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Babies and small children</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undiluted menthol-containing products on the chest or face can cause breathing reflexes. Do not give menthol balms to infants.</a:t>
            </a:r>
            <a:endParaRPr lang="en-US" sz="1200" dirty="0"/>
          </a:p>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Peppermint oil capsules</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these are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medications</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not snacks. The IBS evidence is for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prescribed</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dosing.</a:t>
            </a:r>
            <a:endParaRPr lang="en-US" sz="1200" dirty="0"/>
          </a:p>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Acid reflux</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peppermint can relax the lower oesophageal sphincter, making reflux worse for some people.</a:t>
            </a:r>
            <a:endParaRPr lang="en-US" sz="1200" dirty="0"/>
          </a:p>
        </p:txBody>
      </p:sp>
      <p:sp>
        <p:nvSpPr>
          <p:cNvPr id="6" name="Text 4"/>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Core (20 min) (cont.)</a:t>
            </a:r>
            <a:endParaRPr lang="en-US" sz="1800" dirty="0"/>
          </a:p>
        </p:txBody>
      </p:sp>
      <p:sp>
        <p:nvSpPr>
          <p:cNvPr id="4" name="Text 2"/>
          <p:cNvSpPr/>
          <p:nvPr/>
        </p:nvSpPr>
        <p:spPr>
          <a:xfrm>
            <a:off x="634901" y="883593"/>
            <a:ext cx="8102798" cy="48756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Traditional Ayurvedic frame.</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Pudīnā</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is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kaṭu</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(pungent) in taste but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śīta</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(cooling) in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vīrya</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Used in summer drinks (mint nimbu pani), in chutneys (with coriander and lime), and in some preparations for cooling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pitta</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imbalances.</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Activity (15 min) — Variety taste-id challenge</a:t>
            </a:r>
            <a:endParaRPr lang="en-US" sz="1800" dirty="0"/>
          </a:p>
        </p:txBody>
      </p:sp>
      <p:sp>
        <p:nvSpPr>
          <p:cNvPr id="4" name="Text 2"/>
          <p:cNvSpPr/>
          <p:nvPr/>
        </p:nvSpPr>
        <p:spPr>
          <a:xfrm>
            <a:off x="406301" y="87094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(Skip if cooking/tasting is not permitted at your school. Replace with a sketch-by-variety exercise.)</a:t>
            </a:r>
            <a:endParaRPr lang="en-US" sz="1200" dirty="0"/>
          </a:p>
        </p:txBody>
      </p:sp>
      <p:sp>
        <p:nvSpPr>
          <p:cNvPr id="5" name="Text 3"/>
          <p:cNvSpPr/>
          <p:nvPr/>
        </p:nvSpPr>
        <p:spPr>
          <a:xfrm>
            <a:off x="634901" y="1173063"/>
            <a:ext cx="8102798" cy="975122"/>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Set up two cups: spearmint chutney (from prepared chutney, very small portion per student) vs a peppermint candy crushed in water (tiny amount).</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Each pair tries to identify which is which by taste alone.</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Record what made them distinguishable — sharpness? Sweetness? Cooling intensity?</a:t>
            </a:r>
            <a:endParaRPr lang="en-US" sz="1200" dirty="0"/>
          </a:p>
        </p:txBody>
      </p:sp>
      <p:sp>
        <p:nvSpPr>
          <p:cNvPr id="6" name="Text 4"/>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Activity (15 min) — Variety taste-id challenge (cont.)</a:t>
            </a:r>
            <a:endParaRPr lang="en-US" sz="1800" dirty="0"/>
          </a:p>
        </p:txBody>
      </p:sp>
      <p:sp>
        <p:nvSpPr>
          <p:cNvPr id="4" name="Text 2"/>
          <p:cNvSpPr/>
          <p:nvPr/>
        </p:nvSpPr>
        <p:spPr>
          <a:xfrm>
            <a:off x="406301" y="87094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Final 5 min — group discussion:</a:t>
            </a:r>
            <a:endParaRPr lang="en-US" sz="1200" dirty="0"/>
          </a:p>
        </p:txBody>
      </p:sp>
      <p:sp>
        <p:nvSpPr>
          <p:cNvPr id="5" name="Text 3"/>
          <p:cNvSpPr/>
          <p:nvPr/>
        </p:nvSpPr>
        <p:spPr>
          <a:xfrm>
            <a:off x="634901" y="1173063"/>
            <a:ext cx="8102798" cy="73134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"Why does mint feel cool when it isn't actually cold?"</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(TRPM8 activation — students should be able to explain this back.)</a:t>
            </a:r>
            <a:endParaRPr lang="en-US" sz="1200" dirty="0"/>
          </a:p>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"What's the connection between the Ayurvedic word</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śīta</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 and this molecular trick?"</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(The tradition was tracking the effect; the science explains the cause.)</a:t>
            </a:r>
            <a:endParaRPr lang="en-US" sz="1200" dirty="0"/>
          </a:p>
        </p:txBody>
      </p:sp>
      <p:sp>
        <p:nvSpPr>
          <p:cNvPr id="6" name="Text 4"/>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Wrap-up (5 min)</a:t>
            </a:r>
            <a:endParaRPr lang="en-US" sz="1800" dirty="0"/>
          </a:p>
        </p:txBody>
      </p:sp>
      <p:sp>
        <p:nvSpPr>
          <p:cNvPr id="4" name="Text 2"/>
          <p:cNvSpPr/>
          <p:nvPr/>
        </p:nvSpPr>
        <p:spPr>
          <a:xfrm>
            <a:off x="634901" y="883593"/>
            <a:ext cx="8102798" cy="73134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Restate the safety rule.</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Preview Day 8: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"Tomorrow we put all six herbs together — and look at them through the doṣa lens. Heating, cooling, what goes with what."</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Homework</a:t>
            </a:r>
            <a:endParaRPr lang="en-US" sz="1800" dirty="0"/>
          </a:p>
        </p:txBody>
      </p:sp>
      <p:sp>
        <p:nvSpPr>
          <p:cNvPr id="4" name="Text 2"/>
          <p:cNvSpPr/>
          <p:nvPr/>
        </p:nvSpPr>
        <p:spPr>
          <a:xfrm>
            <a:off x="634901" y="883593"/>
            <a:ext cx="8102798" cy="48756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Find pudina (or any mint) in your home or near it. Sketch the leaf. Identify which variety if you can. Note: where do you encounter mint most often in your week?</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Differentiation</a:t>
            </a:r>
            <a:endParaRPr lang="en-US" sz="1800" dirty="0"/>
          </a:p>
        </p:txBody>
      </p:sp>
      <p:sp>
        <p:nvSpPr>
          <p:cNvPr id="4" name="Text 2"/>
          <p:cNvSpPr/>
          <p:nvPr/>
        </p:nvSpPr>
        <p:spPr>
          <a:xfrm>
            <a:off x="634901" y="883593"/>
            <a:ext cx="8102798" cy="73134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One tier up:</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TRPM8 was identified as the cold receptor in 2002. Look up the David Julius lab work on TRP channels (2021 Nobel Prize in Physiology or Medicine). Be ready to share one finding next class.</a:t>
            </a:r>
            <a:endParaRPr lang="en-US" sz="1200" dirty="0"/>
          </a:p>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One tier down:</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Focus on identifying mint by smell and remembering "menthol = cool feeling."</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Teacher notes</a:t>
            </a:r>
            <a:endParaRPr lang="en-US" sz="1800" dirty="0"/>
          </a:p>
        </p:txBody>
      </p:sp>
      <p:sp>
        <p:nvSpPr>
          <p:cNvPr id="4" name="Text 2"/>
          <p:cNvSpPr/>
          <p:nvPr/>
        </p:nvSpPr>
        <p:spPr>
          <a:xfrm>
            <a:off x="634901" y="883593"/>
            <a:ext cx="8102798" cy="1592163"/>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The </a:t>
            </a:r>
            <a:pPr algn="l" indent="0" marL="0">
              <a:lnSpc>
                <a:spcPts val="1620"/>
              </a:lnSpc>
              <a:spcAft>
                <a:spcPts val="300"/>
              </a:spcAft>
              <a:buNone/>
            </a:pPr>
            <a:r>
              <a:rPr lang="en-US" sz="1200" b="1" dirty="0">
                <a:solidFill>
                  <a:srgbClr val="1C2833"/>
                </a:solidFill>
                <a:latin typeface="Arial" pitchFamily="34" charset="0"/>
                <a:ea typeface="Arial" pitchFamily="34" charset="-122"/>
                <a:cs typeface="Arial" pitchFamily="34" charset="-120"/>
              </a:rPr>
              <a:t>TRPM8 mechanism</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is the single most rewarding teaching moment of this module for a science-leaning student. The bridge from "cooling herb" (tradition) to "TRPM8 activation" (Nobel-winning science) is satisfying and intellectually honest.</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If anyone in your class connects "menthol cooling = chilli burning = same kind of receptor trick," that's the inferential leap to highlight publicly. Praise it.</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A few students may bring up vapour rubs / chest balms used in childhood. Acknowledge the use; note the infant caution; don't sermonise.</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Citation(s) used in this lesson</a:t>
            </a:r>
            <a:endParaRPr lang="en-US" sz="1800" dirty="0"/>
          </a:p>
        </p:txBody>
      </p:sp>
      <p:sp>
        <p:nvSpPr>
          <p:cNvPr id="4" name="Text 2"/>
          <p:cNvSpPr/>
          <p:nvPr/>
        </p:nvSpPr>
        <p:spPr>
          <a:xfrm>
            <a:off x="634901" y="883593"/>
            <a:ext cx="8102798" cy="1386483"/>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Menthol activation of TRPM8: established in molecular pharmacology. David Julius and colleagues identified TRPM8 as the cold/menthol receptor (Julius lab, UCSF; 2021 Nobel Prize work). Reference is at the lab level only; specific paper not cited.</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Peppermint oil for IBS: multiple systematic reviews exist. Teachers can search "peppermint oil IBS systematic review" in PubMed.</a:t>
            </a:r>
            <a:endParaRPr lang="en-US" sz="1200" dirty="0"/>
          </a:p>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Pudīnā</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as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śīta</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standard Ayurvedic nighantu reference; chapter-level only.</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 Middle</dc:title>
  <dc:subject>PptxGenJS Presentation</dc:subject>
  <dc:creator>IKS Curriculum</dc:creator>
  <cp:lastModifiedBy>IKS Curriculum</cp:lastModifiedBy>
  <cp:revision>1</cp:revision>
  <dcterms:created xsi:type="dcterms:W3CDTF">2026-05-28T05:52:08Z</dcterms:created>
  <dcterms:modified xsi:type="dcterms:W3CDTF">2026-05-28T05:52:08Z</dcterms:modified>
</cp:coreProperties>
</file>