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70098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8 — Climate Change: What's Happening and Why</a:t>
            </a:r>
            <a:endParaRPr lang="en-US" sz="2400" dirty="0"/>
          </a:p>
        </p:txBody>
      </p:sp>
      <p:sp>
        <p:nvSpPr>
          <p:cNvPr id="4" name="Text 2"/>
          <p:cNvSpPr/>
          <p:nvPr/>
        </p:nvSpPr>
        <p:spPr>
          <a:xfrm>
            <a:off x="406301" y="124688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explain — in their own words — what climate change is, name three observable effects, distinguish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climate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from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weather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articulate what the Indic frameworks they've studied can (and cannot) add to a modern response.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14245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Whiteboard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simple graph (printed or projected): global average temperature since 1850 (the "hockey stick"). Source: IPCC AR6 Working Group I.</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Optional: a 2-minute video clip from the IPCC's outreach material or a reliable news source on a recent extreme-weather event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Notebook</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7445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climate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long-term average of weather in a region; measured over decades.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weather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what's happening on a particular day or week.</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greenhouse gas (GHG)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gases (CO₂, methane, N₂O, water vapour) that trap heat in the atmosphere.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carbon dioxide (CO₂)</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main long-lived greenhouse gas humans emit.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anthropogenic</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caused by human activity.</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IPCC</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Intergovernmental Panel on Climate Change; the UN body that compiles climate science.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SDG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Sustainable Development Goals (UN, 2015). 17 goals; SDG 13 is "Climate Action."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Quick poll, hands up: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"Who has heard the phrase 'climate change'? Who knows what it means in one sentence?"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Take 3 student definitions on the board, without correcting yet.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Climate vs. weather — the distinction.</a:t>
            </a:r>
            <a:endParaRPr lang="en-US" sz="1200" dirty="0"/>
          </a:p>
        </p:txBody>
      </p:sp>
      <p:sp>
        <p:nvSpPr>
          <p:cNvPr id="5" name="Text 3"/>
          <p:cNvSpPr/>
          <p:nvPr/>
        </p:nvSpPr>
        <p:spPr>
          <a:xfrm>
            <a:off x="634901" y="1266974"/>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Weather:</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"It rained yesterday."</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Climate: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"The June monsoon now arrives 7 days later than it did 50 years ago."</a:t>
            </a:r>
            <a:endParaRPr lang="en-US" sz="1200" dirty="0"/>
          </a:p>
        </p:txBody>
      </p:sp>
      <p:sp>
        <p:nvSpPr>
          <p:cNvPr id="6" name="Text 4"/>
          <p:cNvSpPr/>
          <p:nvPr/>
        </p:nvSpPr>
        <p:spPr>
          <a:xfrm>
            <a:off x="406301" y="188148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Weather is local + short. Climate is large + long. Climate change means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long average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is shifting.</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What's happening (the numbers, simply).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Show the IPCC AR6 graph.</a:t>
            </a:r>
            <a:endParaRPr lang="en-US" sz="1200" dirty="0"/>
          </a:p>
        </p:txBody>
      </p:sp>
      <p:sp>
        <p:nvSpPr>
          <p:cNvPr id="5" name="Text 3"/>
          <p:cNvSpPr/>
          <p:nvPr/>
        </p:nvSpPr>
        <p:spPr>
          <a:xfrm>
            <a:off x="634901" y="1266974"/>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Global average temperature has risen ~1.1°C above the 1850–1900 baseline. (IPCC AR6, 2023.)</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2023 and 2024 were the two hottest years on record by a clear margin.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IPCC's "Paris-agreement" target is to keep warming below 1.5°C; we are very close to that line.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it's happening.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Briefly:</a:t>
            </a:r>
            <a:endParaRPr lang="en-US" sz="1200" dirty="0"/>
          </a:p>
        </p:txBody>
      </p:sp>
      <p:sp>
        <p:nvSpPr>
          <p:cNvPr id="5" name="Text 3"/>
          <p:cNvSpPr/>
          <p:nvPr/>
        </p:nvSpPr>
        <p:spPr>
          <a:xfrm>
            <a:off x="634901" y="1266974"/>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CO₂ in the atmosphere has risen from ~280 parts per million (ppm) in the 1800s to ~420 ppm today.</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That CO₂ comes mainly from burning fossil fuels (coal, oil, gas) for energy and transport, from deforestation, and from cement production.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More CO₂ → atmosphere traps more heat → average temperature rises.</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 are not claiming this is the only cause; we are claiming this is the cause that science has identified as dominant since ~1950. The IPCC reports are the authoritative source.</a:t>
            </a:r>
            <a:endParaRPr lang="en-US" sz="1200" dirty="0"/>
          </a:p>
        </p:txBody>
      </p:sp>
      <p:sp>
        <p:nvSpPr>
          <p:cNvPr id="5" name="Text 3"/>
          <p:cNvSpPr/>
          <p:nvPr/>
        </p:nvSpPr>
        <p:spPr>
          <a:xfrm>
            <a:off x="634901" y="1386334"/>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Three observable effects (pick the ones most local to your students):</a:t>
            </a:r>
            <a:endParaRPr lang="en-US" sz="1200" dirty="0"/>
          </a:p>
        </p:txBody>
      </p:sp>
      <p:sp>
        <p:nvSpPr>
          <p:cNvPr id="6" name="Text 4"/>
          <p:cNvSpPr/>
          <p:nvPr/>
        </p:nvSpPr>
        <p:spPr>
          <a:xfrm>
            <a:off x="406301" y="175706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Each row: Effect · Where students might already see it.</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Heatwaves and longer hot seasons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Indian summer is hotter and longer than 30 years ago</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Monsoon disruption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More floods or droughts; less predictable arrival</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Glacier retreat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Himalayan glaciers feed Gaṅgā, Yamunā, Brahmaputra — they are shrinking</a:t>
            </a:r>
            <a:endParaRPr lang="en-US" sz="1200" dirty="0"/>
          </a:p>
        </p:txBody>
      </p:sp>
      <p:sp>
        <p:nvSpPr>
          <p:cNvPr id="5" name="Text 3"/>
          <p:cNvSpPr/>
          <p:nvPr/>
        </p:nvSpPr>
        <p:spPr>
          <a:xfrm>
            <a:off x="634901" y="175453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Where the Indic frameworks help — and where they don't.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Help:</a:t>
            </a:r>
            <a:endParaRPr lang="en-US" sz="1200" dirty="0"/>
          </a:p>
        </p:txBody>
      </p:sp>
      <p:sp>
        <p:nvSpPr>
          <p:cNvPr id="5" name="Text 3"/>
          <p:cNvSpPr/>
          <p:nvPr/>
        </p:nvSpPr>
        <p:spPr>
          <a:xfrm>
            <a:off x="634901" y="1173063"/>
            <a:ext cx="8102798" cy="12189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yajña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cycle (Day 5) is a direct mental model of "what you take, you must give back." Climate change is what happens when this is ignored.</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iṣopaniṣad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mantra (Day 7)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"use, don't grab"</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is the ethic of a low-carbon civilisation in five words.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(Day 6)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"may what I dig grow back"</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was always the sustainability rule.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ethic (Day 1) reframes climate as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family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problem, not a national one.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Don't help (or don't help by themselves):</a:t>
            </a:r>
            <a:endParaRPr lang="en-US" sz="1200" dirty="0"/>
          </a:p>
        </p:txBody>
      </p:sp>
      <p:sp>
        <p:nvSpPr>
          <p:cNvPr id="5" name="Text 3"/>
          <p:cNvSpPr/>
          <p:nvPr/>
        </p:nvSpPr>
        <p:spPr>
          <a:xfrm>
            <a:off x="634901" y="117306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Old frameworks don't tell us what 1.5°C means.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They don't tell us how to design a solar grid, a heat-resistant rice variety, or a more efficient kiln.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They don't substitute for measurement, monitoring, policy, and engineering.</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Honest summary: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Indic frameworks give us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attitude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language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of restraint. Modern science gives us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measurements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technology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climate crisis needs both.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What India is doing.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Brief mention:</a:t>
            </a:r>
            <a:endParaRPr lang="en-US" sz="1200" dirty="0"/>
          </a:p>
        </p:txBody>
      </p:sp>
      <p:sp>
        <p:nvSpPr>
          <p:cNvPr id="5" name="Text 3"/>
          <p:cNvSpPr/>
          <p:nvPr/>
        </p:nvSpPr>
        <p:spPr>
          <a:xfrm>
            <a:off x="634901" y="1266974"/>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India has committed (Paris pledges + COP26) to reach net-zero emissions by 2070.</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National solar capacity has grown ~30× since 2010.</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National Action Plan on Climate Change has 8 missions (solar, water, energy efficiency, sustainable agriculture, Himalayan ecosystem, sustainable habitat, green India, knowledge).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This is not a politics lesson; this is just "what's currently happening."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(10 min) — Pair brainstorm: pitch the principle</a:t>
            </a:r>
            <a:endParaRPr lang="en-US" sz="1800" dirty="0"/>
          </a:p>
        </p:txBody>
      </p:sp>
      <p:sp>
        <p:nvSpPr>
          <p:cNvPr id="4" name="Text 2"/>
          <p:cNvSpPr/>
          <p:nvPr/>
        </p:nvSpPr>
        <p:spPr>
          <a:xfrm>
            <a:off x="634901" y="883593"/>
            <a:ext cx="8102798" cy="12570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Each pair picks ONE of the four Indic ideas they've studied:</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vasudhaiva kuṭumbakam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(one family)</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yajña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cycle (give back)</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Pṛthivī sūkta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(Earth as mother)</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Iṣopaniṣad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mantra (use, don't grab)</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(10 min) — Pair brainstorm: pitch the principle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They write 3 sentences: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"How does this idea help us think about climate change? What does it NOT solve?"</a:t>
            </a:r>
            <a:endParaRPr lang="en-US" sz="1200" dirty="0"/>
          </a:p>
        </p:txBody>
      </p:sp>
      <p:sp>
        <p:nvSpPr>
          <p:cNvPr id="5" name="Text 3"/>
          <p:cNvSpPr/>
          <p:nvPr/>
        </p:nvSpPr>
        <p:spPr>
          <a:xfrm>
            <a:off x="634901" y="1266974"/>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This is the precursor to the project pitch on Day 10. Pairs should pick whichever principle they want to anchor their project around.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Project plan due tomorrow (Day 9 morning).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Each pair must submit a paragraph stating:</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Which Indic principle they will anchor on.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What local observation they will make on Day 9's walk.</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What format (poster / audio / action plan) their pitch will take.</a:t>
            </a:r>
            <a:endParaRPr lang="en-US" sz="1200" dirty="0"/>
          </a:p>
        </p:txBody>
      </p:sp>
      <p:sp>
        <p:nvSpPr>
          <p:cNvPr id="5" name="Text 3"/>
          <p:cNvSpPr/>
          <p:nvPr/>
        </p:nvSpPr>
        <p:spPr>
          <a:xfrm>
            <a:off x="634901" y="1998315"/>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One-sentence exit ticket: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"The hardest thing about taking climate change seriously is _______."</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(Honest answers welcome.)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75039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Project plan paragraph due tomorrow morning.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See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assessments/project-brief.md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Also: pick one news headline from the last week that mentions climate change, weather extremes, or pollution. Bring a one-sentence summary.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the IPCC AR6 Synthesis Report's "Summary for Policymakers" — first 5 pages only (it's accessible online). Bring one fact tomorrow.</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one observable effect — the one most visible in your region (heatwaves, floods, monsoon shift). One effect, well understood, is enough.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13864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Climate change is a politically loaded topic in some classrooms. Stick to the IPCC numbers; they are the consensus scientific source. Avoid the activist framing on either side.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Some students or parents may dispute the science. The classroom position is: "the IPCC is what we are teaching. If you disagree, the place to argue with the science is with peer-reviewed responses to the IPCC, not in this classroom."</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Avoid catastrophising. Students at this age can become genuinely anxious about climate news. Frame it 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this is real, this is serious, this is also being worked on by millions of people including engineers, farmers, and you.</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Avoid the opposite — false hope. Don't say "if we all just plant trees we'll be fine." Plant trees AND change energy systems AND change consumption AND change policy. The Indic frame supplies one thread of this; not the whole rope.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IPCC AR6 Synthesis Report (2023)</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for global temperature figures, the 1.5°C target, and CO₂ concentrations.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UN Sustainable Development Goals (2015)</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for the SDG 13 reference.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National Action Plan on Climate Change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(Government of India, 2008, with 2022 updates) — for the 8 missions framework.</a:t>
            </a:r>
            <a:endParaRPr lang="en-US" sz="1200" dirty="0"/>
          </a:p>
        </p:txBody>
      </p:sp>
      <p:sp>
        <p:nvSpPr>
          <p:cNvPr id="5" name="Text 3"/>
          <p:cNvSpPr/>
          <p:nvPr/>
        </p:nvSpPr>
        <p:spPr>
          <a:xfrm>
            <a:off x="406301" y="1947565"/>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These are all open / government sources; full references in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2026-05-28T05:56:07Z</dcterms:created>
  <dcterms:modified xsi:type="dcterms:W3CDTF">2026-05-28T05:56:07Z</dcterms:modified>
</cp:coreProperties>
</file>