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Day 7 — </a:t>
            </a:r>
            <a:pPr algn="l" indent="0" marL="0">
              <a:lnSpc>
                <a:spcPts val="2760"/>
              </a:lnSpc>
              <a:spcAft>
                <a:spcPts val="1000"/>
              </a:spcAft>
              <a:buNone/>
            </a:pPr>
            <a:r>
              <a:rPr lang="en-US" sz="2400" b="1" i="1" dirty="0">
                <a:solidFill>
                  <a:srgbClr val="277884"/>
                </a:solidFill>
                <a:latin typeface="Georgia" pitchFamily="34" charset="0"/>
                <a:ea typeface="Georgia" pitchFamily="34" charset="-122"/>
                <a:cs typeface="Georgia" pitchFamily="34" charset="-120"/>
              </a:rPr>
              <a:t>Iṣopaniṣad</a:t>
            </a:r>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 Mantra 1: Use, Don't Grab</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recite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Iṣopaniṣad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mantra 1, identify the three injunctions it contains (treat all as enveloped by the divine; enjoy by renouncing; do not covet), and apply the "use, don't grab" ethic to one specific consumption habit of their own.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Printed handout: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Iṣopaniṣad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mantra 1 in IAST + translation, one per student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Notebook</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Whiteboard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7064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īśa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īśa; lit. "lord, controller") — the supreme principle / divinity. The Upaniṣad is named after the first word of mantra 1.</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īśāvāsya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īśāvāsya) — "to-be-enveloped-by-the-lord," i.e. permeated by the divine.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jagat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jagat; lit. "what moves") — the moving / changing world.</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tyakta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tyakta; lit. "renounced, given up") — what is given up, set aside, surrendered.</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bhuñjīthāḥ</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bhuñjīthāḥ) — "you may enjoy / partake / use."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gṛdhaḥ</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gṛdhaḥ; lit. "grasping, coveting") — greed, desire to grab.</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ahiṁsā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ahiṁsā; lit. "non-harm") — non-injury to living beings; the first of Patañjali's five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yamas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(Bridge from Module 8.)</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 the board: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"Name one thing you used today that wasn't yours."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(Air. Sunlight. The road. The bench. The teacher's time.)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Take 4–5 quick answers.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"Now — did you 'grab' it, or 'use' it? What's the difference?"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Don't resolve. The mantra resolves it.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Read the mantra together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students follow along on the handout:</a:t>
            </a:r>
            <a:endParaRPr lang="en-US" sz="1200" dirty="0"/>
          </a:p>
        </p:txBody>
      </p:sp>
      <p:sp>
        <p:nvSpPr>
          <p:cNvPr id="5" name="Text 3"/>
          <p:cNvSpPr/>
          <p:nvPr/>
        </p:nvSpPr>
        <p:spPr>
          <a:xfrm>
            <a:off x="406301" y="1266974"/>
            <a:ext cx="8331398" cy="1343025"/>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4876" y="1266974"/>
            <a:ext cx="0" cy="1343025"/>
          </a:xfrm>
          <a:prstGeom prst="line">
            <a:avLst/>
          </a:prstGeom>
          <a:noFill/>
          <a:ln w="57150">
            <a:solidFill>
              <a:srgbClr val="FE4447"/>
            </a:solidFill>
            <a:prstDash val="solid"/>
          </a:ln>
        </p:spPr>
      </p:sp>
      <p:sp>
        <p:nvSpPr>
          <p:cNvPr id="7" name="Text 5"/>
          <p:cNvSpPr/>
          <p:nvPr/>
        </p:nvSpPr>
        <p:spPr>
          <a:xfrm>
            <a:off x="692051" y="1457474"/>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īśāvāsyam idaṁ sarvaṁ yat kiñca jagatyāṁ jagat / tena tyaktena bhuñjīthā mā gṛdhaḥ kasya svid dhanam //</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8" name="Text 6"/>
          <p:cNvSpPr/>
          <p:nvPr/>
        </p:nvSpPr>
        <p:spPr>
          <a:xfrm>
            <a:off x="692051" y="195753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"All this — whatever moves in this moving world — is enveloped by the Lord. By that renunciation, enjoy. Do not covet anyone's wealth." — Īśa Upaniṣad, mantra 1</a:t>
            </a:r>
            <a:endParaRPr lang="en-US" sz="13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Three injunctions in one verse.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Number them on the board:</a:t>
            </a:r>
            <a:endParaRPr lang="en-US" sz="1200" dirty="0"/>
          </a:p>
        </p:txBody>
      </p:sp>
      <p:sp>
        <p:nvSpPr>
          <p:cNvPr id="5" name="Text 3"/>
          <p:cNvSpPr/>
          <p:nvPr/>
        </p:nvSpPr>
        <p:spPr>
          <a:xfrm>
            <a:off x="634901" y="1266974"/>
            <a:ext cx="8102798" cy="11808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i="1" dirty="0">
                <a:solidFill>
                  <a:srgbClr val="1C2833"/>
                </a:solidFill>
                <a:latin typeface="Arial" pitchFamily="34" charset="0"/>
                <a:ea typeface="Arial" pitchFamily="34" charset="-122"/>
                <a:cs typeface="Arial" pitchFamily="34" charset="-120"/>
              </a:rPr>
              <a:t>All this is enveloped by the Lord.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Nothing is yours by default. Everything is, in some sense, on loan.</a:t>
            </a:r>
            <a:endParaRPr lang="en-US" sz="1200" dirty="0"/>
          </a:p>
          <a:p>
            <a:pPr algn="l" marL="342900" indent="-342900">
              <a:lnSpc>
                <a:spcPts val="1620"/>
              </a:lnSpc>
              <a:spcAft>
                <a:spcPts val="300"/>
              </a:spcAft>
              <a:buSzPct val="100000"/>
              <a:buChar char="•"/>
            </a:pPr>
            <a:r>
              <a:rPr lang="en-US" sz="1200" b="1" i="1" dirty="0">
                <a:solidFill>
                  <a:srgbClr val="1C2833"/>
                </a:solidFill>
                <a:latin typeface="Arial" pitchFamily="34" charset="0"/>
                <a:ea typeface="Arial" pitchFamily="34" charset="-122"/>
                <a:cs typeface="Arial" pitchFamily="34" charset="-120"/>
              </a:rPr>
              <a:t>By that renunciation, enjoy.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Use what is given. Take what is needed. Don't claim ownership beyond what you actually use.</a:t>
            </a:r>
            <a:endParaRPr lang="en-US" sz="1200" dirty="0"/>
          </a:p>
          <a:p>
            <a:pPr algn="l" marL="342900" indent="-342900">
              <a:lnSpc>
                <a:spcPts val="1620"/>
              </a:lnSpc>
              <a:spcAft>
                <a:spcPts val="300"/>
              </a:spcAft>
              <a:buSzPct val="100000"/>
              <a:buChar char="•"/>
            </a:pPr>
            <a:r>
              <a:rPr lang="en-US" sz="1200" b="1" i="1" dirty="0">
                <a:solidFill>
                  <a:srgbClr val="1C2833"/>
                </a:solidFill>
                <a:latin typeface="Arial" pitchFamily="34" charset="0"/>
                <a:ea typeface="Arial" pitchFamily="34" charset="-122"/>
                <a:cs typeface="Arial" pitchFamily="34" charset="-120"/>
              </a:rPr>
              <a:t>Do not covet anyone's wealth.</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Don't grab what is not yours — neither another person's, nor another being's, nor nature's.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The phrase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tena tyaktena bhuñjīthāḥ*** is the most quoted half-line. Two readings exist among traditional commentators:</a:t>
            </a:r>
            <a:endParaRPr lang="en-US" sz="1200" dirty="0"/>
          </a:p>
        </p:txBody>
      </p:sp>
      <p:sp>
        <p:nvSpPr>
          <p:cNvPr id="5" name="Text 3"/>
          <p:cNvSpPr/>
          <p:nvPr/>
        </p:nvSpPr>
        <p:spPr>
          <a:xfrm>
            <a:off x="634901" y="1472654"/>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Śaṅkara's reading: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"renounce, then enjoy." First give up the sense of ownership; then use.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Other commentators: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"enjoy what is left over." First the gods, the ancestors, and the community get their share; then enjoy what remains.</a:t>
            </a:r>
            <a:endParaRPr lang="en-US" sz="1200" dirty="0"/>
          </a:p>
        </p:txBody>
      </p:sp>
      <p:sp>
        <p:nvSpPr>
          <p:cNvPr id="6" name="Text 4"/>
          <p:cNvSpPr/>
          <p:nvPr/>
        </p:nvSpPr>
        <p:spPr>
          <a:xfrm>
            <a:off x="406301" y="229284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Both readings produce the same ecological ethic: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use, do not grab</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this is ecology.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Modern environmental crises — climate, biodiversity loss, water shortage — are not crises of "use." They are crises of "grab." Every human civilisation has used the environment. Most cultures, including the Indic tradition, accepted that use as necessary. But the Indic tradition (in this verse) sets a clear limit: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use is fine, grab is not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Link to</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ahiṁsā</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The first of Patañjali's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yamas</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(eight-limbed yoga, from Module 8) is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ahiṁsā</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 non-harm. Indic ethics extends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ahiṁsā* beyond humans:</a:t>
            </a:r>
            <a:endParaRPr lang="en-US" sz="1200" dirty="0"/>
          </a:p>
        </p:txBody>
      </p:sp>
      <p:sp>
        <p:nvSpPr>
          <p:cNvPr id="5" name="Text 3"/>
          <p:cNvSpPr/>
          <p:nvPr/>
        </p:nvSpPr>
        <p:spPr>
          <a:xfrm>
            <a:off x="634901" y="1472654"/>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Don't kill what you don't need to kill.</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Don't waste what you took.</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Don't take from a being's last resource.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This is why traditional dietary patterns avoided gratuitous killing; why old laws forbade cutting fruit trees during fruiting; why traditional kitchens kept a portion of cooked rice aside for crows.</a:t>
            </a:r>
            <a:endParaRPr lang="en-US" sz="1200" dirty="0"/>
          </a:p>
        </p:txBody>
      </p:sp>
      <p:sp>
        <p:nvSpPr>
          <p:cNvPr id="5" name="Text 3"/>
          <p:cNvSpPr/>
          <p:nvPr/>
        </p:nvSpPr>
        <p:spPr>
          <a:xfrm>
            <a:off x="406301" y="1373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These are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ahiṁsā-shaped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practices, not just rituals.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"What do I grab without asking?"</a:t>
            </a:r>
            <a:endParaRPr lang="en-US" sz="1800" dirty="0"/>
          </a:p>
        </p:txBody>
      </p:sp>
      <p:sp>
        <p:nvSpPr>
          <p:cNvPr id="4" name="Text 2"/>
          <p:cNvSpPr/>
          <p:nvPr/>
        </p:nvSpPr>
        <p:spPr>
          <a:xfrm>
            <a:off x="634901" y="883593"/>
            <a:ext cx="8102798" cy="2194024"/>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Each student takes 5 minutes alone with their notebook.</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Prompt: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"List five specific things you took today without asking — and decide, for each, whether you 'used' it or 'grabbed' it."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Examples to seed: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Took 5 sheets of printer paper for 2 sheets of work. ← Grab.</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Drank a glass of water at the school cooler. ← Use.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Threw away half a plate of food at lunch. ← Grab.</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Listened to a teacher's full explanation. ← Use.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Cut a flower off the plant for fun. ← Grab.</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"What do I grab without asking?" (cont.)</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Pairs share two from their list. Pairs help each other classify.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Whole-class discussion (5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"Of the grabs we listed — which is the easiest one to stop? Which is the hardest? Why?"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Exit ticket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(slip of paper):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"My one specific habit-grab from now on will be a use, not a grab. Specifically: I will _______ instead of _______."</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8: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we look at the biggest grab humanity is collectively making — climate change. Then we put the framework to work."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91941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919413"/>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Iṣopaniṣad mantra 1:</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&gt;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īśāvāsyam idaṁ sarvaṁ yat kiñca jagatyāṁ jagat / &gt; tena tyaktena bhuñjīthā mā gṛdhaḥ kasya svid dhanam //</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&gt; &gt; "All this — whatever moves in this moving world — is enveloped by the Lord. &gt; By that renunciation, enjoy. Do not covet anyone's wealth."</a:t>
            </a:r>
            <a:endParaRPr lang="en-US" sz="1300" dirty="0"/>
          </a:p>
        </p:txBody>
      </p:sp>
      <p:sp>
        <p:nvSpPr>
          <p:cNvPr id="8" name="Text 6"/>
          <p:cNvSpPr/>
          <p:nvPr/>
        </p:nvSpPr>
        <p:spPr>
          <a:xfrm>
            <a:off x="692051" y="20742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 verse gives three rules:</a:t>
            </a:r>
            <a:endParaRPr lang="en-US" sz="1300" dirty="0"/>
          </a:p>
        </p:txBody>
      </p:sp>
      <p:sp>
        <p:nvSpPr>
          <p:cNvPr id="9" name="Text 7"/>
          <p:cNvSpPr/>
          <p:nvPr/>
        </p:nvSpPr>
        <p:spPr>
          <a:xfrm>
            <a:off x="692051" y="2343299"/>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Nothing is yours by default.</a:t>
            </a:r>
            <a:endParaRPr lang="en-US" sz="1300" dirty="0"/>
          </a:p>
        </p:txBody>
      </p:sp>
      <p:sp>
        <p:nvSpPr>
          <p:cNvPr id="10" name="Text 8"/>
          <p:cNvSpPr/>
          <p:nvPr/>
        </p:nvSpPr>
        <p:spPr>
          <a:xfrm>
            <a:off x="692051" y="2612380"/>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Use what is given. Don't claim more.</a:t>
            </a:r>
            <a:endParaRPr lang="en-US" sz="1300" dirty="0"/>
          </a:p>
        </p:txBody>
      </p:sp>
      <p:sp>
        <p:nvSpPr>
          <p:cNvPr id="11" name="Text 9"/>
          <p:cNvSpPr/>
          <p:nvPr/>
        </p:nvSpPr>
        <p:spPr>
          <a:xfrm>
            <a:off x="692051" y="2881461"/>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Don't grab from anyone — human, being, or planet.</a:t>
            </a:r>
            <a:endParaRPr lang="en-US" sz="1300" dirty="0"/>
          </a:p>
        </p:txBody>
      </p:sp>
      <p:sp>
        <p:nvSpPr>
          <p:cNvPr id="12" name="Text 10"/>
          <p:cNvSpPr/>
          <p:nvPr/>
        </p:nvSpPr>
        <p:spPr>
          <a:xfrm>
            <a:off x="692051" y="3150543"/>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Indic tradition extended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ahiṁsā</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(non-harm) to all of life. Don't harm what you don't need to harm. Don't waste what you took. Don't take from a being's last resource.</a:t>
            </a:r>
            <a:endParaRPr lang="en-US" sz="1300" dirty="0"/>
          </a:p>
        </p:txBody>
      </p:sp>
      <p:sp>
        <p:nvSpPr>
          <p:cNvPr id="13" name="Text 11"/>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Pick one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grab</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from your list today. For 24 hours, replace it with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use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Be specific. Bring tomorrow a 3-sentence note on whether it worked.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11427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Compare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tena tyaktena bhuñjīthāḥ</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with the modern concept of "the commons" (a resource shared by a community, with rules against private grabbing). Elinor Ostrom won the 2009 Nobel in Economics for showing how communities self-organise to manage commons. What does the Upaniṣad add that economics doesn't?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Memorise just the second half of the mantra: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"By renouncing, enjoy. Do not covet anyone's wealth."</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That's the practical rule.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5921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Sanskrit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bhuñjīthāḥ</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the optative form of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bhuj</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"to enjoy, eat, partake." Translators often use "enjoy"; "use" or "partake" works equally well.</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Some students will ask, "But this is asking me to give up things — isn't that asceticism?" Push back gently: no, the verse says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enjoy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renunciation is of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grasping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not of using. You can enjoy your meal; the renunciation is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attitude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that says "this is mine and only mine."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gṛdhaḥ</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second-person prohibition: "do not grab") shares a root with "vulture"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gṛdhra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image is sharp. You can use it.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Avoid moralising. The exercise is about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noticing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distinction between use and grab. Most adults haven't done this exercise. The students will do it more honestly than we will.</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75039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Īśa Upaniṣad mantra 1</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quoted in IAST with translation. Text per the standard Mādhyandina recension; identical to Śukla Yajur Veda 40.1.</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for editions used.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2026-05-28T05:55:58Z</dcterms:created>
  <dcterms:modified xsi:type="dcterms:W3CDTF">2026-05-28T05:55:58Z</dcterms:modified>
</cp:coreProperties>
</file>