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380851"/>
            <a:ext cx="8498026" cy="700980"/>
          </a:xfrm>
          <a:prstGeom prst="rect">
            <a:avLst/>
          </a:prstGeom>
          <a:noFill/>
          <a:ln/>
        </p:spPr>
        <p:txBody>
          <a:bodyPr wrap="square" lIns="0" tIns="0" rIns="0" bIns="0" rtlCol="0" anchor="t"/>
          <a:lstStyle/>
          <a:p>
            <a:pPr algn="l" indent="0" marL="0">
              <a:lnSpc>
                <a:spcPts val="2760"/>
              </a:lnSpc>
              <a:spcAft>
                <a:spcPts val="1000"/>
              </a:spcAft>
              <a:buNone/>
            </a:pPr>
            <a:r>
              <a:rPr lang="en-US" sz="2400" b="1" dirty="0">
                <a:solidFill>
                  <a:srgbClr val="277884"/>
                </a:solidFill>
                <a:latin typeface="Georgia" pitchFamily="34" charset="0"/>
                <a:ea typeface="Georgia" pitchFamily="34" charset="-122"/>
                <a:cs typeface="Georgia" pitchFamily="34" charset="-120"/>
              </a:rPr>
              <a:t>Day 4 — Sacred Groves: Community Biodiversity Reserves</a:t>
            </a:r>
            <a:endParaRPr lang="en-US" sz="2400" dirty="0"/>
          </a:p>
        </p:txBody>
      </p:sp>
      <p:sp>
        <p:nvSpPr>
          <p:cNvPr id="4" name="Text 2"/>
          <p:cNvSpPr/>
          <p:nvPr/>
        </p:nvSpPr>
        <p:spPr>
          <a:xfrm>
            <a:off x="406301" y="124688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Module: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Indic Ecology ·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Band: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Middle ·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Time: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45 min</a:t>
            </a:r>
            <a:endParaRPr lang="en-US" sz="1200" dirty="0"/>
          </a:p>
        </p:txBody>
      </p:sp>
      <p:sp>
        <p:nvSpPr>
          <p:cNvPr id="5" name="Text 3"/>
          <p:cNvSpPr/>
          <p:nvPr/>
        </p:nvSpPr>
        <p:spPr>
          <a:xfrm>
            <a:off x="406301" y="1574453"/>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Learning objective</a:t>
            </a:r>
            <a:endParaRPr lang="en-US" sz="1800" dirty="0"/>
          </a:p>
        </p:txBody>
      </p:sp>
      <p:sp>
        <p:nvSpPr>
          <p:cNvPr id="6" name="Text 4"/>
          <p:cNvSpPr/>
          <p:nvPr/>
        </p:nvSpPr>
        <p:spPr>
          <a:xfrm>
            <a:off x="406301" y="1988344"/>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Students explain what a sacred grove is (community-protected forest fragment) using two regional terms —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devarakāḍu</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(Karnataka) and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sarna</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(tribal Eastern India) — and identify the ecological function of these groves as biodiversity reserves.</a:t>
            </a:r>
            <a:endParaRPr lang="en-US" sz="1200" dirty="0"/>
          </a:p>
        </p:txBody>
      </p:sp>
      <p:sp>
        <p:nvSpPr>
          <p:cNvPr id="7" name="Text 5"/>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Materials</a:t>
            </a:r>
            <a:endParaRPr lang="en-US" sz="1800" dirty="0"/>
          </a:p>
        </p:txBody>
      </p:sp>
      <p:sp>
        <p:nvSpPr>
          <p:cNvPr id="4" name="Text 2"/>
          <p:cNvSpPr/>
          <p:nvPr/>
        </p:nvSpPr>
        <p:spPr>
          <a:xfrm>
            <a:off x="406301" y="870942"/>
            <a:ext cx="8498026" cy="639812"/>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A handful of photographs of sacred groves — the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kāvu</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of Kerala, the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devarakāḍu</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of Coorg, the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sarna</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of Jharkhand. (Internet image search; teacher prepares ~6 images.) – Printed handout: a 1-paragraph extract from Gadgil &amp; Vartak (1976) on the function of sacred groves – Map of India with sacred-grove regions marked (teacher prepares)</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Vocabulary</a:t>
            </a:r>
            <a:endParaRPr lang="en-US" sz="1800" dirty="0"/>
          </a:p>
        </p:txBody>
      </p:sp>
      <p:sp>
        <p:nvSpPr>
          <p:cNvPr id="4" name="Text 2"/>
          <p:cNvSpPr/>
          <p:nvPr/>
        </p:nvSpPr>
        <p:spPr>
          <a:xfrm>
            <a:off x="634901" y="883593"/>
            <a:ext cx="8102798" cy="1668363"/>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devarakāḍu</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(IAST: devarakāḍu; lit. "god's forest," Kannada) — sacred forest patch dedicated to a village deity, traditionally protected by community rule.</a:t>
            </a:r>
            <a:endParaRPr lang="en-US" sz="1200" dirty="0"/>
          </a:p>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sarna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(sarnā in some dialects) — sacred grove in the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Adivasi</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belt (Jharkhand, West Bengal, Odisha), centred on the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sal</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tree and tribal deities.</a:t>
            </a:r>
            <a:endParaRPr lang="en-US" sz="1200" dirty="0"/>
          </a:p>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kāvu</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sacred grove in Kerala (Malayalam).</a:t>
            </a:r>
            <a:endParaRPr lang="en-US" sz="1200" dirty="0"/>
          </a:p>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orans</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sacred grove / pasture in Rajasthan.</a:t>
            </a:r>
            <a:endParaRPr lang="en-US" sz="1200" dirty="0"/>
          </a:p>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biodiversity</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the variety of living species in a particular area.</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Lesson flow</a:t>
            </a:r>
            <a:endParaRPr lang="en-US" sz="1800" dirty="0"/>
          </a:p>
        </p:txBody>
      </p:sp>
      <p:sp>
        <p:nvSpPr>
          <p:cNvPr id="4" name="Text 2"/>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Warm-up (5 min)</a:t>
            </a:r>
            <a:endParaRPr lang="en-US" sz="1800" dirty="0"/>
          </a:p>
        </p:txBody>
      </p:sp>
      <p:sp>
        <p:nvSpPr>
          <p:cNvPr id="4" name="Text 2"/>
          <p:cNvSpPr/>
          <p:nvPr/>
        </p:nvSpPr>
        <p:spPr>
          <a:xfrm>
            <a:off x="406301" y="87094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Project one photograph of a sacred grove (dense, untouched, surrounded by cleared agricultural land).</a:t>
            </a:r>
            <a:endParaRPr lang="en-US" sz="1200" dirty="0"/>
          </a:p>
        </p:txBody>
      </p:sp>
      <p:sp>
        <p:nvSpPr>
          <p:cNvPr id="5" name="Text 3"/>
          <p:cNvSpPr/>
          <p:nvPr/>
        </p:nvSpPr>
        <p:spPr>
          <a:xfrm>
            <a:off x="634901" y="1173063"/>
            <a:ext cx="8102798" cy="52566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"What do you notice about this patch of forest compared to what's around it?"</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Take 2–3 responses.</a:t>
            </a:r>
            <a:endParaRPr lang="en-US" sz="1200" dirty="0"/>
          </a:p>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"Why might this small patch have survived when the surrounding forest was cut?"</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Take 2–3 hypotheses. Don't resolve.</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Core (20 min)</a:t>
            </a:r>
            <a:endParaRPr lang="en-US" sz="1800" dirty="0"/>
          </a:p>
        </p:txBody>
      </p:sp>
      <p:sp>
        <p:nvSpPr>
          <p:cNvPr id="4" name="Text 2"/>
          <p:cNvSpPr/>
          <p:nvPr/>
        </p:nvSpPr>
        <p:spPr>
          <a:xfrm>
            <a:off x="634901" y="883593"/>
            <a:ext cx="8102798" cy="89892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Define a sacred grove.</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 patch of forest — anywhere from a few trees to several hectares — protected by community rule because of a religious association: a village deity, a goddess, an ancestor, a snake-shrine, a tree itself. The protection takes the form of taboos: no tree-cutting, no twig-collection, no hunting, sometimes no entry except on festival days.</a:t>
            </a:r>
            <a:endParaRPr lang="en-US" sz="1200" dirty="0"/>
          </a:p>
        </p:txBody>
      </p:sp>
      <p:sp>
        <p:nvSpPr>
          <p:cNvPr id="5" name="Text 3"/>
          <p:cNvSpPr/>
          <p:nvPr/>
        </p:nvSpPr>
        <p:spPr>
          <a:xfrm>
            <a:off x="634901" y="1884015"/>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Where they survive.</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Sacred groves exist across India:</a:t>
            </a:r>
            <a:endParaRPr lang="en-US" sz="1200" dirty="0"/>
          </a:p>
        </p:txBody>
      </p:sp>
      <p:sp>
        <p:nvSpPr>
          <p:cNvPr id="6" name="Text 4"/>
          <p:cNvSpPr/>
          <p:nvPr/>
        </p:nvSpPr>
        <p:spPr>
          <a:xfrm>
            <a:off x="406301" y="2254746"/>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Each row: Region · Local name · Notes.</a:t>
            </a:r>
            <a:endParaRPr lang="en-US" sz="1200" dirty="0"/>
          </a:p>
        </p:txBody>
      </p:sp>
      <p:sp>
        <p:nvSpPr>
          <p:cNvPr id="7" name="Text 5"/>
          <p:cNvSpPr/>
          <p:nvPr/>
        </p:nvSpPr>
        <p:spPr>
          <a:xfrm>
            <a:off x="634901" y="2556867"/>
            <a:ext cx="8102798" cy="1500783"/>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Karnataka (Coorg)</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devarakāḍu</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~1,200 documented groves; surveyed by Madhav Gadgil's team in the 1970s–90s.</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Kerala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kāvu</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Often associated with snake deities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sarpa-kāvu</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Maharashtra (Western Ghats)</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devarāī</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Surveyed by Gadgil &amp; Vartak in their 1976 paper.</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Jharkhand / Odisha / W. Bengal (tribal belt)</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sarna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Centred on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sal</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Shorea robusta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tied to Adivasi worship.</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Rajasthan</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orans</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Often combined with grazing land for community livestock.</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Meghalaya (Khasi Hills)</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law kyntang</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Some of the largest and best-protected groves in India.</a:t>
            </a:r>
            <a:endParaRPr lang="en-US" sz="1200" dirty="0"/>
          </a:p>
        </p:txBody>
      </p:sp>
      <p:sp>
        <p:nvSpPr>
          <p:cNvPr id="8" name="Text 6"/>
          <p:cNvSpPr/>
          <p:nvPr/>
        </p:nvSpPr>
        <p:spPr>
          <a:xfrm>
            <a:off x="634901" y="4159151"/>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Why they matter ecologically.</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Read the handout extract:</a:t>
            </a:r>
            <a:endParaRPr lang="en-US" sz="1200" dirty="0"/>
          </a:p>
        </p:txBody>
      </p:sp>
      <p:sp>
        <p:nvSpPr>
          <p:cNvPr id="9" name="Text 7"/>
          <p:cNvSpPr/>
          <p:nvPr/>
        </p:nvSpPr>
        <p:spPr>
          <a:xfrm>
            <a:off x="406301" y="4529882"/>
            <a:ext cx="8498026" cy="1066354"/>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&gt; "Sacred groves are relict patches of original vegetation conserved through cultural-religious tradition. They function as in-situ refuges for plant species lost from surrounding areas, including medicinal plants and old-growth trees of high genetic value. In the Western Ghats, sacred groves harbour species not found in nearby agricultural or even reserve-forest landscapes." &gt; — paraphrased from Gadgil, M. &amp; Vartak, V. D. (1976), "The Sacred Groves of Western Ghats in India,"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Economic Botany</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30(2): 152–160.</a:t>
            </a:r>
            <a:endParaRPr lang="en-US" sz="1200" dirty="0"/>
          </a:p>
        </p:txBody>
      </p:sp>
      <p:sp>
        <p:nvSpPr>
          <p:cNvPr id="10" name="Text 8"/>
          <p:cNvSpPr/>
          <p:nvPr/>
        </p:nvSpPr>
        <p:spPr>
          <a:xfrm>
            <a:off x="634901" y="5685086"/>
            <a:ext cx="8102798" cy="69324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The mechanism, plainly stated.</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When a community treats a patch of forest as sacred, the patch survives. When the community stops, the patch goes the way of any unprotected land — into agriculture or development. Sacred groves are a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social</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protection technology, not a biological accident.</a:t>
            </a:r>
            <a:endParaRPr lang="en-US" sz="1200" dirty="0"/>
          </a:p>
        </p:txBody>
      </p:sp>
      <p:sp>
        <p:nvSpPr>
          <p:cNvPr id="11" name="Text 9"/>
          <p:cNvSpPr/>
          <p:nvPr/>
        </p:nvSpPr>
        <p:spPr>
          <a:xfrm>
            <a:off x="634901" y="6479828"/>
            <a:ext cx="8102798" cy="89892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Modern parallel.</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Modern ecology has a name for this same phenomenon: "community-managed conservation areas" or "biocultural refugia." The UN's Convention on Biological Diversity recognises Indigenous and Community Conserved Areas (ICCAs). The Indic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devarakāḍu</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and the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sarna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are some of the oldest documented examples of what global conservation policy now formally recommends.</a:t>
            </a:r>
            <a:endParaRPr lang="en-US" sz="1200" dirty="0"/>
          </a:p>
        </p:txBody>
      </p:sp>
      <p:sp>
        <p:nvSpPr>
          <p:cNvPr id="12" name="Text 10"/>
          <p:cNvSpPr/>
          <p:nvPr/>
        </p:nvSpPr>
        <p:spPr>
          <a:xfrm>
            <a:off x="406301" y="7467600"/>
            <a:ext cx="8498026" cy="639812"/>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Frame this carefully: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we are not saying "ancient Indians invented modern conservation."</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We are saying multiple cultures, including the Indic tradition, arrived at similar protective practices for similar reasons. The recognition is mutual, not a claim to priority.</a:t>
            </a:r>
            <a:endParaRPr lang="en-US" sz="1200" dirty="0"/>
          </a:p>
        </p:txBody>
      </p:sp>
      <p:sp>
        <p:nvSpPr>
          <p:cNvPr id="13" name="Text 11"/>
          <p:cNvSpPr/>
          <p:nvPr/>
        </p:nvSpPr>
        <p:spPr>
          <a:xfrm>
            <a:off x="406301" y="825981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Activity (15 min) — Sacred Grove Mapping</a:t>
            </a:r>
            <a:endParaRPr lang="en-US" sz="1800" dirty="0"/>
          </a:p>
        </p:txBody>
      </p:sp>
      <p:sp>
        <p:nvSpPr>
          <p:cNvPr id="4" name="Text 2"/>
          <p:cNvSpPr/>
          <p:nvPr/>
        </p:nvSpPr>
        <p:spPr>
          <a:xfrm>
            <a:off x="406301" y="870942"/>
            <a:ext cx="8498026" cy="222796"/>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(See </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activities/activity-01-sacred-grove-mapping.md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for the full sheet.)</a:t>
            </a:r>
            <a:endParaRPr lang="en-US" sz="1200" dirty="0"/>
          </a:p>
        </p:txBody>
      </p:sp>
      <p:sp>
        <p:nvSpPr>
          <p:cNvPr id="5" name="Text 3"/>
          <p:cNvSpPr/>
          <p:nvPr/>
        </p:nvSpPr>
        <p:spPr>
          <a:xfrm>
            <a:off x="406301" y="1169938"/>
            <a:ext cx="8498026" cy="853083"/>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In groups of 4: – One student looks up your state's sacred-grove tradition (Coorg / Kerala / Jharkhand / etc.). One paragraph. – One student lists three species you would expect to find in a 200-year-old undisturbed forest patch in your bio-region. – One student draws what a "school sacred grove" could look like — even a 10-tree patch in a campus corner. – One student writes a one-sentence rule the group would adopt to keep their imaginary grove protected.</a:t>
            </a:r>
            <a:endParaRPr lang="en-US" sz="1200" dirty="0"/>
          </a:p>
        </p:txBody>
      </p:sp>
      <p:sp>
        <p:nvSpPr>
          <p:cNvPr id="6" name="Text 4"/>
          <p:cNvSpPr/>
          <p:nvPr/>
        </p:nvSpPr>
        <p:spPr>
          <a:xfrm>
            <a:off x="406301" y="2099221"/>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Groups present in 30 seconds each.</a:t>
            </a:r>
            <a:endParaRPr lang="en-US" sz="1200" dirty="0"/>
          </a:p>
        </p:txBody>
      </p:sp>
      <p:sp>
        <p:nvSpPr>
          <p:cNvPr id="7" name="Text 5"/>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Wrap-up (5 min)</a:t>
            </a:r>
            <a:endParaRPr lang="en-US" sz="1800" dirty="0"/>
          </a:p>
        </p:txBody>
      </p:sp>
      <p:sp>
        <p:nvSpPr>
          <p:cNvPr id="4" name="Text 2"/>
          <p:cNvSpPr/>
          <p:nvPr/>
        </p:nvSpPr>
        <p:spPr>
          <a:xfrm>
            <a:off x="634901" y="883593"/>
            <a:ext cx="8102798" cy="69324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Daily prompt.</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"Do you know of any patch of land near you — even a small one — that has been protected for unusual reasons?"</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 graveyard. A shrine. A temple compound. A lawyer's office's overgrown corner.) Each of these may function as an accidental biodiversity refuge.</a:t>
            </a:r>
            <a:endParaRPr lang="en-US" sz="1200" dirty="0"/>
          </a:p>
        </p:txBody>
      </p:sp>
      <p:sp>
        <p:nvSpPr>
          <p:cNvPr id="5" name="Text 3"/>
          <p:cNvSpPr/>
          <p:nvPr/>
        </p:nvSpPr>
        <p:spPr>
          <a:xfrm>
            <a:off x="406301" y="1665684"/>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Preview Day 5: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"Tomorrow we read the Bhagavad Gītā on why giving back is built into the ecological cycle."</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Homework</a:t>
            </a:r>
            <a:endParaRPr lang="en-US" sz="1800" dirty="0"/>
          </a:p>
        </p:txBody>
      </p:sp>
      <p:sp>
        <p:nvSpPr>
          <p:cNvPr id="4" name="Text 2"/>
          <p:cNvSpPr/>
          <p:nvPr/>
        </p:nvSpPr>
        <p:spPr>
          <a:xfrm>
            <a:off x="406301" y="870942"/>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Ask one elder in your family or neighbourhood: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"Was there any tree, grove, pond, or piece of land that was 'not to be touched' when you were a child? What happened to it?"</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Write what they said in 5 sentences. Bring tomorrow.</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Differentiation</a:t>
            </a:r>
            <a:endParaRPr lang="en-US" sz="1800" dirty="0"/>
          </a:p>
        </p:txBody>
      </p:sp>
      <p:sp>
        <p:nvSpPr>
          <p:cNvPr id="4" name="Text 2"/>
          <p:cNvSpPr/>
          <p:nvPr/>
        </p:nvSpPr>
        <p:spPr>
          <a:xfrm>
            <a:off x="634901" y="883593"/>
            <a:ext cx="8102798" cy="93702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One tier up:</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Find one news story from the last 5 years about a sacred grove being threatened (a road, a mine, a township). Summarise in a paragraph. We'll add it to Day 7's discussion.</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One tier down:</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Just remember two regional names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devarakāḍu</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and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sarna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and one fact: sacred groves preserve species the surrounding land has lost.</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Teacher notes</a:t>
            </a:r>
            <a:endParaRPr lang="en-US" sz="1800" dirty="0"/>
          </a:p>
        </p:txBody>
      </p:sp>
      <p:sp>
        <p:nvSpPr>
          <p:cNvPr id="4" name="Text 2"/>
          <p:cNvSpPr/>
          <p:nvPr/>
        </p:nvSpPr>
        <p:spPr>
          <a:xfrm>
            <a:off x="406301" y="870942"/>
            <a:ext cx="8498026" cy="1492895"/>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Some students will challenge: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"That's superstition. Why should we protect a forest because of a goddess?"</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 affirm the question. Answer: it doesn't matter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why</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a community protects a forest; what matters is that it gets protected. The Indic tradition used the language of the sacred. Modern conservation uses the language of "ecosystem services." Both are descriptions of the same protective behaviour. – The Coorg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devarakāḍu</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network is well-documented; the figure of ~1,200 groves is from Gadgil's published surveys. If you want a source, Gadgil &amp; Subash Chandran (1991) is a more recent count. – Don't romanticise sacred groves as universally protected. Many have been encroached, paved over, or turned into commercial temples. The protection is real where it is sustained; it is not magical.</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Citation(s) used in this lesson</a:t>
            </a:r>
            <a:endParaRPr lang="en-US" sz="1800" dirty="0"/>
          </a:p>
        </p:txBody>
      </p:sp>
      <p:sp>
        <p:nvSpPr>
          <p:cNvPr id="4" name="Text 2"/>
          <p:cNvSpPr/>
          <p:nvPr/>
        </p:nvSpPr>
        <p:spPr>
          <a:xfrm>
            <a:off x="634901" y="883593"/>
            <a:ext cx="8102798" cy="48756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Gadgil, M. &amp; Vartak, V. D.</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(1976). "The Sacred Groves of Western Ghats in India."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Economic Botany</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30(2): 152–160. — Paraphrased in the handout.</a:t>
            </a:r>
            <a:endParaRPr lang="en-US" sz="1200" dirty="0"/>
          </a:p>
        </p:txBody>
      </p:sp>
      <p:sp>
        <p:nvSpPr>
          <p:cNvPr id="5" name="Text 3"/>
          <p:cNvSpPr/>
          <p:nvPr/>
        </p:nvSpPr>
        <p:spPr>
          <a:xfrm>
            <a:off x="406301" y="1460004"/>
            <a:ext cx="8498026" cy="222796"/>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See </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sources.md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for the full reference and the Chapple &amp; Tucker (2000) anthology if you need teacher background.</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 Middle</dc:title>
  <dc:subject>PptxGenJS Presentation</dc:subject>
  <dc:creator>IKS Curriculum</dc:creator>
  <cp:lastModifiedBy>IKS Curriculum</cp:lastModifiedBy>
  <cp:revision>1</cp:revision>
  <dcterms:created xsi:type="dcterms:W3CDTF">2026-05-28T04:24:51Z</dcterms:created>
  <dcterms:modified xsi:type="dcterms:W3CDTF">2026-05-28T04:24:51Z</dcterms:modified>
</cp:coreProperties>
</file>