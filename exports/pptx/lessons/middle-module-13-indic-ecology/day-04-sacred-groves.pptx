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70098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4 — Sacred Groves: Community Biodiversity Reserves</a:t>
            </a:r>
            <a:endParaRPr lang="en-US" sz="2400" dirty="0"/>
          </a:p>
        </p:txBody>
      </p:sp>
      <p:sp>
        <p:nvSpPr>
          <p:cNvPr id="4" name="Text 2"/>
          <p:cNvSpPr/>
          <p:nvPr/>
        </p:nvSpPr>
        <p:spPr>
          <a:xfrm>
            <a:off x="406301" y="124688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Indic Ecology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Students explain what a sacred grove is (community-protected forest fragment) using two regional terms —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(Karnataka) and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sarna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(tribal Eastern India) — and identify the ecological function of these groves as biodiversity reserves.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634901" y="883593"/>
            <a:ext cx="8102798" cy="9751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 handful of photographs of sacred groves —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kāvu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of Kerala,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of Coorg,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sarna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of Jharkhand. (Internet image search; teacher prepares ~6 images.)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Printed handout: a 1-paragraph extract from Gadgil &amp; Vartak (1976) on the function of sacred groves</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Map of India with sacred-grove regions marked (teacher prepares)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a:t>
            </a:r>
            <a:endParaRPr lang="en-US" sz="1800" dirty="0"/>
          </a:p>
        </p:txBody>
      </p:sp>
      <p:sp>
        <p:nvSpPr>
          <p:cNvPr id="4" name="Text 2"/>
          <p:cNvSpPr/>
          <p:nvPr/>
        </p:nvSpPr>
        <p:spPr>
          <a:xfrm>
            <a:off x="634901" y="883593"/>
            <a:ext cx="8102798" cy="166836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devarakāḍu; lit. "god's forest," Kannada) — sacred forest patch dedicated to a village deity, traditionally protected by community rule.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sarna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(sarnā in some dialects) — sacred grove in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Adivasi</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belt (Jharkhand, West Bengal, Odisha), centred on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sal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tree and tribal deities.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kāvu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sacred grove in Kerala (Malayalam).</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orans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sacred grove / pasture in Rajasthan.</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biodiversity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 variety of living species in a particular area.</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634901" y="883593"/>
            <a:ext cx="8102798" cy="7694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Project one photograph of a sacred grove (dense, untouched, surrounded by cleared agricultural land).</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"What do you notice about this patch of forest compared to what's around it?"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Take 2–3 responses.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"Why might this small patch have survived when the surrounding forest was cut?"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Take 2–3 hypotheses. Don't resolve.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a:t>
            </a:r>
            <a:endParaRPr lang="en-US" sz="1800" dirty="0"/>
          </a:p>
        </p:txBody>
      </p:sp>
      <p:sp>
        <p:nvSpPr>
          <p:cNvPr id="4" name="Text 2"/>
          <p:cNvSpPr/>
          <p:nvPr/>
        </p:nvSpPr>
        <p:spPr>
          <a:xfrm>
            <a:off x="634901" y="883593"/>
            <a:ext cx="8102798" cy="8989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Define a sacred grove.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 patch of forest — anywhere from a few trees to several hectares — protected by community rule because of a religious association: a village deity, a goddess, an ancestor, a snake-shrine, a tree itself. The protection takes the form of taboos: no tree-cutting, no twig-collection, no hunting, sometimes no entry except on festival days.</a:t>
            </a:r>
            <a:endParaRPr lang="en-US" sz="1200" dirty="0"/>
          </a:p>
        </p:txBody>
      </p:sp>
      <p:sp>
        <p:nvSpPr>
          <p:cNvPr id="5" name="Text 3"/>
          <p:cNvSpPr/>
          <p:nvPr/>
        </p:nvSpPr>
        <p:spPr>
          <a:xfrm>
            <a:off x="634901" y="188401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Where they survive.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Sacred groves exist across India:</a:t>
            </a:r>
            <a:endParaRPr lang="en-US" sz="1200" dirty="0"/>
          </a:p>
        </p:txBody>
      </p:sp>
      <p:sp>
        <p:nvSpPr>
          <p:cNvPr id="6" name="Text 4"/>
          <p:cNvSpPr/>
          <p:nvPr/>
        </p:nvSpPr>
        <p:spPr>
          <a:xfrm>
            <a:off x="406301" y="2254746"/>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Each row: Region · Local name · Notes.</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150078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Karnataka (Coorg)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~1,200 documented groves; surveyed by Madhav Gadgil's team in the 1970s–90s.</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Kerala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kāvu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Often associated with snake deities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sarpa-kāvu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Maharashtra (Western Ghats)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devarāī</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Surveyed by Gadgil &amp; Vartak in their 1976 paper.</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Jharkhand / Odisha / W. Bengal (tribal belt)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sarna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Centred on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sal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Shorea robusta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tied to Adivasi worship.</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Rajasthan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orans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Often combined with grazing land for community livestock.</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Meghalaya (Khasi Hills)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law kyntang</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Some of the largest and best-protected groves in India.</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Why they matter ecologically.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Read the handout extract:</a:t>
            </a:r>
            <a:endParaRPr lang="en-US" sz="1200" dirty="0"/>
          </a:p>
        </p:txBody>
      </p:sp>
      <p:sp>
        <p:nvSpPr>
          <p:cNvPr id="5" name="Text 3"/>
          <p:cNvSpPr/>
          <p:nvPr/>
        </p:nvSpPr>
        <p:spPr>
          <a:xfrm>
            <a:off x="406301" y="1266974"/>
            <a:ext cx="8331398" cy="1535906"/>
          </a:xfrm>
          <a:prstGeom prst="rect">
            <a:avLst/>
          </a:prstGeom>
          <a:solidFill>
            <a:srgbClr val="F4F8F9"/>
          </a:solidFill>
          <a:ln/>
        </p:spPr>
        <p:txBody>
          <a:bodyPr wrap="square" rtlCol="0" anchor="ctr"/>
          <a:lstStyle/>
          <a:p>
            <a:pPr indent="0" marL="0">
              <a:buNone/>
            </a:pPr>
            <a:endParaRPr lang="en-US" dirty="0"/>
          </a:p>
        </p:txBody>
      </p:sp>
      <p:sp>
        <p:nvSpPr>
          <p:cNvPr id="6" name="Shape 4"/>
          <p:cNvSpPr/>
          <p:nvPr/>
        </p:nvSpPr>
        <p:spPr>
          <a:xfrm>
            <a:off x="434876" y="1266974"/>
            <a:ext cx="0" cy="1535906"/>
          </a:xfrm>
          <a:prstGeom prst="line">
            <a:avLst/>
          </a:prstGeom>
          <a:noFill/>
          <a:ln w="57150">
            <a:solidFill>
              <a:srgbClr val="FE4447"/>
            </a:solidFill>
            <a:prstDash val="solid"/>
          </a:ln>
        </p:spPr>
      </p:sp>
      <p:sp>
        <p:nvSpPr>
          <p:cNvPr id="7" name="Text 5"/>
          <p:cNvSpPr/>
          <p:nvPr/>
        </p:nvSpPr>
        <p:spPr>
          <a:xfrm>
            <a:off x="692051" y="1457474"/>
            <a:ext cx="7973389" cy="1154906"/>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"Sacred groves are relict patches of original vegetation conserved through cultural-religious tradition. They function as in-situ refuges for plant species lost from surrounding areas, including medicinal plants and old-growth trees of high genetic value. In the Western Ghats, sacred groves harbour species not found in nearby agricultural or even reserve-forest landscapes." — paraphrased from Gadgil, M. &amp; Vartak, V. D. (1976), "The Sacred Groves of Western Ghats in India,"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Economic Botany</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30(2): 152–160.</a:t>
            </a:r>
            <a:endParaRPr lang="en-US" sz="1300" dirty="0"/>
          </a:p>
        </p:txBody>
      </p:sp>
      <p:sp>
        <p:nvSpPr>
          <p:cNvPr id="8" name="Text 6"/>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mechanism, plainly stated.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When a community treats a patch of forest as sacred, the patch survives. When the community stops, the patch goes the way of any unprotected land — into agriculture or development. Sacred groves are 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social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protection technology, not a biological accident.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634901" y="883593"/>
            <a:ext cx="8102798" cy="8989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Modern parallel.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Modern ecology has a name for this same phenomenon: "community-managed conservation areas" or "biocultural refugia." The UN's Convention on Biological Diversity recognises Indigenous and Community Conserved Areas (ICCAs). The Indic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and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sarna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are some of the oldest documented examples of what global conservation policy now formally recommends.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(cont.)</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Frame this carefully: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we are not saying "ancient Indians invented modern conservation."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We are saying multiple cultures, including the Indic tradition, arrived at similar protective practices for similar reasons. The recognition is mutual, not a claim to priority.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Sacred Grove Mapping</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activities/activity-01-sacred-grove-mapping.md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for the full sheet.)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Sacred Grove Mapping (cont.)</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In groups of 4:</a:t>
            </a:r>
            <a:endParaRPr lang="en-US" sz="1200" dirty="0"/>
          </a:p>
        </p:txBody>
      </p:sp>
      <p:sp>
        <p:nvSpPr>
          <p:cNvPr id="5" name="Text 3"/>
          <p:cNvSpPr/>
          <p:nvPr/>
        </p:nvSpPr>
        <p:spPr>
          <a:xfrm>
            <a:off x="634901" y="1173063"/>
            <a:ext cx="8102798" cy="10132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One student looks up your state's sacred-grove tradition (Coorg / Kerala / Jharkhand / etc.). One paragraph.</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One student lists three species you would expect to find in a 200-year-old undisturbed forest patch in your bio-region.</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One student draws what a "school sacred grove" could look like — even a 10-tree patch in a campus corner.</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One student writes a one-sentence rule the group would adopt to keep their imaginary grove protected.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Sacred Grove Mapping (cont.)</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Groups present in 30 seconds each.</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Daily prompt.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"Do you know of any patch of land near you — even a small one — that has been protected for unusual reasons?"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 graveyard. A shrine. A temple compound. A lawyer's office's overgrown corner.) Each of these may function as an accidental biodiversity refuge.</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Preview Day 5: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"Tomorrow we read the Bhagavad Gītā on why giving back is built into the ecological cycle."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3419475"/>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3419475"/>
          </a:xfrm>
          <a:prstGeom prst="line">
            <a:avLst/>
          </a:prstGeom>
          <a:noFill/>
          <a:ln w="57150">
            <a:solidFill>
              <a:srgbClr val="FE4447"/>
            </a:solidFill>
            <a:prstDash val="solid"/>
          </a:ln>
        </p:spPr>
      </p:sp>
      <p:sp>
        <p:nvSpPr>
          <p:cNvPr id="6" name="Text 4"/>
          <p:cNvSpPr/>
          <p:nvPr/>
        </p:nvSpPr>
        <p:spPr>
          <a:xfrm>
            <a:off x="692051" y="1074093"/>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Sacred groves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are patches of forest that survived because a community treated them as religious — and that religious status meant rules against cutting and hunting.</a:t>
            </a:r>
            <a:endParaRPr lang="en-US" sz="1300" dirty="0"/>
          </a:p>
        </p:txBody>
      </p:sp>
      <p:sp>
        <p:nvSpPr>
          <p:cNvPr id="7" name="Text 5"/>
          <p:cNvSpPr/>
          <p:nvPr/>
        </p:nvSpPr>
        <p:spPr>
          <a:xfrm>
            <a:off x="692051" y="1574155"/>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Local names you should know:</a:t>
            </a:r>
            <a:endParaRPr lang="en-US" sz="1300" dirty="0"/>
          </a:p>
        </p:txBody>
      </p:sp>
      <p:sp>
        <p:nvSpPr>
          <p:cNvPr id="8" name="Text 6"/>
          <p:cNvSpPr/>
          <p:nvPr/>
        </p:nvSpPr>
        <p:spPr>
          <a:xfrm>
            <a:off x="692051" y="1843236"/>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devarakāḍu</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Karnataka</a:t>
            </a:r>
            <a:endParaRPr lang="en-US" sz="1300" dirty="0"/>
          </a:p>
        </p:txBody>
      </p:sp>
      <p:sp>
        <p:nvSpPr>
          <p:cNvPr id="9" name="Text 7"/>
          <p:cNvSpPr/>
          <p:nvPr/>
        </p:nvSpPr>
        <p:spPr>
          <a:xfrm>
            <a:off x="692051" y="2112318"/>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sarna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Adivasi belt (Jharkhand, etc.)</a:t>
            </a:r>
            <a:endParaRPr lang="en-US" sz="1300" dirty="0"/>
          </a:p>
        </p:txBody>
      </p:sp>
      <p:sp>
        <p:nvSpPr>
          <p:cNvPr id="10" name="Text 8"/>
          <p:cNvSpPr/>
          <p:nvPr/>
        </p:nvSpPr>
        <p:spPr>
          <a:xfrm>
            <a:off x="692051" y="2381399"/>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kāvu</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Kerala</a:t>
            </a:r>
            <a:endParaRPr lang="en-US" sz="1300" dirty="0"/>
          </a:p>
        </p:txBody>
      </p:sp>
      <p:sp>
        <p:nvSpPr>
          <p:cNvPr id="11" name="Text 9"/>
          <p:cNvSpPr/>
          <p:nvPr/>
        </p:nvSpPr>
        <p:spPr>
          <a:xfrm>
            <a:off x="692051" y="2650480"/>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orans</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 Rajasthan</a:t>
            </a:r>
            <a:endParaRPr lang="en-US" sz="1300" dirty="0"/>
          </a:p>
        </p:txBody>
      </p:sp>
      <p:sp>
        <p:nvSpPr>
          <p:cNvPr id="12" name="Text 10"/>
          <p:cNvSpPr/>
          <p:nvPr/>
        </p:nvSpPr>
        <p:spPr>
          <a:xfrm>
            <a:off x="692051" y="2919561"/>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In the Western Ghats, ecologists have documented more than 1,000 sacred groves. Some are only a few trees; some are several hectares. Together they preserve plants and animals that survive nowhere else in their region.</a:t>
            </a:r>
            <a:endParaRPr lang="en-US" sz="1300" dirty="0"/>
          </a:p>
        </p:txBody>
      </p:sp>
      <p:sp>
        <p:nvSpPr>
          <p:cNvPr id="13" name="Text 11"/>
          <p:cNvSpPr/>
          <p:nvPr/>
        </p:nvSpPr>
        <p:spPr>
          <a:xfrm>
            <a:off x="692051" y="3650605"/>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The same idea — community-protected conservation areas — is now formally recommended by the UN's Convention on Biological Diversity (Indigenous and Community Conserved Areas, or ICCAs).</a:t>
            </a:r>
            <a:endParaRPr lang="en-US" sz="1300" dirty="0"/>
          </a:p>
        </p:txBody>
      </p:sp>
      <p:sp>
        <p:nvSpPr>
          <p:cNvPr id="14" name="Text 12"/>
          <p:cNvSpPr/>
          <p:nvPr/>
        </p:nvSpPr>
        <p:spPr>
          <a:xfrm>
            <a:off x="406301" y="4468118"/>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Ask one elder in your family or neighbourhood: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"Was there any tree, grove, pond, or piece of land that was 'not to be touched' when you were a child? What happened to it?"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Write what they said in 5 sentences. Bring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Find one news story from the last 5 years about a sacred grove being threatened (a road, a mine, a township). Summarise in a paragraph. We'll add it to Day 7's discussion.</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Just remember two regional names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and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sarna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and one fact: sacred groves preserve species the surrounding land has lost.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634901" y="883593"/>
            <a:ext cx="8102798" cy="134838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Some students will challenge: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"That's superstition. Why should we protect a forest because of a goddess?"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affirm the question. Answer: it doesn't matter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why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 community protects a forest; what matters is that it gets protected. The Indic tradition used the language of the sacred. Modern conservation uses the language of "ecosystem services." Both are descriptions of the same protective behaviour.</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The Coorg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network is well-documented; the figure of ~1,200 groves is from Gadgil's published surveys. If you want a source, Gadgil &amp; Subash Chandran (1991) is a more recent count.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 (cont.)</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Don't romanticise sacred groves as universally protected. Many have been encroached, paved over, or turned into commercial temples. The protection is real where it is sustained; it is not magical.</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75039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Gadgil, M. &amp; Vartak, V. 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(1976). "The Sacred Groves of Western Ghats in India."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Economic Botany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30(2): 152–160. — Paraphrased in the handout.</a:t>
            </a:r>
            <a:endParaRPr lang="en-US" sz="1200" dirty="0"/>
          </a:p>
          <a:p>
            <a:pPr algn="l" marL="342900" indent="-342900">
              <a:lnSpc>
                <a:spcPts val="1620"/>
              </a:lnSpc>
              <a:spcAft>
                <a:spcPts val="300"/>
              </a:spcAft>
              <a:buSzPct val="100000"/>
              <a:buChar char="•"/>
            </a:pPr>
            <a:r>
              <a:rPr lang="en-US" sz="1200" dirty="0">
                <a:solidFill>
                  <a:srgbClr val="1C2833"/>
                </a:solidFill>
                <a:latin typeface="Arial" pitchFamily="34" charset="0"/>
                <a:ea typeface="Arial" pitchFamily="34" charset="-122"/>
                <a:cs typeface="Arial" pitchFamily="34" charset="-120"/>
              </a:rPr>
              <a:t>See </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for the full reference and the Chapple &amp; Tucker (2000) anthology if you need teacher background.</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2026-05-28T05:55:30Z</dcterms:created>
  <dcterms:modified xsi:type="dcterms:W3CDTF">2026-05-28T05:55:30Z</dcterms:modified>
</cp:coreProperties>
</file>