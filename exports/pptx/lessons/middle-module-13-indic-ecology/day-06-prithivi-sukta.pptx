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380851"/>
            <a:ext cx="8498026" cy="700980"/>
          </a:xfrm>
          <a:prstGeom prst="rect">
            <a:avLst/>
          </a:prstGeom>
          <a:noFill/>
          <a:ln/>
        </p:spPr>
        <p:txBody>
          <a:bodyPr wrap="square" lIns="0" tIns="0" rIns="0" bIns="0" rtlCol="0" anchor="t"/>
          <a:lstStyle/>
          <a:p>
            <a:pPr algn="l" indent="0" marL="0">
              <a:lnSpc>
                <a:spcPts val="2760"/>
              </a:lnSpc>
              <a:spcAft>
                <a:spcPts val="1000"/>
              </a:spcAft>
              <a:buNone/>
            </a:pPr>
            <a:r>
              <a:rPr lang="en-US" sz="2400" dirty="0">
                <a:solidFill>
                  <a:srgbClr val="277884"/>
                </a:solidFill>
                <a:latin typeface="Georgia" pitchFamily="34" charset="0"/>
                <a:ea typeface="Georgia" pitchFamily="34" charset="-122"/>
                <a:cs typeface="Georgia" pitchFamily="34" charset="-120"/>
              </a:rPr>
              <a:t>Day 6 — </a:t>
            </a:r>
            <a:pPr algn="l" indent="0" marL="0">
              <a:lnSpc>
                <a:spcPts val="2760"/>
              </a:lnSpc>
              <a:spcAft>
                <a:spcPts val="1000"/>
              </a:spcAft>
              <a:buNone/>
            </a:pPr>
            <a:r>
              <a:rPr lang="en-US" sz="2400" b="1" i="1" dirty="0">
                <a:solidFill>
                  <a:srgbClr val="277884"/>
                </a:solidFill>
                <a:latin typeface="Georgia" pitchFamily="34" charset="0"/>
                <a:ea typeface="Georgia" pitchFamily="34" charset="-122"/>
                <a:cs typeface="Georgia" pitchFamily="34" charset="-120"/>
              </a:rPr>
              <a:t>Pṛthivī Sūkta</a:t>
            </a:r>
            <a:pPr algn="l" indent="0" marL="0">
              <a:lnSpc>
                <a:spcPts val="2760"/>
              </a:lnSpc>
              <a:spcAft>
                <a:spcPts val="1000"/>
              </a:spcAft>
              <a:buNone/>
            </a:pPr>
            <a:r>
              <a:rPr lang="en-US" sz="2400" dirty="0">
                <a:solidFill>
                  <a:srgbClr val="277884"/>
                </a:solidFill>
                <a:latin typeface="Georgia" pitchFamily="34" charset="0"/>
                <a:ea typeface="Georgia" pitchFamily="34" charset="-122"/>
                <a:cs typeface="Georgia" pitchFamily="34" charset="-120"/>
              </a:rPr>
              <a:t>: Earth as Mother (Atharva Veda 12.1)</a:t>
            </a:r>
            <a:endParaRPr lang="en-US" sz="2400" dirty="0"/>
          </a:p>
        </p:txBody>
      </p:sp>
      <p:sp>
        <p:nvSpPr>
          <p:cNvPr id="4" name="Text 2"/>
          <p:cNvSpPr/>
          <p:nvPr/>
        </p:nvSpPr>
        <p:spPr>
          <a:xfrm>
            <a:off x="406301" y="124688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Module: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Indic Ecology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Band: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Middle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Time: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45 min</a:t>
            </a:r>
            <a:endParaRPr lang="en-US" sz="1200" dirty="0"/>
          </a:p>
        </p:txBody>
      </p:sp>
      <p:sp>
        <p:nvSpPr>
          <p:cNvPr id="5" name="Text 3"/>
          <p:cNvSpPr/>
          <p:nvPr/>
        </p:nvSpPr>
        <p:spPr>
          <a:xfrm>
            <a:off x="406301" y="1574453"/>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Learning objective</a:t>
            </a:r>
            <a:endParaRPr lang="en-US" sz="1800" dirty="0"/>
          </a:p>
        </p:txBody>
      </p:sp>
      <p:sp>
        <p:nvSpPr>
          <p:cNvPr id="6" name="Text 4"/>
          <p:cNvSpPr/>
          <p:nvPr/>
        </p:nvSpPr>
        <p:spPr>
          <a:xfrm>
            <a:off x="406301" y="1988344"/>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Students read selected verses from the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Pṛthivī Sūkta</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(AV 12.1) in translation, identify three concrete images the hymn uses for the Earth, and articulate the difference between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spiritual</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and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empirical</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claims about the planet.</a:t>
            </a:r>
            <a:endParaRPr lang="en-US" sz="1200" dirty="0"/>
          </a:p>
        </p:txBody>
      </p:sp>
      <p:sp>
        <p:nvSpPr>
          <p:cNvPr id="7" name="Text 5"/>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Materials</a:t>
            </a:r>
            <a:endParaRPr lang="en-US" sz="1800" dirty="0"/>
          </a:p>
        </p:txBody>
      </p:sp>
      <p:sp>
        <p:nvSpPr>
          <p:cNvPr id="4" name="Text 2"/>
          <p:cNvSpPr/>
          <p:nvPr/>
        </p:nvSpPr>
        <p:spPr>
          <a:xfrm>
            <a:off x="406301" y="870942"/>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Printed handout: AV 12.1 selections (verses 1, 12, 35, 63) in IAST + translation, one per student – Notebook – Optional: a small bowl of soil, a cup of water, a leaf — placed at the front of the room</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Vocabulary</a:t>
            </a:r>
            <a:endParaRPr lang="en-US" sz="1800" dirty="0"/>
          </a:p>
        </p:txBody>
      </p:sp>
      <p:sp>
        <p:nvSpPr>
          <p:cNvPr id="4" name="Text 2"/>
          <p:cNvSpPr/>
          <p:nvPr/>
        </p:nvSpPr>
        <p:spPr>
          <a:xfrm>
            <a:off x="634901" y="883593"/>
            <a:ext cx="8102798" cy="125700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Pṛthivī</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(IAST: pṛthivī) — Earth, also the goddess Earth. Same word as Module 2's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pṛthvī</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here as proper name.</a:t>
            </a:r>
            <a:endParaRPr lang="en-US" sz="1200" dirty="0"/>
          </a:p>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sūkta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(IAST: sūkta; lit. "well-spoken, hymn") — a Vedic hymn; one of the units of the Ṛg / Atharva collections.</a:t>
            </a:r>
            <a:endParaRPr lang="en-US" sz="1200" dirty="0"/>
          </a:p>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mātā</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(IAST: mātā) — mother.</a:t>
            </a:r>
            <a:endParaRPr lang="en-US" sz="1200" dirty="0"/>
          </a:p>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bhūmi</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(IAST: bhūmi) — earth, land. Used as a synonym for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pṛthivī</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a:t>
            </a:r>
            <a:endParaRPr lang="en-US" sz="1200" dirty="0"/>
          </a:p>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ṛta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(IAST: ṛta) — cosmic order, the way things rightly are. Older companion of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dharma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Lesson flow</a:t>
            </a:r>
            <a:endParaRPr lang="en-US" sz="1800" dirty="0"/>
          </a:p>
        </p:txBody>
      </p:sp>
      <p:sp>
        <p:nvSpPr>
          <p:cNvPr id="4" name="Text 2"/>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Warm-up (5 min)</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Show the bowl of soil. Pass around for 1 minute — students smell, touch (not taste).</a:t>
            </a:r>
            <a:endParaRPr lang="en-US" sz="1200" dirty="0"/>
          </a:p>
        </p:txBody>
      </p:sp>
      <p:sp>
        <p:nvSpPr>
          <p:cNvPr id="5" name="Text 3"/>
          <p:cNvSpPr/>
          <p:nvPr/>
        </p:nvSpPr>
        <p:spPr>
          <a:xfrm>
            <a:off x="634901" y="1173063"/>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"This is what we are about to call our mother. Hold it. What does that feel like?"</a:t>
            </a:r>
            <a:endParaRPr lang="en-US" sz="1200" dirty="0"/>
          </a:p>
        </p:txBody>
      </p:sp>
      <p:sp>
        <p:nvSpPr>
          <p:cNvPr id="6" name="Text 4"/>
          <p:cNvSpPr/>
          <p:nvPr/>
        </p:nvSpPr>
        <p:spPr>
          <a:xfrm>
            <a:off x="406301" y="1543794"/>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Take 2–3 responses. Don't moralise.</a:t>
            </a:r>
            <a:endParaRPr lang="en-US" sz="1200" dirty="0"/>
          </a:p>
        </p:txBody>
      </p:sp>
      <p:sp>
        <p:nvSpPr>
          <p:cNvPr id="7" name="Text 5"/>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Core (20 min)</a:t>
            </a:r>
            <a:endParaRPr lang="en-US" sz="1800" dirty="0"/>
          </a:p>
        </p:txBody>
      </p:sp>
      <p:sp>
        <p:nvSpPr>
          <p:cNvPr id="4" name="Text 2"/>
          <p:cNvSpPr/>
          <p:nvPr/>
        </p:nvSpPr>
        <p:spPr>
          <a:xfrm>
            <a:off x="634901" y="883593"/>
            <a:ext cx="8102798" cy="69324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Position the text.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The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Pṛthivī Sūkta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is the longest single hymn in the Atharva Veda — 63 verses — addressed entirely to the Earth. The composition is dated to roughly the late Vedic period (c. 1200–1000 BCE in conventional chronology). It is one of the earliest extensive ecological texts in any tradition.</a:t>
            </a:r>
            <a:endParaRPr lang="en-US" sz="1200" dirty="0"/>
          </a:p>
        </p:txBody>
      </p:sp>
      <p:sp>
        <p:nvSpPr>
          <p:cNvPr id="5" name="Text 3"/>
          <p:cNvSpPr/>
          <p:nvPr/>
        </p:nvSpPr>
        <p:spPr>
          <a:xfrm>
            <a:off x="634901" y="1678335"/>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Read four verses on the handout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(selections — the full 63 are too many for one period):</a:t>
            </a:r>
            <a:endParaRPr lang="en-US" sz="1200" dirty="0"/>
          </a:p>
        </p:txBody>
      </p:sp>
      <p:sp>
        <p:nvSpPr>
          <p:cNvPr id="6" name="Text 4"/>
          <p:cNvSpPr/>
          <p:nvPr/>
        </p:nvSpPr>
        <p:spPr>
          <a:xfrm>
            <a:off x="406301" y="2049066"/>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AV 12.1.12:</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&gt;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mātā bhūmiḥ putro ahaṁ pṛthivyāḥ</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&gt; "Earth is the mother. I am the son of Earth."</a:t>
            </a:r>
            <a:endParaRPr lang="en-US" sz="1200" dirty="0"/>
          </a:p>
        </p:txBody>
      </p:sp>
      <p:sp>
        <p:nvSpPr>
          <p:cNvPr id="7" name="Text 5"/>
          <p:cNvSpPr/>
          <p:nvPr/>
        </p:nvSpPr>
        <p:spPr>
          <a:xfrm>
            <a:off x="406301" y="2338536"/>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AV 12.1.1 (paraphrase from Griffith / Whitney translation):</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&gt; "Truth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satya</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cosmic order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ṛta</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discipline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dīkṣā</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spiritual heat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tapas</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prayer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brahman</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and sacrifice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yajña</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 these sustain the Earth. May this Earth, who is mistress of what has been and what shall be, make a wide place for us."</a:t>
            </a:r>
            <a:endParaRPr lang="en-US" sz="1200" dirty="0"/>
          </a:p>
        </p:txBody>
      </p:sp>
      <p:sp>
        <p:nvSpPr>
          <p:cNvPr id="8" name="Text 6"/>
          <p:cNvSpPr/>
          <p:nvPr/>
        </p:nvSpPr>
        <p:spPr>
          <a:xfrm>
            <a:off x="406301" y="3054548"/>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AV 12.1.35:</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&gt; "Whatever I dig from you, O Earth, may it grow back quickly. May I not strike your vitals or your heart."</a:t>
            </a:r>
            <a:endParaRPr lang="en-US" sz="1200" dirty="0"/>
          </a:p>
        </p:txBody>
      </p:sp>
      <p:sp>
        <p:nvSpPr>
          <p:cNvPr id="9" name="Text 7"/>
          <p:cNvSpPr/>
          <p:nvPr/>
        </p:nvSpPr>
        <p:spPr>
          <a:xfrm>
            <a:off x="406301" y="3344019"/>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AV 12.1.63 (concluding verse, paraphrased):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&gt; "O Earth, my mother — set me down upon a well-founded place. With heaven for cooperator, O wise one, place me in fortune and in prosperity."</a:t>
            </a:r>
            <a:endParaRPr lang="en-US" sz="1200" dirty="0"/>
          </a:p>
        </p:txBody>
      </p:sp>
      <p:sp>
        <p:nvSpPr>
          <p:cNvPr id="10" name="Text 8"/>
          <p:cNvSpPr/>
          <p:nvPr/>
        </p:nvSpPr>
        <p:spPr>
          <a:xfrm>
            <a:off x="634901" y="3859411"/>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Notice the imagery.</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Ask students to identify, in their notebook:</a:t>
            </a:r>
            <a:endParaRPr lang="en-US" sz="1200" dirty="0"/>
          </a:p>
        </p:txBody>
      </p:sp>
      <p:sp>
        <p:nvSpPr>
          <p:cNvPr id="11" name="Text 9"/>
          <p:cNvSpPr/>
          <p:nvPr/>
        </p:nvSpPr>
        <p:spPr>
          <a:xfrm>
            <a:off x="406301" y="4230142"/>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A line that treats Earth as a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person</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(mother, who supports, who has vitals). – A line that names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what humans owe back</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(the dug-up matter should grow back; we shouldn't strike vitals). – A line that lists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abstract things sustained by Earth</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(truth, order, discipline, sacrifice).</a:t>
            </a:r>
            <a:endParaRPr lang="en-US" sz="1200" dirty="0"/>
          </a:p>
        </p:txBody>
      </p:sp>
      <p:sp>
        <p:nvSpPr>
          <p:cNvPr id="12" name="Text 10"/>
          <p:cNvSpPr/>
          <p:nvPr/>
        </p:nvSpPr>
        <p:spPr>
          <a:xfrm>
            <a:off x="634901" y="4958804"/>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The honest analysis — spiritual claim vs. empirical claim.</a:t>
            </a:r>
            <a:endParaRPr lang="en-US" sz="1200" dirty="0"/>
          </a:p>
        </p:txBody>
      </p:sp>
      <p:sp>
        <p:nvSpPr>
          <p:cNvPr id="13" name="Text 11"/>
          <p:cNvSpPr/>
          <p:nvPr/>
        </p:nvSpPr>
        <p:spPr>
          <a:xfrm>
            <a:off x="406301" y="5329535"/>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Each row: Claim · Type · How you'd test it.</a:t>
            </a:r>
            <a:endParaRPr lang="en-US" sz="1200" dirty="0"/>
          </a:p>
        </p:txBody>
      </p:sp>
      <p:sp>
        <p:nvSpPr>
          <p:cNvPr id="14" name="Text 12"/>
          <p:cNvSpPr/>
          <p:nvPr/>
        </p:nvSpPr>
        <p:spPr>
          <a:xfrm>
            <a:off x="634901" y="5631656"/>
            <a:ext cx="8102798" cy="121890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"Earth is the mother."</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Spiritual / ethical · You don't test it. It's a stance.</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"Soil takes 100–1000 years to form 1 cm."</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Empirical · Soil-science measurement.</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"Whatever I dig from Earth, may it grow back."</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Ethical (with an empirical implication) · Implies a sustainability check.</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"I should not strike Earth's vitals."</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Ethical · Implies don't mine recklessly.</a:t>
            </a:r>
            <a:endParaRPr lang="en-US" sz="1200" dirty="0"/>
          </a:p>
        </p:txBody>
      </p:sp>
      <p:sp>
        <p:nvSpPr>
          <p:cNvPr id="15" name="Text 13"/>
          <p:cNvSpPr/>
          <p:nvPr/>
        </p:nvSpPr>
        <p:spPr>
          <a:xfrm>
            <a:off x="406301" y="6939409"/>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The first kind of claim is not better or worse than the second. It does different work.</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The first shapes your attitude. The second checks whether you actually behaved well.</a:t>
            </a:r>
            <a:endParaRPr lang="en-US" sz="1200" dirty="0"/>
          </a:p>
        </p:txBody>
      </p:sp>
      <p:sp>
        <p:nvSpPr>
          <p:cNvPr id="16" name="Text 14"/>
          <p:cNvSpPr/>
          <p:nvPr/>
        </p:nvSpPr>
        <p:spPr>
          <a:xfrm>
            <a:off x="634901" y="7454801"/>
            <a:ext cx="8102798" cy="48756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Why this hymn matters now.</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AV 12.1 is sometimes called the world's first comprehensive ecological hymn. That's a bold claim — but the verse structure does cover:</a:t>
            </a:r>
            <a:endParaRPr lang="en-US" sz="1200" dirty="0"/>
          </a:p>
        </p:txBody>
      </p:sp>
      <p:sp>
        <p:nvSpPr>
          <p:cNvPr id="17" name="Text 15"/>
          <p:cNvSpPr/>
          <p:nvPr/>
        </p:nvSpPr>
        <p:spPr>
          <a:xfrm>
            <a:off x="406301" y="8031212"/>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Earth as living (mother).    – Reciprocity (give back what you dug).    – Sacred limits (don't strike vitals).    – Sustenance via abstract principles (truth, order).</a:t>
            </a:r>
            <a:endParaRPr lang="en-US" sz="1200" dirty="0"/>
          </a:p>
        </p:txBody>
      </p:sp>
      <p:sp>
        <p:nvSpPr>
          <p:cNvPr id="18" name="Text 16"/>
          <p:cNvSpPr/>
          <p:nvPr/>
        </p:nvSpPr>
        <p:spPr>
          <a:xfrm>
            <a:off x="406301" y="8533954"/>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This is unusual for any tradition's earliest texts. Pre-modern poetry typically extracts; this hymn asks for permission and asks for forgiveness.</a:t>
            </a:r>
            <a:endParaRPr lang="en-US" sz="1200" dirty="0"/>
          </a:p>
        </p:txBody>
      </p:sp>
      <p:sp>
        <p:nvSpPr>
          <p:cNvPr id="19" name="Text 17"/>
          <p:cNvSpPr/>
          <p:nvPr/>
        </p:nvSpPr>
        <p:spPr>
          <a:xfrm>
            <a:off x="406301" y="9112895"/>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Activity (15 min) — Imagery Analysis Worksheet</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In pairs, students fill in a 2-column worksheet:</a:t>
            </a:r>
            <a:endParaRPr lang="en-US" sz="1200" dirty="0"/>
          </a:p>
        </p:txBody>
      </p:sp>
      <p:sp>
        <p:nvSpPr>
          <p:cNvPr id="5" name="Text 3"/>
          <p:cNvSpPr/>
          <p:nvPr/>
        </p:nvSpPr>
        <p:spPr>
          <a:xfrm>
            <a:off x="406301" y="1160413"/>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Each row: Verse / image · What modern observation is this in line with?.</a:t>
            </a:r>
            <a:endParaRPr lang="en-US" sz="1200" dirty="0"/>
          </a:p>
        </p:txBody>
      </p:sp>
      <p:sp>
        <p:nvSpPr>
          <p:cNvPr id="6" name="Text 4"/>
          <p:cNvSpPr/>
          <p:nvPr/>
        </p:nvSpPr>
        <p:spPr>
          <a:xfrm>
            <a:off x="634901" y="1462534"/>
            <a:ext cx="8102798" cy="1424583"/>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"Mother who supports us"</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Soil supports food chains; the biosphere supports all life.</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"May what I dig grow back"</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Renewable extraction limits; sustainability.</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"Don't strike Earth's vitals"</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Don't destroy groundwater aquifers; don't damage the ozone layer; don't push past climate tipping points.</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"Earth is the support of truth, order, discipline"</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The biosphere is the precondition for any human civilization, including science.</a:t>
            </a:r>
            <a:endParaRPr lang="en-US" sz="1200" dirty="0"/>
          </a:p>
        </p:txBody>
      </p:sp>
      <p:sp>
        <p:nvSpPr>
          <p:cNvPr id="7" name="Text 5"/>
          <p:cNvSpPr/>
          <p:nvPr/>
        </p:nvSpPr>
        <p:spPr>
          <a:xfrm>
            <a:off x="406301" y="2975967"/>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The point is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not</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"the Vedas predicted climate science." The point is that thoughtful pre-modern writers asked questions whose answers we are now measuring. Recognising the overlap honours both sides.</a:t>
            </a:r>
            <a:endParaRPr lang="en-US" sz="1200" dirty="0"/>
          </a:p>
        </p:txBody>
      </p:sp>
      <p:sp>
        <p:nvSpPr>
          <p:cNvPr id="8" name="Text 6"/>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Wrap-up (5 min)</a:t>
            </a:r>
            <a:endParaRPr lang="en-US" sz="1800" dirty="0"/>
          </a:p>
        </p:txBody>
      </p:sp>
      <p:sp>
        <p:nvSpPr>
          <p:cNvPr id="4" name="Text 2"/>
          <p:cNvSpPr/>
          <p:nvPr/>
        </p:nvSpPr>
        <p:spPr>
          <a:xfrm>
            <a:off x="634901" y="883593"/>
            <a:ext cx="8102798" cy="48756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Reflection prompt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(slip of paper, 3 sentences):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"Today I read a hymn that calls the Earth my mother. Did this change anything I felt? Be honest — yes, no, or 'I'm not sure.'"</a:t>
            </a:r>
            <a:endParaRPr lang="en-US" sz="1200" dirty="0"/>
          </a:p>
        </p:txBody>
      </p:sp>
      <p:sp>
        <p:nvSpPr>
          <p:cNvPr id="5" name="Text 3"/>
          <p:cNvSpPr/>
          <p:nvPr/>
        </p:nvSpPr>
        <p:spPr>
          <a:xfrm>
            <a:off x="406301" y="1460004"/>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Preview Day 7: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"Tomorrow — what does it mean to enjoy what is given, but not grab? One verse from the Īśa Upaniṣad."</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Student-facing content</a:t>
            </a:r>
            <a:endParaRPr lang="en-US" sz="1800" dirty="0"/>
          </a:p>
        </p:txBody>
      </p:sp>
      <p:sp>
        <p:nvSpPr>
          <p:cNvPr id="4" name="Text 2"/>
          <p:cNvSpPr/>
          <p:nvPr/>
        </p:nvSpPr>
        <p:spPr>
          <a:xfrm>
            <a:off x="406301" y="883593"/>
            <a:ext cx="8331398" cy="2881313"/>
          </a:xfrm>
          <a:prstGeom prst="rect">
            <a:avLst/>
          </a:prstGeom>
          <a:solidFill>
            <a:srgbClr val="F4F8F9"/>
          </a:solidFill>
          <a:ln/>
        </p:spPr>
        <p:txBody>
          <a:bodyPr wrap="square" rtlCol="0" anchor="ctr"/>
          <a:lstStyle/>
          <a:p>
            <a:pPr indent="0" marL="0">
              <a:buNone/>
            </a:pPr>
            <a:endParaRPr lang="en-US" dirty="0"/>
          </a:p>
        </p:txBody>
      </p:sp>
      <p:sp>
        <p:nvSpPr>
          <p:cNvPr id="5" name="Shape 3"/>
          <p:cNvSpPr/>
          <p:nvPr/>
        </p:nvSpPr>
        <p:spPr>
          <a:xfrm>
            <a:off x="434876" y="883593"/>
            <a:ext cx="0" cy="2881312"/>
          </a:xfrm>
          <a:prstGeom prst="line">
            <a:avLst/>
          </a:prstGeom>
          <a:noFill/>
          <a:ln w="57150">
            <a:solidFill>
              <a:srgbClr val="FE4447"/>
            </a:solidFill>
            <a:prstDash val="solid"/>
          </a:ln>
        </p:spPr>
      </p:sp>
      <p:sp>
        <p:nvSpPr>
          <p:cNvPr id="6" name="Text 4"/>
          <p:cNvSpPr/>
          <p:nvPr/>
        </p:nvSpPr>
        <p:spPr>
          <a:xfrm>
            <a:off x="692051" y="1074093"/>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The</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Pṛthivī Sūkta</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 — Atharva Veda 12.1.</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a:t>
            </a:r>
            <a:endParaRPr lang="en-US" sz="1300" dirty="0"/>
          </a:p>
        </p:txBody>
      </p:sp>
      <p:sp>
        <p:nvSpPr>
          <p:cNvPr id="7" name="Text 5"/>
          <p:cNvSpPr/>
          <p:nvPr/>
        </p:nvSpPr>
        <p:spPr>
          <a:xfrm>
            <a:off x="692051" y="1343174"/>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A 63-verse hymn addressed to the Earth. Some lines you should know:</a:t>
            </a:r>
            <a:endParaRPr lang="en-US" sz="1300" dirty="0"/>
          </a:p>
        </p:txBody>
      </p:sp>
      <p:sp>
        <p:nvSpPr>
          <p:cNvPr id="8" name="Text 6"/>
          <p:cNvSpPr/>
          <p:nvPr/>
        </p:nvSpPr>
        <p:spPr>
          <a:xfrm>
            <a:off x="692051" y="1612255"/>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&gt; "Earth is the mother. I am the son of Earth." (AV 12.1.12)</a:t>
            </a:r>
            <a:endParaRPr lang="en-US" sz="1300" dirty="0"/>
          </a:p>
        </p:txBody>
      </p:sp>
      <p:sp>
        <p:nvSpPr>
          <p:cNvPr id="9" name="Text 7"/>
          <p:cNvSpPr/>
          <p:nvPr/>
        </p:nvSpPr>
        <p:spPr>
          <a:xfrm>
            <a:off x="692051" y="1881336"/>
            <a:ext cx="7973389" cy="461963"/>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&gt; "Whatever I dig from you, O Earth, may it grow back quickly. May I not strike your vitals or your heart." (AV 12.1.35)</a:t>
            </a:r>
            <a:endParaRPr lang="en-US" sz="1300" dirty="0"/>
          </a:p>
        </p:txBody>
      </p:sp>
      <p:sp>
        <p:nvSpPr>
          <p:cNvPr id="10" name="Text 8"/>
          <p:cNvSpPr/>
          <p:nvPr/>
        </p:nvSpPr>
        <p:spPr>
          <a:xfrm>
            <a:off x="692051" y="2381399"/>
            <a:ext cx="7973389" cy="461963"/>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The hymn is </a:t>
            </a:r>
            <a:pPr algn="l" indent="0" marL="0">
              <a:lnSpc>
                <a:spcPts val="1820"/>
              </a:lnSpc>
              <a:spcBef>
                <a:spcPts val="300"/>
              </a:spcBef>
              <a:spcAft>
                <a:spcPts val="300"/>
              </a:spcAft>
              <a:buNone/>
            </a:pPr>
            <a:r>
              <a:rPr lang="en-US" sz="1300" b="1" i="1" dirty="0">
                <a:solidFill>
                  <a:srgbClr val="1C2833"/>
                </a:solidFill>
                <a:latin typeface="Georgia" pitchFamily="34" charset="0"/>
                <a:ea typeface="Georgia" pitchFamily="34" charset="-122"/>
                <a:cs typeface="Georgia" pitchFamily="34" charset="-120"/>
              </a:rPr>
              <a:t>spiritual</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in form — it speaks to the Earth as a person. It is </a:t>
            </a:r>
            <a:pPr algn="l" indent="0" marL="0">
              <a:lnSpc>
                <a:spcPts val="1820"/>
              </a:lnSpc>
              <a:spcBef>
                <a:spcPts val="300"/>
              </a:spcBef>
              <a:spcAft>
                <a:spcPts val="300"/>
              </a:spcAft>
              <a:buNone/>
            </a:pPr>
            <a:r>
              <a:rPr lang="en-US" sz="1300" b="1" i="1" dirty="0">
                <a:solidFill>
                  <a:srgbClr val="1C2833"/>
                </a:solidFill>
                <a:latin typeface="Georgia" pitchFamily="34" charset="0"/>
                <a:ea typeface="Georgia" pitchFamily="34" charset="-122"/>
                <a:cs typeface="Georgia" pitchFamily="34" charset="-120"/>
              </a:rPr>
              <a:t>ecological</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in implication — it asks for reciprocity, limits, and forgiveness for what we extract.</a:t>
            </a:r>
            <a:endParaRPr lang="en-US" sz="1300" dirty="0"/>
          </a:p>
        </p:txBody>
      </p:sp>
      <p:sp>
        <p:nvSpPr>
          <p:cNvPr id="11" name="Text 9"/>
          <p:cNvSpPr/>
          <p:nvPr/>
        </p:nvSpPr>
        <p:spPr>
          <a:xfrm>
            <a:off x="692051" y="2881461"/>
            <a:ext cx="7973389" cy="692944"/>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Spiritual statements ("Earth is our mother") and empirical statements ("soil takes 500 years to form 1 cm") do different work. The first shapes how we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attend</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The second tells us whether we are actually behaving well. Both matter.</a:t>
            </a:r>
            <a:endParaRPr lang="en-US" sz="1300" dirty="0"/>
          </a:p>
        </p:txBody>
      </p:sp>
      <p:sp>
        <p:nvSpPr>
          <p:cNvPr id="12" name="Text 10"/>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Homework</a:t>
            </a:r>
            <a:endParaRPr lang="en-US" sz="1800" dirty="0"/>
          </a:p>
        </p:txBody>
      </p:sp>
      <p:sp>
        <p:nvSpPr>
          <p:cNvPr id="4" name="Text 2"/>
          <p:cNvSpPr/>
          <p:nvPr/>
        </p:nvSpPr>
        <p:spPr>
          <a:xfrm>
            <a:off x="406301" y="870942"/>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Read all four verses on your handout one more time. Write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one verse of your own</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 2 lines, addressed to one specific bit of nature near your home (a tree, a tap, a patch of grass). Use the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Pṛthivī Sūkta</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structure: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"You are X. I am Y. May I not Z."</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Differentiation</a:t>
            </a:r>
            <a:endParaRPr lang="en-US" sz="1800" dirty="0"/>
          </a:p>
        </p:txBody>
      </p:sp>
      <p:sp>
        <p:nvSpPr>
          <p:cNvPr id="4" name="Text 2"/>
          <p:cNvSpPr/>
          <p:nvPr/>
        </p:nvSpPr>
        <p:spPr>
          <a:xfrm>
            <a:off x="634901" y="883593"/>
            <a:ext cx="8102798" cy="73134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One tier up:</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Compare AV 12.1.35 ("may what I dig grow back") with one principle of "regenerative agriculture" (you can summarise from a 5-minute online search). Are these the same claim or different?</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One tier down:</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Focus on one image — "Earth is the mother. I am her child." That's enough to anchor the whole lesson.</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Teacher notes</a:t>
            </a:r>
            <a:endParaRPr lang="en-US" sz="1800" dirty="0"/>
          </a:p>
        </p:txBody>
      </p:sp>
      <p:sp>
        <p:nvSpPr>
          <p:cNvPr id="4" name="Text 2"/>
          <p:cNvSpPr/>
          <p:nvPr/>
        </p:nvSpPr>
        <p:spPr>
          <a:xfrm>
            <a:off x="406301" y="870942"/>
            <a:ext cx="8498026" cy="1706166"/>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This is the lesson where students most often slide into one of two unhelpful positions: (1) "this is just poetry, not real," or (2) "this is divine truth and modern science is missing it." Neither is right. The hymn is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poetry that carries an ethic</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The ethic happens to be in line with what we now know empirically about how ecosystems work. – The "may I not strike your vitals" verse (AV 12.1.35) is the most operationally useful one. Don't skip it. – Some students will ask if the Earth is "literally" alive. Two honest answers exist: (a) no, in the strict biological sense (the planet doesn't reproduce, metabolise, etc.); (b) yes, in the Gaia-hypothesis sense (the biosphere as a whole self-regulates). Both are respectable positions. The hymn is closer to (b) in spirit but doesn't depend on either. – The full 63-verse hymn is available in Whitney's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Atharva-Veda Saṁhitā</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translation (Harvard Oriental Series 1905) — public domain. Bring more verses if students want them.</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Citation(s) used in this lesson</a:t>
            </a:r>
            <a:endParaRPr lang="en-US" sz="1800" dirty="0"/>
          </a:p>
        </p:txBody>
      </p:sp>
      <p:sp>
        <p:nvSpPr>
          <p:cNvPr id="4" name="Text 2"/>
          <p:cNvSpPr/>
          <p:nvPr/>
        </p:nvSpPr>
        <p:spPr>
          <a:xfrm>
            <a:off x="634901" y="883593"/>
            <a:ext cx="8102798" cy="69324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Atharva Veda 12.1.12, 12.1.1, 12.1.35, 12.1.63</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quoted / paraphrased. Translations adapted from W. D. Whitney's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Atharva-Veda Saṁhitā</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(Harvard Oriental Series 1905, public domain) and R. T. H. Griffith's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Hymns of the Atharvaveda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(1895–96).</a:t>
            </a:r>
            <a:endParaRPr lang="en-US" sz="1200" dirty="0"/>
          </a:p>
        </p:txBody>
      </p:sp>
      <p:sp>
        <p:nvSpPr>
          <p:cNvPr id="5" name="Text 3"/>
          <p:cNvSpPr/>
          <p:nvPr/>
        </p:nvSpPr>
        <p:spPr>
          <a:xfrm>
            <a:off x="406301" y="1665684"/>
            <a:ext cx="8498026" cy="222796"/>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See </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sources.md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for the edition note and the Chapple &amp; Tucker (2000) anthology for teacher background.</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 Middle</dc:title>
  <dc:subject>PptxGenJS Presentation</dc:subject>
  <dc:creator>IKS Curriculum</dc:creator>
  <cp:lastModifiedBy>IKS Curriculum</cp:lastModifiedBy>
  <cp:revision>1</cp:revision>
  <dcterms:created xsi:type="dcterms:W3CDTF">2026-05-28T04:25:01Z</dcterms:created>
  <dcterms:modified xsi:type="dcterms:W3CDTF">2026-05-28T04:25:01Z</dcterms:modified>
</cp:coreProperties>
</file>