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6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Pṛthivī Sūkta</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Earth as Mother (Atharva Veda 12.1)</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read selected verses from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(AV 12.1) in translation, identify three concrete images the hymn uses for the Earth, and articulate the difference between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spiritual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empirical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claims about the planet.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handout: AV 12.1 selections (verses 1, 12, 35, 63) in IAST + translation, one per student – Notebook – Optional: a small bowl of soil, a cup of water, a leaf — placed at the front of the room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pṛthivī) — Earth, also the goddess Earth. Same word as Module 2's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here as proper name.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sūkta; lit. "well-spoken, hymn") — a Vedic hymn; one of the units of the Ṛg / Atharva collections.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mātā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mātā) — mother.</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bhūmi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bhūmi) — earth, land. Used as a synonym for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ṛta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ṛta) — cosmic order, the way things rightly are. Older companion of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dharma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bowl of soil. Pass around for 1 minute — students smell, touch (not taste).</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"This is what we are about to call our mother. Hold it. What does that feel like?"</a:t>
            </a:r>
            <a:endParaRPr lang="en-US" sz="1200" dirty="0"/>
          </a:p>
        </p:txBody>
      </p:sp>
      <p:sp>
        <p:nvSpPr>
          <p:cNvPr id="6" name="Text 4"/>
          <p:cNvSpPr/>
          <p:nvPr/>
        </p:nvSpPr>
        <p:spPr>
          <a:xfrm>
            <a:off x="406301" y="154379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Take 2–3 responses. Don't moralise.</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Position the text.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is the longest single hymn in the Atharva Veda — 63 verses — addressed entirely to the Earth. The composition is dated to roughly the late Vedic period (c. 1200–1000 BCE in conventional chronology). It is one of the earliest extensive ecological texts in any tradition.</a:t>
            </a:r>
            <a:endParaRPr lang="en-US" sz="1200" dirty="0"/>
          </a:p>
        </p:txBody>
      </p:sp>
      <p:sp>
        <p:nvSpPr>
          <p:cNvPr id="5" name="Text 3"/>
          <p:cNvSpPr/>
          <p:nvPr/>
        </p:nvSpPr>
        <p:spPr>
          <a:xfrm>
            <a:off x="634901" y="167833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Read four verses on the handout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(selections — the full 63 are too many for one period):</a:t>
            </a:r>
            <a:endParaRPr lang="en-US" sz="1200" dirty="0"/>
          </a:p>
        </p:txBody>
      </p:sp>
      <p:sp>
        <p:nvSpPr>
          <p:cNvPr id="6" name="Text 4"/>
          <p:cNvSpPr/>
          <p:nvPr/>
        </p:nvSpPr>
        <p:spPr>
          <a:xfrm>
            <a:off x="406301" y="204906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12.1.12:</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mātā bhūmiḥ putro ahaṁ pṛthivyāḥ</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"Earth is the mother. I am the son of Earth."</a:t>
            </a:r>
            <a:endParaRPr lang="en-US" sz="1200" dirty="0"/>
          </a:p>
        </p:txBody>
      </p:sp>
      <p:sp>
        <p:nvSpPr>
          <p:cNvPr id="7" name="Text 5"/>
          <p:cNvSpPr/>
          <p:nvPr/>
        </p:nvSpPr>
        <p:spPr>
          <a:xfrm>
            <a:off x="406301" y="2338536"/>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12.1.1 (paraphrase from Griffith / Whitney translation):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"Truth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satya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cosmic order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ṛta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discipline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dīkṣā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spiritual heat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tapas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prayer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brahman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sacrifice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yajña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these sustain the Earth. May this Earth, who is mistress of what has been and what shall be, make a wide place for us."</a:t>
            </a:r>
            <a:endParaRPr lang="en-US" sz="1200" dirty="0"/>
          </a:p>
        </p:txBody>
      </p:sp>
      <p:sp>
        <p:nvSpPr>
          <p:cNvPr id="8" name="Text 6"/>
          <p:cNvSpPr/>
          <p:nvPr/>
        </p:nvSpPr>
        <p:spPr>
          <a:xfrm>
            <a:off x="406301" y="305454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12.1.35:</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"Whatever I dig from you, O Earth, may it grow back quickly. May I not strike your vitals or your heart."</a:t>
            </a:r>
            <a:endParaRPr lang="en-US" sz="1200" dirty="0"/>
          </a:p>
        </p:txBody>
      </p:sp>
      <p:sp>
        <p:nvSpPr>
          <p:cNvPr id="9" name="Text 7"/>
          <p:cNvSpPr/>
          <p:nvPr/>
        </p:nvSpPr>
        <p:spPr>
          <a:xfrm>
            <a:off x="406301" y="3344019"/>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AV 12.1.63 (concluding verse, paraphrased):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&gt; "O Earth, my mother — set me down upon a well-founded place. With heaven for cooperator, O wise one, place me in fortune and in prosperity."</a:t>
            </a:r>
            <a:endParaRPr lang="en-US" sz="1200" dirty="0"/>
          </a:p>
        </p:txBody>
      </p:sp>
      <p:sp>
        <p:nvSpPr>
          <p:cNvPr id="10" name="Text 8"/>
          <p:cNvSpPr/>
          <p:nvPr/>
        </p:nvSpPr>
        <p:spPr>
          <a:xfrm>
            <a:off x="634901" y="3859411"/>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Notice the imagery.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Ask students to identify, in their notebook:</a:t>
            </a:r>
            <a:endParaRPr lang="en-US" sz="1200" dirty="0"/>
          </a:p>
        </p:txBody>
      </p:sp>
      <p:sp>
        <p:nvSpPr>
          <p:cNvPr id="11" name="Text 9"/>
          <p:cNvSpPr/>
          <p:nvPr/>
        </p:nvSpPr>
        <p:spPr>
          <a:xfrm>
            <a:off x="406301" y="42301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line that treats Earth as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person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(mother, who supports, who has vitals). – A line that names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 humans owe back</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dug-up matter should grow back; we shouldn't strike vitals). – A line that lists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abstract things sustained by Earth</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(truth, order, discipline, sacrifice).</a:t>
            </a:r>
            <a:endParaRPr lang="en-US" sz="1200" dirty="0"/>
          </a:p>
        </p:txBody>
      </p:sp>
      <p:sp>
        <p:nvSpPr>
          <p:cNvPr id="12" name="Text 10"/>
          <p:cNvSpPr/>
          <p:nvPr/>
        </p:nvSpPr>
        <p:spPr>
          <a:xfrm>
            <a:off x="634901" y="495880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honest analysis — spiritual claim vs. empirical claim.</a:t>
            </a:r>
            <a:endParaRPr lang="en-US" sz="1200" dirty="0"/>
          </a:p>
        </p:txBody>
      </p:sp>
      <p:sp>
        <p:nvSpPr>
          <p:cNvPr id="13" name="Text 11"/>
          <p:cNvSpPr/>
          <p:nvPr/>
        </p:nvSpPr>
        <p:spPr>
          <a:xfrm>
            <a:off x="406301" y="6757690"/>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first kind of claim is not better or worse than the second. It does different work.</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first shapes your attitude. The second checks whether you actually behaved well.</a:t>
            </a:r>
            <a:endParaRPr lang="en-US" sz="1200" dirty="0"/>
          </a:p>
        </p:txBody>
      </p:sp>
      <p:sp>
        <p:nvSpPr>
          <p:cNvPr id="14" name="Text 12"/>
          <p:cNvSpPr/>
          <p:nvPr/>
        </p:nvSpPr>
        <p:spPr>
          <a:xfrm>
            <a:off x="634901" y="7273082"/>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this hymn matters now.</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AV 12.1 is sometimes called the world's first comprehensive ecological hymn. That's a bold claim — but the verse structure does cover:</a:t>
            </a:r>
            <a:endParaRPr lang="en-US" sz="1200" dirty="0"/>
          </a:p>
        </p:txBody>
      </p:sp>
      <p:sp>
        <p:nvSpPr>
          <p:cNvPr id="15" name="Text 13"/>
          <p:cNvSpPr/>
          <p:nvPr/>
        </p:nvSpPr>
        <p:spPr>
          <a:xfrm>
            <a:off x="406301" y="784949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Earth as living (mother).    – Reciprocity (give back what you dug).    – Sacred limits (don't strike vitals).    – Sustenance via abstract principles (truth, order).</a:t>
            </a:r>
            <a:endParaRPr lang="en-US" sz="1200" dirty="0"/>
          </a:p>
        </p:txBody>
      </p:sp>
      <p:sp>
        <p:nvSpPr>
          <p:cNvPr id="16" name="Text 14"/>
          <p:cNvSpPr/>
          <p:nvPr/>
        </p:nvSpPr>
        <p:spPr>
          <a:xfrm>
            <a:off x="406301" y="835223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unusual for any tradition's earliest texts. Pre-modern poetry typically extracts; this hymn asks for permission and asks for forgiveness.</a:t>
            </a:r>
            <a:endParaRPr lang="en-US" sz="1200" dirty="0"/>
          </a:p>
        </p:txBody>
      </p:sp>
      <p:sp>
        <p:nvSpPr>
          <p:cNvPr id="17" name="Text 15"/>
          <p:cNvSpPr/>
          <p:nvPr/>
        </p:nvSpPr>
        <p:spPr>
          <a:xfrm>
            <a:off x="406301" y="893117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Imagery Analysis Worksheet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 pairs, students fill in a 2-column worksheet:</a:t>
            </a:r>
            <a:endParaRPr lang="en-US" sz="1200" dirty="0"/>
          </a:p>
        </p:txBody>
      </p:sp>
      <p:sp>
        <p:nvSpPr>
          <p:cNvPr id="5" name="Text 3"/>
          <p:cNvSpPr/>
          <p:nvPr/>
        </p:nvSpPr>
        <p:spPr>
          <a:xfrm>
            <a:off x="406301" y="289336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point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Vedas predicted climate science." The point is that thoughtful pre-modern writers asked questions whose answers we are now measuring. Recognising the overlap honours both sides.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Reflection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(slip of paper, 3 sentences):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"Today I read a hymn that calls the Earth my mother. Did this change anything I felt? Be honest — yes, no, or 'I'm not sure.'"</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7: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 what does it mean to enjoy what is given, but not grab? One verse from the Īśa Upaniṣad."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881313"/>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881312"/>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Pṛthivī Sūkta</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 Atharva Veda 12.1.</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 63-verse hymn addressed to the Earth. Some lines you should know:</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"Earth is the mother. I am the son of Earth." (AV 12.1.12)</a:t>
            </a:r>
            <a:endParaRPr lang="en-US" sz="1300" dirty="0"/>
          </a:p>
        </p:txBody>
      </p:sp>
      <p:sp>
        <p:nvSpPr>
          <p:cNvPr id="9" name="Text 7"/>
          <p:cNvSpPr/>
          <p:nvPr/>
        </p:nvSpPr>
        <p:spPr>
          <a:xfrm>
            <a:off x="692051" y="1881336"/>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&gt; "Whatever I dig from you, O Earth, may it grow back quickly. May I not strike your vitals or your heart." (AV 12.1.35)</a:t>
            </a:r>
            <a:endParaRPr lang="en-US" sz="1300" dirty="0"/>
          </a:p>
        </p:txBody>
      </p:sp>
      <p:sp>
        <p:nvSpPr>
          <p:cNvPr id="10" name="Text 8"/>
          <p:cNvSpPr/>
          <p:nvPr/>
        </p:nvSpPr>
        <p:spPr>
          <a:xfrm>
            <a:off x="692051" y="23813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hymn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spiritual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form — it speaks to the Earth as a person. It is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ecological</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in implication — it asks for reciprocity, limits, and forgiveness for what we extract.</a:t>
            </a:r>
            <a:endParaRPr lang="en-US" sz="1300" dirty="0"/>
          </a:p>
        </p:txBody>
      </p:sp>
      <p:sp>
        <p:nvSpPr>
          <p:cNvPr id="11" name="Text 9"/>
          <p:cNvSpPr/>
          <p:nvPr/>
        </p:nvSpPr>
        <p:spPr>
          <a:xfrm>
            <a:off x="692051" y="28814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Spiritual statements ("Earth is our mother") and empirical statements ("soil takes 500 years to form 1 cm") do different work. The first shapes how we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attend</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The second tells us whether we are actually behaving well. Both matter.</a:t>
            </a:r>
            <a:endParaRPr lang="en-US" sz="1300" dirty="0"/>
          </a:p>
        </p:txBody>
      </p:sp>
      <p:sp>
        <p:nvSpPr>
          <p:cNvPr id="12" name="Text 10"/>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Read all four verses on your handout one more time. Write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one verse of your own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2 lines, addressed to one specific bit of nature near your home (a tree, a tap, a patch of grass). Use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structure: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"You are X. I am Y. May I not Z."</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Compare AV 12.1.35 ("may what I dig grow back") with one principle of "regenerative agriculture" (you can summarise from a 5-minute online search). Are these the same claim or different?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image — "Earth is the mother. I am her child." That's enough to anchor the whole lesson.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7061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This is the lesson where students most often slide into one of two unhelpful positions: (1) "this is just poetry, not real," or (2) "this is divine truth and modern science is missing it." Neither is right. The hymn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poetry that carries an ethic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ethic happens to be in line with what we now know empirically about how ecosystems work. – The "may I not strike your vitals" verse (AV 12.1.35) is the most operationally useful one. Don't skip it. – Some students will ask if the Earth is "literally" alive. Two honest answers exist: (a) no, in the strict biological sense (the planet doesn't reproduce, metabolise, etc.); (b) yes, in the Gaia-hypothesis sense (the biosphere as a whole self-regulates). Both are respectable positions. The hymn is closer to (b) in spirit but doesn't depend on either. – The full 63-verse hymn is available in Whitney's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translation (Harvard Oriental Series 1905) — public domain. Bring more verses if students want them.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Atharva Veda 12.1.12, 12.1.1, 12.1.35, 12.1.63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quoted / paraphrased. Translations adapted from W. D. Whitney's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Atharva-Veda Saṁhitā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(Harvard Oriental Series 1905, public domain) and R. T. H. Griffith's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Hymns of the Atharvaveda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(1895–96).</a:t>
            </a:r>
            <a:endParaRPr lang="en-US" sz="1200" dirty="0"/>
          </a:p>
        </p:txBody>
      </p:sp>
      <p:sp>
        <p:nvSpPr>
          <p:cNvPr id="5" name="Text 3"/>
          <p:cNvSpPr/>
          <p:nvPr/>
        </p:nvSpPr>
        <p:spPr>
          <a:xfrm>
            <a:off x="406301" y="1665684"/>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edition note and the Chapple &amp; Tucker (2000) anthology for teacher background.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2026-05-25T16:33:26Z</dcterms:created>
  <dcterms:modified xsi:type="dcterms:W3CDTF">2026-05-25T16:33:26Z</dcterms:modified>
</cp:coreProperties>
</file>