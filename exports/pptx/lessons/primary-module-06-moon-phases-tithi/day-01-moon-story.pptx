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87A96B"/>
          </a:solidFill>
          <a:ln/>
        </p:spPr>
        <p:txBody>
          <a:bodyPr wrap="square" rtlCol="0" anchor="ctr"/>
          <a:lstStyle/>
          <a:p>
            <a:pPr indent="0" marL="0">
              <a:buNone/>
            </a:pPr>
            <a:endParaRPr lang="en-US" dirty="0"/>
          </a:p>
        </p:txBody>
      </p:sp>
      <p:sp>
        <p:nvSpPr>
          <p:cNvPr id="3" name="Text 1"/>
          <p:cNvSpPr/>
          <p:nvPr/>
        </p:nvSpPr>
        <p:spPr>
          <a:xfrm>
            <a:off x="406301" y="380851"/>
            <a:ext cx="8498026" cy="350490"/>
          </a:xfrm>
          <a:prstGeom prst="rect">
            <a:avLst/>
          </a:prstGeom>
          <a:noFill/>
          <a:ln/>
        </p:spPr>
        <p:txBody>
          <a:bodyPr wrap="square" lIns="0" tIns="0" rIns="0" bIns="0" rtlCol="0" anchor="t"/>
          <a:lstStyle/>
          <a:p>
            <a:pPr algn="l" indent="0" marL="0">
              <a:lnSpc>
                <a:spcPts val="2760"/>
              </a:lnSpc>
              <a:spcAft>
                <a:spcPts val="1000"/>
              </a:spcAft>
              <a:buNone/>
            </a:pPr>
            <a:r>
              <a:rPr lang="en-US" sz="2400" b="1" dirty="0">
                <a:solidFill>
                  <a:srgbClr val="87A96B"/>
                </a:solidFill>
                <a:latin typeface="Georgia" pitchFamily="34" charset="0"/>
                <a:ea typeface="Georgia" pitchFamily="34" charset="-122"/>
                <a:cs typeface="Georgia" pitchFamily="34" charset="-120"/>
              </a:rPr>
              <a:t>Day 1 — The Moon Story</a:t>
            </a:r>
            <a:endParaRPr lang="en-US" sz="2400" dirty="0"/>
          </a:p>
        </p:txBody>
      </p:sp>
      <p:sp>
        <p:nvSpPr>
          <p:cNvPr id="4" name="Text 2"/>
          <p:cNvSpPr/>
          <p:nvPr/>
        </p:nvSpPr>
        <p:spPr>
          <a:xfrm>
            <a:off x="406301" y="89639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2C2C2C"/>
                </a:solidFill>
                <a:latin typeface="Verdana" pitchFamily="34" charset="0"/>
                <a:ea typeface="Verdana" pitchFamily="34" charset="-122"/>
                <a:cs typeface="Verdana" pitchFamily="34" charset="-120"/>
              </a:rPr>
              <a:t>Module:</a:t>
            </a:r>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 Moon Phases &amp; Tithi (Primary) · </a:t>
            </a:r>
            <a:pPr algn="l" indent="0" marL="0">
              <a:lnSpc>
                <a:spcPts val="1680"/>
              </a:lnSpc>
              <a:spcBef>
                <a:spcPts val="300"/>
              </a:spcBef>
              <a:spcAft>
                <a:spcPts val="300"/>
              </a:spcAft>
              <a:buNone/>
            </a:pPr>
            <a:r>
              <a:rPr lang="en-US" sz="1200" b="1" dirty="0">
                <a:solidFill>
                  <a:srgbClr val="2C2C2C"/>
                </a:solidFill>
                <a:latin typeface="Verdana" pitchFamily="34" charset="0"/>
                <a:ea typeface="Verdana" pitchFamily="34" charset="-122"/>
                <a:cs typeface="Verdana" pitchFamily="34" charset="-120"/>
              </a:rPr>
              <a:t>Time:</a:t>
            </a:r>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 30 min</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Primary ·  · IKS Curriculum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87A96B"/>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E07A5F"/>
                </a:solidFill>
                <a:latin typeface="Georgia" pitchFamily="34" charset="0"/>
                <a:ea typeface="Georgia" pitchFamily="34" charset="-122"/>
                <a:cs typeface="Georgia" pitchFamily="34" charset="-120"/>
              </a:rPr>
              <a:t>Goal</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Children meet the Moon as a ball that the Sun lights up, and understand at a basic level why it changes shape.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Primary ·  · IKS Curriculum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87A96B"/>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E07A5F"/>
                </a:solidFill>
                <a:latin typeface="Georgia" pitchFamily="34" charset="0"/>
                <a:ea typeface="Georgia" pitchFamily="34" charset="-122"/>
                <a:cs typeface="Georgia" pitchFamily="34" charset="-120"/>
              </a:rPr>
              <a:t>Materials</a:t>
            </a:r>
            <a:endParaRPr lang="en-US" sz="1800" dirty="0"/>
          </a:p>
        </p:txBody>
      </p:sp>
      <p:sp>
        <p:nvSpPr>
          <p:cNvPr id="4" name="Text 2"/>
          <p:cNvSpPr/>
          <p:nvPr/>
        </p:nvSpPr>
        <p:spPr>
          <a:xfrm>
            <a:off x="634901" y="883593"/>
            <a:ext cx="8102798" cy="7694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2C2C2C"/>
                </a:solidFill>
                <a:latin typeface="Verdana" pitchFamily="34" charset="0"/>
                <a:ea typeface="Verdana" pitchFamily="34" charset="-122"/>
                <a:cs typeface="Verdana" pitchFamily="34" charset="-120"/>
              </a:rPr>
              <a:t>A torch (flashlight)</a:t>
            </a:r>
            <a:endParaRPr lang="en-US" sz="1200" dirty="0"/>
          </a:p>
          <a:p>
            <a:pPr algn="l" marL="342900" indent="-342900">
              <a:lnSpc>
                <a:spcPts val="1620"/>
              </a:lnSpc>
              <a:spcAft>
                <a:spcPts val="300"/>
              </a:spcAft>
              <a:buSzPct val="100000"/>
              <a:buChar char="•"/>
            </a:pPr>
            <a:r>
              <a:rPr lang="en-US" sz="1200" dirty="0">
                <a:solidFill>
                  <a:srgbClr val="2C2C2C"/>
                </a:solidFill>
                <a:latin typeface="Verdana" pitchFamily="34" charset="0"/>
                <a:ea typeface="Verdana" pitchFamily="34" charset="-122"/>
                <a:cs typeface="Verdana" pitchFamily="34" charset="-120"/>
              </a:rPr>
              <a:t>A small white ball (a table-tennis ball or styrofoam ball)</a:t>
            </a:r>
            <a:endParaRPr lang="en-US" sz="1200" dirty="0"/>
          </a:p>
          <a:p>
            <a:pPr algn="l" marL="342900" indent="-342900">
              <a:lnSpc>
                <a:spcPts val="1620"/>
              </a:lnSpc>
              <a:spcAft>
                <a:spcPts val="300"/>
              </a:spcAft>
              <a:buSzPct val="100000"/>
              <a:buChar char="•"/>
            </a:pPr>
            <a:r>
              <a:rPr lang="en-US" sz="1200" dirty="0">
                <a:solidFill>
                  <a:srgbClr val="2C2C2C"/>
                </a:solidFill>
                <a:latin typeface="Verdana" pitchFamily="34" charset="0"/>
                <a:ea typeface="Verdana" pitchFamily="34" charset="-122"/>
                <a:cs typeface="Verdana" pitchFamily="34" charset="-120"/>
              </a:rPr>
              <a:t>The room dark enough that the torch beam is visible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Primary ·  · IKS Curriculum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87A96B"/>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E07A5F"/>
                </a:solidFill>
                <a:latin typeface="Georgia" pitchFamily="34" charset="0"/>
                <a:ea typeface="Georgia" pitchFamily="34" charset="-122"/>
                <a:cs typeface="Georgia" pitchFamily="34" charset="-120"/>
              </a:rPr>
              <a:t>The flow</a:t>
            </a:r>
            <a:endParaRPr lang="en-US" sz="1800" dirty="0"/>
          </a:p>
        </p:txBody>
      </p:sp>
      <p:sp>
        <p:nvSpPr>
          <p:cNvPr id="4" name="Text 2"/>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Primary ·  · IKS Curriculum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87A96B"/>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E07A5F"/>
                </a:solidFill>
                <a:latin typeface="Georgia" pitchFamily="34" charset="0"/>
                <a:ea typeface="Georgia" pitchFamily="34" charset="-122"/>
                <a:cs typeface="Georgia" pitchFamily="34" charset="-120"/>
              </a:rPr>
              <a:t>Settle + question (3 min)</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Sit on the mat. Teacher: </a:t>
            </a:r>
            <a:pPr algn="l" indent="0" marL="0">
              <a:lnSpc>
                <a:spcPts val="1680"/>
              </a:lnSpc>
              <a:spcBef>
                <a:spcPts val="300"/>
              </a:spcBef>
              <a:spcAft>
                <a:spcPts val="300"/>
              </a:spcAft>
              <a:buNone/>
            </a:pPr>
            <a:r>
              <a:rPr lang="en-US" sz="1200" i="1" dirty="0">
                <a:solidFill>
                  <a:srgbClr val="2C2C2C"/>
                </a:solidFill>
                <a:latin typeface="Verdana" pitchFamily="34" charset="0"/>
                <a:ea typeface="Verdana" pitchFamily="34" charset="-122"/>
                <a:cs typeface="Verdana" pitchFamily="34" charset="-120"/>
              </a:rPr>
              <a:t>"Today we are going to meet the Moon."</a:t>
            </a:r>
            <a:endParaRPr lang="en-US" sz="1200" dirty="0"/>
          </a:p>
        </p:txBody>
      </p:sp>
      <p:sp>
        <p:nvSpPr>
          <p:cNvPr id="5" name="Text 3"/>
          <p:cNvSpPr/>
          <p:nvPr/>
        </p:nvSpPr>
        <p:spPr>
          <a:xfrm>
            <a:off x="406301" y="1160413"/>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Quick question round: </a:t>
            </a:r>
            <a:pPr algn="l" indent="0" marL="0">
              <a:lnSpc>
                <a:spcPts val="1680"/>
              </a:lnSpc>
              <a:spcBef>
                <a:spcPts val="300"/>
              </a:spcBef>
              <a:spcAft>
                <a:spcPts val="300"/>
              </a:spcAft>
              <a:buNone/>
            </a:pPr>
            <a:r>
              <a:rPr lang="en-US" sz="1200" i="1" dirty="0">
                <a:solidFill>
                  <a:srgbClr val="2C2C2C"/>
                </a:solidFill>
                <a:latin typeface="Verdana" pitchFamily="34" charset="0"/>
                <a:ea typeface="Verdana" pitchFamily="34" charset="-122"/>
                <a:cs typeface="Verdana" pitchFamily="34" charset="-120"/>
              </a:rPr>
              <a:t>"Did you see the Moon last night? What shape was it?"</a:t>
            </a:r>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 Take 4–5 answers, sketch each one on the board.</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Primary ·  · IKS Curriculum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87A96B"/>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E07A5F"/>
                </a:solidFill>
                <a:latin typeface="Georgia" pitchFamily="34" charset="0"/>
                <a:ea typeface="Georgia" pitchFamily="34" charset="-122"/>
                <a:cs typeface="Georgia" pitchFamily="34" charset="-120"/>
              </a:rPr>
              <a:t>The story (8 min)</a:t>
            </a:r>
            <a:endParaRPr lang="en-US" sz="1800" dirty="0"/>
          </a:p>
        </p:txBody>
      </p:sp>
      <p:sp>
        <p:nvSpPr>
          <p:cNvPr id="4" name="Text 2"/>
          <p:cNvSpPr/>
          <p:nvPr/>
        </p:nvSpPr>
        <p:spPr>
          <a:xfrm>
            <a:off x="406301" y="883593"/>
            <a:ext cx="8331398" cy="3381375"/>
          </a:xfrm>
          <a:prstGeom prst="rect">
            <a:avLst/>
          </a:prstGeom>
          <a:solidFill>
            <a:srgbClr val="FFFFFF"/>
          </a:solidFill>
          <a:ln/>
        </p:spPr>
        <p:txBody>
          <a:bodyPr wrap="square" rtlCol="0" anchor="ctr"/>
          <a:lstStyle/>
          <a:p>
            <a:pPr indent="0" marL="0">
              <a:buNone/>
            </a:pPr>
            <a:endParaRPr lang="en-US" dirty="0"/>
          </a:p>
        </p:txBody>
      </p:sp>
      <p:sp>
        <p:nvSpPr>
          <p:cNvPr id="5" name="Shape 3"/>
          <p:cNvSpPr/>
          <p:nvPr/>
        </p:nvSpPr>
        <p:spPr>
          <a:xfrm>
            <a:off x="434876" y="883593"/>
            <a:ext cx="0" cy="3381375"/>
          </a:xfrm>
          <a:prstGeom prst="line">
            <a:avLst/>
          </a:prstGeom>
          <a:noFill/>
          <a:ln w="57150">
            <a:solidFill>
              <a:srgbClr val="E07A5F"/>
            </a:solidFill>
            <a:prstDash val="solid"/>
          </a:ln>
        </p:spPr>
      </p:sp>
      <p:sp>
        <p:nvSpPr>
          <p:cNvPr id="6" name="Text 4"/>
          <p:cNvSpPr/>
          <p:nvPr/>
        </p:nvSpPr>
        <p:spPr>
          <a:xfrm>
            <a:off x="692051" y="1074093"/>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b="1" i="1" dirty="0">
                <a:solidFill>
                  <a:srgbClr val="2C2C2C"/>
                </a:solidFill>
                <a:latin typeface="Georgia" pitchFamily="34" charset="0"/>
                <a:ea typeface="Georgia" pitchFamily="34" charset="-122"/>
                <a:cs typeface="Georgia" pitchFamily="34" charset="-120"/>
              </a:rPr>
              <a:t>The Moon is a ball.</a:t>
            </a:r>
            <a:endParaRPr lang="en-US" sz="1300" dirty="0"/>
          </a:p>
        </p:txBody>
      </p:sp>
      <p:sp>
        <p:nvSpPr>
          <p:cNvPr id="7" name="Text 5"/>
          <p:cNvSpPr/>
          <p:nvPr/>
        </p:nvSpPr>
        <p:spPr>
          <a:xfrm>
            <a:off x="692051" y="1343174"/>
            <a:ext cx="7973389" cy="461963"/>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2C2C2C"/>
                </a:solidFill>
                <a:latin typeface="Georgia" pitchFamily="34" charset="0"/>
                <a:ea typeface="Georgia" pitchFamily="34" charset="-122"/>
                <a:cs typeface="Georgia" pitchFamily="34" charset="-120"/>
              </a:rPr>
              <a:t>Imagine a giant white ball, very far away in the sky. That ball is the Moon. It does not make its own light — it is a dark, rocky ball.</a:t>
            </a:r>
            <a:endParaRPr lang="en-US" sz="1300" dirty="0"/>
          </a:p>
        </p:txBody>
      </p:sp>
      <p:sp>
        <p:nvSpPr>
          <p:cNvPr id="8" name="Text 6"/>
          <p:cNvSpPr/>
          <p:nvPr/>
        </p:nvSpPr>
        <p:spPr>
          <a:xfrm>
            <a:off x="692051" y="1843236"/>
            <a:ext cx="7973389" cy="461963"/>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2C2C2C"/>
                </a:solidFill>
                <a:latin typeface="Georgia" pitchFamily="34" charset="0"/>
                <a:ea typeface="Georgia" pitchFamily="34" charset="-122"/>
                <a:cs typeface="Georgia" pitchFamily="34" charset="-120"/>
              </a:rPr>
              <a:t>Then the Sun shines on it. The Sun is so bright that one half of the Moon lights up. (Hold up the white ball; shine the torch on one side.) Look — half of this ball is bright, and half is dark.</a:t>
            </a:r>
            <a:endParaRPr lang="en-US" sz="1300" dirty="0"/>
          </a:p>
        </p:txBody>
      </p:sp>
      <p:sp>
        <p:nvSpPr>
          <p:cNvPr id="9" name="Text 7"/>
          <p:cNvSpPr/>
          <p:nvPr/>
        </p:nvSpPr>
        <p:spPr>
          <a:xfrm>
            <a:off x="692051" y="2343299"/>
            <a:ext cx="7973389" cy="461963"/>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2C2C2C"/>
                </a:solidFill>
                <a:latin typeface="Georgia" pitchFamily="34" charset="0"/>
                <a:ea typeface="Georgia" pitchFamily="34" charset="-122"/>
                <a:cs typeface="Georgia" pitchFamily="34" charset="-120"/>
              </a:rPr>
              <a:t>Now — the Moon doesn't stay still. It travels around the Earth — that's us. (Walk slowly around a stationary child, holding the ball at arm's length.)</a:t>
            </a:r>
            <a:endParaRPr lang="en-US" sz="1300" dirty="0"/>
          </a:p>
        </p:txBody>
      </p:sp>
      <p:sp>
        <p:nvSpPr>
          <p:cNvPr id="10" name="Text 8"/>
          <p:cNvSpPr/>
          <p:nvPr/>
        </p:nvSpPr>
        <p:spPr>
          <a:xfrm>
            <a:off x="692051" y="2843361"/>
            <a:ext cx="7973389" cy="461963"/>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2C2C2C"/>
                </a:solidFill>
                <a:latin typeface="Georgia" pitchFamily="34" charset="0"/>
                <a:ea typeface="Georgia" pitchFamily="34" charset="-122"/>
                <a:cs typeface="Georgia" pitchFamily="34" charset="-120"/>
              </a:rPr>
              <a:t>As the Moon travels, sometimes we see all of the lit side, sometimes only half of the lit side, sometimes none of the lit side. That's why the Moon looks different every night.</a:t>
            </a:r>
            <a:endParaRPr lang="en-US" sz="1300" dirty="0"/>
          </a:p>
        </p:txBody>
      </p:sp>
      <p:sp>
        <p:nvSpPr>
          <p:cNvPr id="11" name="Text 9"/>
          <p:cNvSpPr/>
          <p:nvPr/>
        </p:nvSpPr>
        <p:spPr>
          <a:xfrm>
            <a:off x="692051" y="3343424"/>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2C2C2C"/>
                </a:solidFill>
                <a:latin typeface="Georgia" pitchFamily="34" charset="0"/>
                <a:ea typeface="Georgia" pitchFamily="34" charset="-122"/>
                <a:cs typeface="Georgia" pitchFamily="34" charset="-120"/>
              </a:rPr>
              <a:t>When we see ALL of the lit side, that's a </a:t>
            </a:r>
            <a:pPr algn="l" indent="0" marL="0">
              <a:lnSpc>
                <a:spcPts val="1820"/>
              </a:lnSpc>
              <a:spcBef>
                <a:spcPts val="300"/>
              </a:spcBef>
              <a:spcAft>
                <a:spcPts val="300"/>
              </a:spcAft>
              <a:buNone/>
            </a:pPr>
            <a:r>
              <a:rPr lang="en-US" sz="1300" i="1" dirty="0">
                <a:solidFill>
                  <a:srgbClr val="2C2C2C"/>
                </a:solidFill>
                <a:latin typeface="Georgia" pitchFamily="34" charset="0"/>
                <a:ea typeface="Georgia" pitchFamily="34" charset="-122"/>
                <a:cs typeface="Georgia" pitchFamily="34" charset="-120"/>
              </a:rPr>
              <a:t>pūrṇimā</a:t>
            </a:r>
            <a:pPr algn="l" indent="0" marL="0">
              <a:lnSpc>
                <a:spcPts val="1820"/>
              </a:lnSpc>
              <a:spcBef>
                <a:spcPts val="300"/>
              </a:spcBef>
              <a:spcAft>
                <a:spcPts val="300"/>
              </a:spcAft>
              <a:buNone/>
            </a:pPr>
            <a:r>
              <a:rPr lang="en-US" sz="1300" dirty="0">
                <a:solidFill>
                  <a:srgbClr val="2C2C2C"/>
                </a:solidFill>
                <a:latin typeface="Georgia" pitchFamily="34" charset="0"/>
                <a:ea typeface="Georgia" pitchFamily="34" charset="-122"/>
                <a:cs typeface="Georgia" pitchFamily="34" charset="-120"/>
              </a:rPr>
              <a:t> — a full moon.</a:t>
            </a:r>
            <a:endParaRPr lang="en-US" sz="1300" dirty="0"/>
          </a:p>
        </p:txBody>
      </p:sp>
      <p:sp>
        <p:nvSpPr>
          <p:cNvPr id="12" name="Text 10"/>
          <p:cNvSpPr/>
          <p:nvPr/>
        </p:nvSpPr>
        <p:spPr>
          <a:xfrm>
            <a:off x="692051" y="3612505"/>
            <a:ext cx="7973389" cy="461963"/>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2C2C2C"/>
                </a:solidFill>
                <a:latin typeface="Georgia" pitchFamily="34" charset="0"/>
                <a:ea typeface="Georgia" pitchFamily="34" charset="-122"/>
                <a:cs typeface="Georgia" pitchFamily="34" charset="-120"/>
              </a:rPr>
              <a:t>When we see NONE of the lit side, that's an </a:t>
            </a:r>
            <a:pPr algn="l" indent="0" marL="0">
              <a:lnSpc>
                <a:spcPts val="1820"/>
              </a:lnSpc>
              <a:spcBef>
                <a:spcPts val="300"/>
              </a:spcBef>
              <a:spcAft>
                <a:spcPts val="300"/>
              </a:spcAft>
              <a:buNone/>
            </a:pPr>
            <a:r>
              <a:rPr lang="en-US" sz="1300" i="1" dirty="0">
                <a:solidFill>
                  <a:srgbClr val="2C2C2C"/>
                </a:solidFill>
                <a:latin typeface="Georgia" pitchFamily="34" charset="0"/>
                <a:ea typeface="Georgia" pitchFamily="34" charset="-122"/>
                <a:cs typeface="Georgia" pitchFamily="34" charset="-120"/>
              </a:rPr>
              <a:t>amāvasyā</a:t>
            </a:r>
            <a:pPr algn="l" indent="0" marL="0">
              <a:lnSpc>
                <a:spcPts val="1820"/>
              </a:lnSpc>
              <a:spcBef>
                <a:spcPts val="300"/>
              </a:spcBef>
              <a:spcAft>
                <a:spcPts val="300"/>
              </a:spcAft>
              <a:buNone/>
            </a:pPr>
            <a:r>
              <a:rPr lang="en-US" sz="1300" dirty="0">
                <a:solidFill>
                  <a:srgbClr val="2C2C2C"/>
                </a:solidFill>
                <a:latin typeface="Georgia" pitchFamily="34" charset="0"/>
                <a:ea typeface="Georgia" pitchFamily="34" charset="-122"/>
                <a:cs typeface="Georgia" pitchFamily="34" charset="-120"/>
              </a:rPr>
              <a:t> — a new moon. The Moon is still there — we just can't see it.</a:t>
            </a:r>
            <a:endParaRPr lang="en-US" sz="1300" dirty="0"/>
          </a:p>
        </p:txBody>
      </p:sp>
      <p:sp>
        <p:nvSpPr>
          <p:cNvPr id="13" name="Text 11"/>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Primary ·  · IKS Curriculum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87A96B"/>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E07A5F"/>
                </a:solidFill>
                <a:latin typeface="Georgia" pitchFamily="34" charset="0"/>
                <a:ea typeface="Georgia" pitchFamily="34" charset="-122"/>
                <a:cs typeface="Georgia" pitchFamily="34" charset="-120"/>
              </a:rPr>
              <a:t>The demo (12 min)</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Set up:</a:t>
            </a:r>
            <a:endParaRPr lang="en-US" sz="1200" dirty="0"/>
          </a:p>
        </p:txBody>
      </p:sp>
      <p:sp>
        <p:nvSpPr>
          <p:cNvPr id="5" name="Text 3"/>
          <p:cNvSpPr/>
          <p:nvPr/>
        </p:nvSpPr>
        <p:spPr>
          <a:xfrm>
            <a:off x="634901" y="1173063"/>
            <a:ext cx="8102798" cy="1744563"/>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2C2C2C"/>
                </a:solidFill>
                <a:latin typeface="Verdana" pitchFamily="34" charset="0"/>
                <a:ea typeface="Verdana" pitchFamily="34" charset="-122"/>
                <a:cs typeface="Verdana" pitchFamily="34" charset="-120"/>
              </a:rPr>
              <a:t>One child stands in the centre = Earth.</a:t>
            </a:r>
            <a:endParaRPr lang="en-US" sz="1200" dirty="0"/>
          </a:p>
          <a:p>
            <a:pPr algn="l" marL="342900" indent="-342900">
              <a:lnSpc>
                <a:spcPts val="1620"/>
              </a:lnSpc>
              <a:spcAft>
                <a:spcPts val="300"/>
              </a:spcAft>
              <a:buSzPct val="100000"/>
              <a:buChar char="•"/>
            </a:pPr>
            <a:r>
              <a:rPr lang="en-US" sz="1200" dirty="0">
                <a:solidFill>
                  <a:srgbClr val="2C2C2C"/>
                </a:solidFill>
                <a:latin typeface="Verdana" pitchFamily="34" charset="0"/>
                <a:ea typeface="Verdana" pitchFamily="34" charset="-122"/>
                <a:cs typeface="Verdana" pitchFamily="34" charset="-120"/>
              </a:rPr>
              <a:t>Another child holds the torch = Sun.</a:t>
            </a:r>
            <a:endParaRPr lang="en-US" sz="1200" dirty="0"/>
          </a:p>
          <a:p>
            <a:pPr algn="l" marL="342900" indent="-342900">
              <a:lnSpc>
                <a:spcPts val="1620"/>
              </a:lnSpc>
              <a:spcAft>
                <a:spcPts val="300"/>
              </a:spcAft>
              <a:buSzPct val="100000"/>
              <a:buChar char="•"/>
            </a:pPr>
            <a:r>
              <a:rPr lang="en-US" sz="1200" dirty="0">
                <a:solidFill>
                  <a:srgbClr val="2C2C2C"/>
                </a:solidFill>
                <a:latin typeface="Verdana" pitchFamily="34" charset="0"/>
                <a:ea typeface="Verdana" pitchFamily="34" charset="-122"/>
                <a:cs typeface="Verdana" pitchFamily="34" charset="-120"/>
              </a:rPr>
              <a:t>The teacher walks the ball around Earth in 4 stopping points:</a:t>
            </a:r>
            <a:endParaRPr lang="en-US" sz="1200" dirty="0"/>
          </a:p>
          <a:p>
            <a:pPr algn="l" marL="342900" indent="-342900">
              <a:lnSpc>
                <a:spcPts val="1620"/>
              </a:lnSpc>
              <a:spcAft>
                <a:spcPts val="300"/>
              </a:spcAft>
              <a:buSzPct val="100000"/>
              <a:buChar char="•"/>
            </a:pPr>
            <a:r>
              <a:rPr lang="en-US" sz="1200" dirty="0">
                <a:solidFill>
                  <a:srgbClr val="2C2C2C"/>
                </a:solidFill>
                <a:latin typeface="Verdana" pitchFamily="34" charset="0"/>
                <a:ea typeface="Verdana" pitchFamily="34" charset="-122"/>
                <a:cs typeface="Verdana" pitchFamily="34" charset="-120"/>
              </a:rPr>
              <a:t>Ball between Sun and Earth → Earth sees the dark side (</a:t>
            </a:r>
            <a:pPr algn="l" indent="0" marL="0">
              <a:lnSpc>
                <a:spcPts val="1620"/>
              </a:lnSpc>
              <a:spcAft>
                <a:spcPts val="300"/>
              </a:spcAft>
              <a:buNone/>
            </a:pPr>
            <a:r>
              <a:rPr lang="en-US" sz="1200" i="1" dirty="0">
                <a:solidFill>
                  <a:srgbClr val="2C2C2C"/>
                </a:solidFill>
                <a:latin typeface="Verdana" pitchFamily="34" charset="0"/>
                <a:ea typeface="Verdana" pitchFamily="34" charset="-122"/>
                <a:cs typeface="Verdana" pitchFamily="34" charset="-120"/>
              </a:rPr>
              <a:t>amāvasyā</a:t>
            </a:r>
            <a:pPr algn="l" indent="0" marL="0">
              <a:lnSpc>
                <a:spcPts val="1620"/>
              </a:lnSpc>
              <a:spcAft>
                <a:spcPts val="300"/>
              </a:spcAft>
              <a:buNone/>
            </a:pPr>
            <a:r>
              <a:rPr lang="en-US" sz="1200" dirty="0">
                <a:solidFill>
                  <a:srgbClr val="2C2C2C"/>
                </a:solidFill>
                <a:latin typeface="Verdana" pitchFamily="34" charset="0"/>
                <a:ea typeface="Verdana" pitchFamily="34" charset="-122"/>
                <a:cs typeface="Verdana" pitchFamily="34" charset="-120"/>
              </a:rPr>
              <a:t>).</a:t>
            </a:r>
            <a:endParaRPr lang="en-US" sz="1200" dirty="0"/>
          </a:p>
          <a:p>
            <a:pPr algn="l" marL="342900" indent="-342900">
              <a:lnSpc>
                <a:spcPts val="1620"/>
              </a:lnSpc>
              <a:spcAft>
                <a:spcPts val="300"/>
              </a:spcAft>
              <a:buSzPct val="100000"/>
              <a:buChar char="•"/>
            </a:pPr>
            <a:r>
              <a:rPr lang="en-US" sz="1200" dirty="0">
                <a:solidFill>
                  <a:srgbClr val="2C2C2C"/>
                </a:solidFill>
                <a:latin typeface="Verdana" pitchFamily="34" charset="0"/>
                <a:ea typeface="Verdana" pitchFamily="34" charset="-122"/>
                <a:cs typeface="Verdana" pitchFamily="34" charset="-120"/>
              </a:rPr>
              <a:t>Ball 90° away → Earth sees half lit (half Moon).</a:t>
            </a:r>
            <a:endParaRPr lang="en-US" sz="1200" dirty="0"/>
          </a:p>
          <a:p>
            <a:pPr algn="l" marL="342900" indent="-342900">
              <a:lnSpc>
                <a:spcPts val="1620"/>
              </a:lnSpc>
              <a:spcAft>
                <a:spcPts val="300"/>
              </a:spcAft>
              <a:buSzPct val="100000"/>
              <a:buChar char="•"/>
            </a:pPr>
            <a:r>
              <a:rPr lang="en-US" sz="1200" dirty="0">
                <a:solidFill>
                  <a:srgbClr val="2C2C2C"/>
                </a:solidFill>
                <a:latin typeface="Verdana" pitchFamily="34" charset="0"/>
                <a:ea typeface="Verdana" pitchFamily="34" charset="-122"/>
                <a:cs typeface="Verdana" pitchFamily="34" charset="-120"/>
              </a:rPr>
              <a:t>Ball opposite the Sun → Earth sees full lit (</a:t>
            </a:r>
            <a:pPr algn="l" indent="0" marL="0">
              <a:lnSpc>
                <a:spcPts val="1620"/>
              </a:lnSpc>
              <a:spcAft>
                <a:spcPts val="300"/>
              </a:spcAft>
              <a:buNone/>
            </a:pPr>
            <a:r>
              <a:rPr lang="en-US" sz="1200" i="1" dirty="0">
                <a:solidFill>
                  <a:srgbClr val="2C2C2C"/>
                </a:solidFill>
                <a:latin typeface="Verdana" pitchFamily="34" charset="0"/>
                <a:ea typeface="Verdana" pitchFamily="34" charset="-122"/>
                <a:cs typeface="Verdana" pitchFamily="34" charset="-120"/>
              </a:rPr>
              <a:t>pūrṇimā</a:t>
            </a:r>
            <a:pPr algn="l" indent="0" marL="0">
              <a:lnSpc>
                <a:spcPts val="1620"/>
              </a:lnSpc>
              <a:spcAft>
                <a:spcPts val="300"/>
              </a:spcAft>
              <a:buNone/>
            </a:pPr>
            <a:r>
              <a:rPr lang="en-US" sz="1200" dirty="0">
                <a:solidFill>
                  <a:srgbClr val="2C2C2C"/>
                </a:solidFill>
                <a:latin typeface="Verdana" pitchFamily="34" charset="0"/>
                <a:ea typeface="Verdana" pitchFamily="34" charset="-122"/>
                <a:cs typeface="Verdana" pitchFamily="34" charset="-120"/>
              </a:rPr>
              <a:t>).</a:t>
            </a:r>
            <a:endParaRPr lang="en-US" sz="1200" dirty="0"/>
          </a:p>
          <a:p>
            <a:pPr algn="l" marL="342900" indent="-342900">
              <a:lnSpc>
                <a:spcPts val="1620"/>
              </a:lnSpc>
              <a:spcAft>
                <a:spcPts val="300"/>
              </a:spcAft>
              <a:buSzPct val="100000"/>
              <a:buChar char="•"/>
            </a:pPr>
            <a:r>
              <a:rPr lang="en-US" sz="1200" dirty="0">
                <a:solidFill>
                  <a:srgbClr val="2C2C2C"/>
                </a:solidFill>
                <a:latin typeface="Verdana" pitchFamily="34" charset="0"/>
                <a:ea typeface="Verdana" pitchFamily="34" charset="-122"/>
                <a:cs typeface="Verdana" pitchFamily="34" charset="-120"/>
              </a:rPr>
              <a:t>Ball 90° away on the other side → Earth sees half lit (other half Moon).</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Primary ·  · IKS Curriculum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87A96B"/>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E07A5F"/>
                </a:solidFill>
                <a:latin typeface="Georgia" pitchFamily="34" charset="0"/>
                <a:ea typeface="Georgia" pitchFamily="34" charset="-122"/>
                <a:cs typeface="Georgia" pitchFamily="34" charset="-120"/>
              </a:rPr>
              <a:t>The demo (12 min) (cont.)</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At each stop, ask the Earth-child: </a:t>
            </a:r>
            <a:pPr algn="l" indent="0" marL="0">
              <a:lnSpc>
                <a:spcPts val="1680"/>
              </a:lnSpc>
              <a:spcBef>
                <a:spcPts val="300"/>
              </a:spcBef>
              <a:spcAft>
                <a:spcPts val="300"/>
              </a:spcAft>
              <a:buNone/>
            </a:pPr>
            <a:r>
              <a:rPr lang="en-US" sz="1200" i="1" dirty="0">
                <a:solidFill>
                  <a:srgbClr val="2C2C2C"/>
                </a:solidFill>
                <a:latin typeface="Verdana" pitchFamily="34" charset="0"/>
                <a:ea typeface="Verdana" pitchFamily="34" charset="-122"/>
                <a:cs typeface="Verdana" pitchFamily="34" charset="-120"/>
              </a:rPr>
              <a:t>"What do you see?"</a:t>
            </a:r>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 The class chorus-answers.</a:t>
            </a:r>
            <a:endParaRPr lang="en-US" sz="1200" dirty="0"/>
          </a:p>
        </p:txBody>
      </p:sp>
      <p:sp>
        <p:nvSpPr>
          <p:cNvPr id="5" name="Text 3"/>
          <p:cNvSpPr/>
          <p:nvPr/>
        </p:nvSpPr>
        <p:spPr>
          <a:xfrm>
            <a:off x="406301" y="1160413"/>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Repeat with a few other children rotating roles. Spend the full 12 minutes — children love this and need the repetition.</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Primary ·  · IKS Curriculum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87A96B"/>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E07A5F"/>
                </a:solidFill>
                <a:latin typeface="Georgia" pitchFamily="34" charset="0"/>
                <a:ea typeface="Georgia" pitchFamily="34" charset="-122"/>
                <a:cs typeface="Georgia" pitchFamily="34" charset="-120"/>
              </a:rPr>
              <a:t>Word practice (4 min)</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Chant 3 times together (clap on each syllable):</a:t>
            </a:r>
            <a:endParaRPr lang="en-US" sz="1200" dirty="0"/>
          </a:p>
        </p:txBody>
      </p:sp>
      <p:sp>
        <p:nvSpPr>
          <p:cNvPr id="5" name="Text 3"/>
          <p:cNvSpPr/>
          <p:nvPr/>
        </p:nvSpPr>
        <p:spPr>
          <a:xfrm>
            <a:off x="406301" y="1173063"/>
            <a:ext cx="8331398" cy="611981"/>
          </a:xfrm>
          <a:prstGeom prst="rect">
            <a:avLst/>
          </a:prstGeom>
          <a:solidFill>
            <a:srgbClr val="FFFFFF"/>
          </a:solidFill>
          <a:ln/>
        </p:spPr>
        <p:txBody>
          <a:bodyPr wrap="square" rtlCol="0" anchor="ctr"/>
          <a:lstStyle/>
          <a:p>
            <a:pPr indent="0" marL="0">
              <a:buNone/>
            </a:pPr>
            <a:endParaRPr lang="en-US" dirty="0"/>
          </a:p>
        </p:txBody>
      </p:sp>
      <p:sp>
        <p:nvSpPr>
          <p:cNvPr id="6" name="Shape 4"/>
          <p:cNvSpPr/>
          <p:nvPr/>
        </p:nvSpPr>
        <p:spPr>
          <a:xfrm>
            <a:off x="434876" y="1173063"/>
            <a:ext cx="0" cy="611981"/>
          </a:xfrm>
          <a:prstGeom prst="line">
            <a:avLst/>
          </a:prstGeom>
          <a:noFill/>
          <a:ln w="57150">
            <a:solidFill>
              <a:srgbClr val="E07A5F"/>
            </a:solidFill>
            <a:prstDash val="solid"/>
          </a:ln>
        </p:spPr>
      </p:sp>
      <p:sp>
        <p:nvSpPr>
          <p:cNvPr id="7" name="Text 5"/>
          <p:cNvSpPr/>
          <p:nvPr/>
        </p:nvSpPr>
        <p:spPr>
          <a:xfrm>
            <a:off x="692051" y="1363563"/>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2C2C2C"/>
                </a:solidFill>
                <a:latin typeface="Georgia" pitchFamily="34" charset="0"/>
                <a:ea typeface="Georgia" pitchFamily="34" charset="-122"/>
                <a:cs typeface="Georgia" pitchFamily="34" charset="-120"/>
              </a:rPr>
              <a:t>am - mah - vahs - yah</a:t>
            </a:r>
            <a:pPr algn="l" indent="0" marL="0">
              <a:lnSpc>
                <a:spcPts val="1820"/>
              </a:lnSpc>
              <a:spcBef>
                <a:spcPts val="300"/>
              </a:spcBef>
              <a:spcAft>
                <a:spcPts val="300"/>
              </a:spcAft>
              <a:buNone/>
            </a:pPr>
            <a:r>
              <a:rPr lang="en-US" sz="1300" dirty="0">
                <a:solidFill>
                  <a:srgbClr val="2C2C2C"/>
                </a:solidFill>
                <a:latin typeface="Georgia" pitchFamily="34" charset="0"/>
                <a:ea typeface="Georgia" pitchFamily="34" charset="-122"/>
                <a:cs typeface="Georgia" pitchFamily="34" charset="-120"/>
              </a:rPr>
              <a:t> — the night with no Moon </a:t>
            </a:r>
            <a:pPr algn="l" indent="0" marL="0">
              <a:lnSpc>
                <a:spcPts val="1820"/>
              </a:lnSpc>
              <a:spcBef>
                <a:spcPts val="300"/>
              </a:spcBef>
              <a:spcAft>
                <a:spcPts val="300"/>
              </a:spcAft>
              <a:buNone/>
            </a:pPr>
            <a:r>
              <a:rPr lang="en-US" sz="1300" i="1" dirty="0">
                <a:solidFill>
                  <a:srgbClr val="2C2C2C"/>
                </a:solidFill>
                <a:latin typeface="Georgia" pitchFamily="34" charset="0"/>
                <a:ea typeface="Georgia" pitchFamily="34" charset="-122"/>
                <a:cs typeface="Georgia" pitchFamily="34" charset="-120"/>
              </a:rPr>
              <a:t>poor - ni - mah</a:t>
            </a:r>
            <a:pPr algn="l" indent="0" marL="0">
              <a:lnSpc>
                <a:spcPts val="1820"/>
              </a:lnSpc>
              <a:spcBef>
                <a:spcPts val="300"/>
              </a:spcBef>
              <a:spcAft>
                <a:spcPts val="300"/>
              </a:spcAft>
              <a:buNone/>
            </a:pPr>
            <a:r>
              <a:rPr lang="en-US" sz="1300" dirty="0">
                <a:solidFill>
                  <a:srgbClr val="2C2C2C"/>
                </a:solidFill>
                <a:latin typeface="Georgia" pitchFamily="34" charset="0"/>
                <a:ea typeface="Georgia" pitchFamily="34" charset="-122"/>
                <a:cs typeface="Georgia" pitchFamily="34" charset="-120"/>
              </a:rPr>
              <a:t> — the night with the full Moon</a:t>
            </a:r>
            <a:endParaRPr lang="en-US" sz="1300" dirty="0"/>
          </a:p>
        </p:txBody>
      </p:sp>
      <p:sp>
        <p:nvSpPr>
          <p:cNvPr id="8" name="Text 6"/>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Primary ·  · IKS Curriculum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87A96B"/>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E07A5F"/>
                </a:solidFill>
                <a:latin typeface="Georgia" pitchFamily="34" charset="0"/>
                <a:ea typeface="Georgia" pitchFamily="34" charset="-122"/>
                <a:cs typeface="Georgia" pitchFamily="34" charset="-120"/>
              </a:rPr>
              <a:t>Wrap-up (3 min)</a:t>
            </a:r>
            <a:endParaRPr lang="en-US" sz="1800" dirty="0"/>
          </a:p>
        </p:txBody>
      </p:sp>
      <p:sp>
        <p:nvSpPr>
          <p:cNvPr id="4" name="Text 2"/>
          <p:cNvSpPr/>
          <p:nvPr/>
        </p:nvSpPr>
        <p:spPr>
          <a:xfrm>
            <a:off x="634901" y="883593"/>
            <a:ext cx="8102798" cy="9751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2C2C2C"/>
                </a:solidFill>
                <a:latin typeface="Verdana" pitchFamily="34" charset="0"/>
                <a:ea typeface="Verdana" pitchFamily="34" charset="-122"/>
                <a:cs typeface="Verdana" pitchFamily="34" charset="-120"/>
              </a:rPr>
              <a:t>Each child draws one Moon shape on paper — whichever shape they remember best from the demo.</a:t>
            </a:r>
            <a:endParaRPr lang="en-US" sz="1200" dirty="0"/>
          </a:p>
          <a:p>
            <a:pPr algn="l" marL="342900" indent="-342900">
              <a:lnSpc>
                <a:spcPts val="1620"/>
              </a:lnSpc>
              <a:spcAft>
                <a:spcPts val="300"/>
              </a:spcAft>
              <a:buSzPct val="100000"/>
              <a:buChar char="•"/>
            </a:pPr>
            <a:r>
              <a:rPr lang="en-US" sz="1200" dirty="0">
                <a:solidFill>
                  <a:srgbClr val="2C2C2C"/>
                </a:solidFill>
                <a:latin typeface="Verdana" pitchFamily="34" charset="0"/>
                <a:ea typeface="Verdana" pitchFamily="34" charset="-122"/>
                <a:cs typeface="Verdana" pitchFamily="34" charset="-120"/>
              </a:rPr>
              <a:t>Hold up 3 drawings.</a:t>
            </a:r>
            <a:endParaRPr lang="en-US" sz="1200" dirty="0"/>
          </a:p>
          <a:p>
            <a:pPr algn="l" marL="342900" indent="-342900">
              <a:lnSpc>
                <a:spcPts val="1620"/>
              </a:lnSpc>
              <a:spcAft>
                <a:spcPts val="300"/>
              </a:spcAft>
              <a:buSzPct val="100000"/>
              <a:buChar char="•"/>
            </a:pPr>
            <a:r>
              <a:rPr lang="en-US" sz="1200" b="1" dirty="0">
                <a:solidFill>
                  <a:srgbClr val="2C2C2C"/>
                </a:solidFill>
                <a:latin typeface="Verdana" pitchFamily="34" charset="0"/>
                <a:ea typeface="Verdana" pitchFamily="34" charset="-122"/>
                <a:cs typeface="Verdana" pitchFamily="34" charset="-120"/>
              </a:rPr>
              <a:t>Homework:</a:t>
            </a:r>
            <a:pPr algn="l" indent="0" marL="0">
              <a:lnSpc>
                <a:spcPts val="1620"/>
              </a:lnSpc>
              <a:spcAft>
                <a:spcPts val="300"/>
              </a:spcAft>
              <a:buNone/>
            </a:pPr>
            <a:r>
              <a:rPr lang="en-US" sz="1200" dirty="0">
                <a:solidFill>
                  <a:srgbClr val="2C2C2C"/>
                </a:solidFill>
                <a:latin typeface="Verdana" pitchFamily="34" charset="0"/>
                <a:ea typeface="Verdana" pitchFamily="34" charset="-122"/>
                <a:cs typeface="Verdana" pitchFamily="34" charset="-120"/>
              </a:rPr>
              <a:t> </a:t>
            </a:r>
            <a:pPr algn="l" indent="0" marL="0">
              <a:lnSpc>
                <a:spcPts val="1620"/>
              </a:lnSpc>
              <a:spcAft>
                <a:spcPts val="300"/>
              </a:spcAft>
              <a:buNone/>
            </a:pPr>
            <a:r>
              <a:rPr lang="en-US" sz="1200" i="1" dirty="0">
                <a:solidFill>
                  <a:srgbClr val="2C2C2C"/>
                </a:solidFill>
                <a:latin typeface="Verdana" pitchFamily="34" charset="0"/>
                <a:ea typeface="Verdana" pitchFamily="34" charset="-122"/>
                <a:cs typeface="Verdana" pitchFamily="34" charset="-120"/>
              </a:rPr>
              <a:t>Look at the Moon tonight. Whatever shape you see, draw it in your workbook. If it's cloudy, ask a grown-up to look it up on a phone.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Primary ·  · IKS Curriculum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87A96B"/>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E07A5F"/>
                </a:solidFill>
                <a:latin typeface="Georgia" pitchFamily="34" charset="0"/>
                <a:ea typeface="Georgia" pitchFamily="34" charset="-122"/>
                <a:cs typeface="Georgia" pitchFamily="34" charset="-120"/>
              </a:rPr>
              <a:t>Homework / take-home</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2C2C2C"/>
                </a:solidFill>
                <a:latin typeface="Verdana" pitchFamily="34" charset="0"/>
                <a:ea typeface="Verdana" pitchFamily="34" charset="-122"/>
                <a:cs typeface="Verdana" pitchFamily="34" charset="-120"/>
              </a:rPr>
              <a:t>Start your Moon Diary tonight.</a:t>
            </a:r>
            <a:pPr algn="l" indent="0" marL="0">
              <a:lnSpc>
                <a:spcPts val="1620"/>
              </a:lnSpc>
              <a:spcAft>
                <a:spcPts val="300"/>
              </a:spcAft>
              <a:buNone/>
            </a:pPr>
            <a:r>
              <a:rPr lang="en-US" sz="1200" dirty="0">
                <a:solidFill>
                  <a:srgbClr val="2C2C2C"/>
                </a:solidFill>
                <a:latin typeface="Verdana" pitchFamily="34" charset="0"/>
                <a:ea typeface="Verdana" pitchFamily="34" charset="-122"/>
                <a:cs typeface="Verdana" pitchFamily="34" charset="-120"/>
              </a:rPr>
              <a:t> Look up. Draw what you see. Note: clear or cloudy.</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Primary ·  · IKS Curriculum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87A96B"/>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E07A5F"/>
                </a:solidFill>
                <a:latin typeface="Georgia" pitchFamily="34" charset="0"/>
                <a:ea typeface="Georgia" pitchFamily="34" charset="-122"/>
                <a:cs typeface="Georgia" pitchFamily="34" charset="-120"/>
              </a:rPr>
              <a:t>Differentiation</a:t>
            </a:r>
            <a:endParaRPr lang="en-US" sz="1800" dirty="0"/>
          </a:p>
        </p:txBody>
      </p:sp>
      <p:sp>
        <p:nvSpPr>
          <p:cNvPr id="4" name="Text 2"/>
          <p:cNvSpPr/>
          <p:nvPr/>
        </p:nvSpPr>
        <p:spPr>
          <a:xfrm>
            <a:off x="634901" y="883593"/>
            <a:ext cx="8102798" cy="5256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2C2C2C"/>
                </a:solidFill>
                <a:latin typeface="Verdana" pitchFamily="34" charset="0"/>
                <a:ea typeface="Verdana" pitchFamily="34" charset="-122"/>
                <a:cs typeface="Verdana" pitchFamily="34" charset="-120"/>
              </a:rPr>
              <a:t>Tier up:</a:t>
            </a:r>
            <a:pPr algn="l" indent="0" marL="0">
              <a:lnSpc>
                <a:spcPts val="1620"/>
              </a:lnSpc>
              <a:spcAft>
                <a:spcPts val="300"/>
              </a:spcAft>
              <a:buNone/>
            </a:pPr>
            <a:r>
              <a:rPr lang="en-US" sz="1200" dirty="0">
                <a:solidFill>
                  <a:srgbClr val="2C2C2C"/>
                </a:solidFill>
                <a:latin typeface="Verdana" pitchFamily="34" charset="0"/>
                <a:ea typeface="Verdana" pitchFamily="34" charset="-122"/>
                <a:cs typeface="Verdana" pitchFamily="34" charset="-120"/>
              </a:rPr>
              <a:t> Draw two phases (last night's + tonight's predicted).</a:t>
            </a:r>
            <a:endParaRPr lang="en-US" sz="1200" dirty="0"/>
          </a:p>
          <a:p>
            <a:pPr algn="l" marL="342900" indent="-342900">
              <a:lnSpc>
                <a:spcPts val="1620"/>
              </a:lnSpc>
              <a:spcAft>
                <a:spcPts val="300"/>
              </a:spcAft>
              <a:buSzPct val="100000"/>
              <a:buChar char="•"/>
            </a:pPr>
            <a:r>
              <a:rPr lang="en-US" sz="1200" b="1" dirty="0">
                <a:solidFill>
                  <a:srgbClr val="2C2C2C"/>
                </a:solidFill>
                <a:latin typeface="Verdana" pitchFamily="34" charset="0"/>
                <a:ea typeface="Verdana" pitchFamily="34" charset="-122"/>
                <a:cs typeface="Verdana" pitchFamily="34" charset="-120"/>
              </a:rPr>
              <a:t>Tier down:</a:t>
            </a:r>
            <a:pPr algn="l" indent="0" marL="0">
              <a:lnSpc>
                <a:spcPts val="1620"/>
              </a:lnSpc>
              <a:spcAft>
                <a:spcPts val="300"/>
              </a:spcAft>
              <a:buNone/>
            </a:pPr>
            <a:r>
              <a:rPr lang="en-US" sz="1200" dirty="0">
                <a:solidFill>
                  <a:srgbClr val="2C2C2C"/>
                </a:solidFill>
                <a:latin typeface="Verdana" pitchFamily="34" charset="0"/>
                <a:ea typeface="Verdana" pitchFamily="34" charset="-122"/>
                <a:cs typeface="Verdana" pitchFamily="34" charset="-120"/>
              </a:rPr>
              <a:t> Just remember the word </a:t>
            </a:r>
            <a:pPr algn="l" indent="0" marL="0">
              <a:lnSpc>
                <a:spcPts val="1620"/>
              </a:lnSpc>
              <a:spcAft>
                <a:spcPts val="300"/>
              </a:spcAft>
              <a:buNone/>
            </a:pPr>
            <a:r>
              <a:rPr lang="en-US" sz="1200" i="1" dirty="0">
                <a:solidFill>
                  <a:srgbClr val="2C2C2C"/>
                </a:solidFill>
                <a:latin typeface="Verdana" pitchFamily="34" charset="0"/>
                <a:ea typeface="Verdana" pitchFamily="34" charset="-122"/>
                <a:cs typeface="Verdana" pitchFamily="34" charset="-120"/>
              </a:rPr>
              <a:t>pūrṇimā</a:t>
            </a:r>
            <a:pPr algn="l" indent="0" marL="0">
              <a:lnSpc>
                <a:spcPts val="1620"/>
              </a:lnSpc>
              <a:spcAft>
                <a:spcPts val="300"/>
              </a:spcAft>
              <a:buNone/>
            </a:pPr>
            <a:r>
              <a:rPr lang="en-US" sz="1200" dirty="0">
                <a:solidFill>
                  <a:srgbClr val="2C2C2C"/>
                </a:solidFill>
                <a:latin typeface="Verdana" pitchFamily="34" charset="0"/>
                <a:ea typeface="Verdana" pitchFamily="34" charset="-122"/>
                <a:cs typeface="Verdana" pitchFamily="34" charset="-120"/>
              </a:rPr>
              <a:t> (the easier one). </a:t>
            </a:r>
            <a:pPr algn="l" indent="0" marL="0">
              <a:lnSpc>
                <a:spcPts val="1620"/>
              </a:lnSpc>
              <a:spcAft>
                <a:spcPts val="300"/>
              </a:spcAft>
              <a:buNone/>
            </a:pPr>
            <a:r>
              <a:rPr lang="en-US" sz="1200" i="1" dirty="0">
                <a:solidFill>
                  <a:srgbClr val="2C2C2C"/>
                </a:solidFill>
                <a:latin typeface="Verdana" pitchFamily="34" charset="0"/>
                <a:ea typeface="Verdana" pitchFamily="34" charset="-122"/>
                <a:cs typeface="Verdana" pitchFamily="34" charset="-120"/>
              </a:rPr>
              <a:t>Amāvasyā</a:t>
            </a:r>
            <a:pPr algn="l" indent="0" marL="0">
              <a:lnSpc>
                <a:spcPts val="1620"/>
              </a:lnSpc>
              <a:spcAft>
                <a:spcPts val="300"/>
              </a:spcAft>
              <a:buNone/>
            </a:pPr>
            <a:r>
              <a:rPr lang="en-US" sz="1200" dirty="0">
                <a:solidFill>
                  <a:srgbClr val="2C2C2C"/>
                </a:solidFill>
                <a:latin typeface="Verdana" pitchFamily="34" charset="0"/>
                <a:ea typeface="Verdana" pitchFamily="34" charset="-122"/>
                <a:cs typeface="Verdana" pitchFamily="34" charset="-120"/>
              </a:rPr>
              <a:t> can come later this week.</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Primary ·  · IKS Curriculum</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87A96B"/>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E07A5F"/>
                </a:solidFill>
                <a:latin typeface="Georgia" pitchFamily="34" charset="0"/>
                <a:ea typeface="Georgia" pitchFamily="34" charset="-122"/>
                <a:cs typeface="Georgia" pitchFamily="34" charset="-120"/>
              </a:rPr>
              <a:t>Teacher's quick notes</a:t>
            </a:r>
            <a:endParaRPr lang="en-US" sz="1800" dirty="0"/>
          </a:p>
        </p:txBody>
      </p:sp>
      <p:sp>
        <p:nvSpPr>
          <p:cNvPr id="4" name="Text 2"/>
          <p:cNvSpPr/>
          <p:nvPr/>
        </p:nvSpPr>
        <p:spPr>
          <a:xfrm>
            <a:off x="634901" y="883593"/>
            <a:ext cx="8102798" cy="9751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2C2C2C"/>
                </a:solidFill>
                <a:latin typeface="Verdana" pitchFamily="34" charset="0"/>
                <a:ea typeface="Verdana" pitchFamily="34" charset="-122"/>
                <a:cs typeface="Verdana" pitchFamily="34" charset="-120"/>
              </a:rPr>
              <a:t>The single most important sentence today: </a:t>
            </a:r>
            <a:pPr algn="l" indent="0" marL="0">
              <a:lnSpc>
                <a:spcPts val="1620"/>
              </a:lnSpc>
              <a:spcAft>
                <a:spcPts val="300"/>
              </a:spcAft>
              <a:buNone/>
            </a:pPr>
            <a:r>
              <a:rPr lang="en-US" sz="1200" b="1" dirty="0">
                <a:solidFill>
                  <a:srgbClr val="2C2C2C"/>
                </a:solidFill>
                <a:latin typeface="Verdana" pitchFamily="34" charset="0"/>
                <a:ea typeface="Verdana" pitchFamily="34" charset="-122"/>
                <a:cs typeface="Verdana" pitchFamily="34" charset="-120"/>
              </a:rPr>
              <a:t>"The Sun lights the Moon. The Moon doesn't make its own light."</a:t>
            </a:r>
            <a:pPr algn="l" indent="0" marL="0">
              <a:lnSpc>
                <a:spcPts val="1620"/>
              </a:lnSpc>
              <a:spcAft>
                <a:spcPts val="300"/>
              </a:spcAft>
              <a:buNone/>
            </a:pPr>
            <a:r>
              <a:rPr lang="en-US" sz="1200" dirty="0">
                <a:solidFill>
                  <a:srgbClr val="2C2C2C"/>
                </a:solidFill>
                <a:latin typeface="Verdana" pitchFamily="34" charset="0"/>
                <a:ea typeface="Verdana" pitchFamily="34" charset="-122"/>
                <a:cs typeface="Verdana" pitchFamily="34" charset="-120"/>
              </a:rPr>
              <a:t> Repeat it often.</a:t>
            </a:r>
            <a:endParaRPr lang="en-US" sz="1200" dirty="0"/>
          </a:p>
          <a:p>
            <a:pPr algn="l" marL="342900" indent="-342900">
              <a:lnSpc>
                <a:spcPts val="1620"/>
              </a:lnSpc>
              <a:spcAft>
                <a:spcPts val="300"/>
              </a:spcAft>
              <a:buSzPct val="100000"/>
              <a:buChar char="•"/>
            </a:pPr>
            <a:r>
              <a:rPr lang="en-US" sz="1200" dirty="0">
                <a:solidFill>
                  <a:srgbClr val="2C2C2C"/>
                </a:solidFill>
                <a:latin typeface="Verdana" pitchFamily="34" charset="0"/>
                <a:ea typeface="Verdana" pitchFamily="34" charset="-122"/>
                <a:cs typeface="Verdana" pitchFamily="34" charset="-120"/>
              </a:rPr>
              <a:t>Some children will need the demo repeated. That's fine — that's the whole class.</a:t>
            </a:r>
            <a:endParaRPr lang="en-US" sz="1200" dirty="0"/>
          </a:p>
          <a:p>
            <a:pPr algn="l" marL="342900" indent="-342900">
              <a:lnSpc>
                <a:spcPts val="1620"/>
              </a:lnSpc>
              <a:spcAft>
                <a:spcPts val="300"/>
              </a:spcAft>
              <a:buSzPct val="100000"/>
              <a:buChar char="•"/>
            </a:pPr>
            <a:r>
              <a:rPr lang="en-US" sz="1200" dirty="0">
                <a:solidFill>
                  <a:srgbClr val="2C2C2C"/>
                </a:solidFill>
                <a:latin typeface="Verdana" pitchFamily="34" charset="0"/>
                <a:ea typeface="Verdana" pitchFamily="34" charset="-122"/>
                <a:cs typeface="Verdana" pitchFamily="34" charset="-120"/>
              </a:rPr>
              <a:t>Don't worry about Sanskrit spelling. They'll get it through repetition over the week.</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2C2C2C"/>
                </a:solidFill>
                <a:latin typeface="Verdana" pitchFamily="34" charset="0"/>
                <a:ea typeface="Verdana" pitchFamily="34" charset="-122"/>
                <a:cs typeface="Verdana" pitchFamily="34" charset="-120"/>
              </a:rPr>
              <a:t>Primary ·  · IKS Curriculum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 Primary</dc:title>
  <dc:subject>PptxGenJS Presentation</dc:subject>
  <dc:creator>IKS Curriculum</dc:creator>
  <cp:lastModifiedBy>IKS Curriculum</cp:lastModifiedBy>
  <cp:revision>1</cp:revision>
  <dcterms:created xsi:type="dcterms:W3CDTF">2026-05-28T05:32:55Z</dcterms:created>
  <dcterms:modified xsi:type="dcterms:W3CDTF">2026-05-28T05:32:55Z</dcterms:modified>
</cp:coreProperties>
</file>