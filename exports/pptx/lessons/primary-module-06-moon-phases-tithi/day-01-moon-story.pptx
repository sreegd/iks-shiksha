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87A96B"/>
                </a:solidFill>
                <a:latin typeface="Georgia" pitchFamily="34" charset="0"/>
                <a:ea typeface="Georgia" pitchFamily="34" charset="-122"/>
                <a:cs typeface="Georgia" pitchFamily="34" charset="-120"/>
              </a:rPr>
              <a:t>Day 1 — The Moon Story</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2C2C2C"/>
                </a:solidFill>
                <a:latin typeface="Verdana" pitchFamily="34" charset="0"/>
                <a:ea typeface="Verdana" pitchFamily="34" charset="-122"/>
                <a:cs typeface="Verdana" pitchFamily="34" charset="-120"/>
              </a:rPr>
              <a:t>Module:</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Moon Phases &amp; Tithi (Primary) · </a:t>
            </a:r>
            <a:pPr algn="l" indent="0" marL="0">
              <a:lnSpc>
                <a:spcPts val="1680"/>
              </a:lnSpc>
              <a:spcBef>
                <a:spcPts val="300"/>
              </a:spcBef>
              <a:spcAft>
                <a:spcPts val="300"/>
              </a:spcAft>
              <a:buNone/>
            </a:pPr>
            <a:r>
              <a:rPr lang="en-US" sz="1200" b="1" dirty="0">
                <a:solidFill>
                  <a:srgbClr val="2C2C2C"/>
                </a:solidFill>
                <a:latin typeface="Verdana" pitchFamily="34" charset="0"/>
                <a:ea typeface="Verdana" pitchFamily="34" charset="-122"/>
                <a:cs typeface="Verdana" pitchFamily="34" charset="-120"/>
              </a:rPr>
              <a:t>Time:</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30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Goal</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Children meet the Moon as a ball that the Sun lights up, and understand at a basic level why it changes shape.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A torch (flashlight) – A small white ball (a table-tennis ball or styrofoam ball) – The room dark enough that the torch beam is visible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The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Settle + question (3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Sit on the mat. Teacher: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"Today we are going to meet the Moon."</a:t>
            </a:r>
            <a:endParaRPr lang="en-US" sz="1200" dirty="0"/>
          </a:p>
        </p:txBody>
      </p:sp>
      <p:sp>
        <p:nvSpPr>
          <p:cNvPr id="5" name="Text 3"/>
          <p:cNvSpPr/>
          <p:nvPr/>
        </p:nvSpPr>
        <p:spPr>
          <a:xfrm>
            <a:off x="406301" y="116041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Quick question round: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"Did you see the Moon last night? What shape was it?"</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Take 4–5 answers, sketch each one on the board.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The story (8 min)</a:t>
            </a:r>
            <a:endParaRPr lang="en-US" sz="1800" dirty="0"/>
          </a:p>
        </p:txBody>
      </p:sp>
      <p:sp>
        <p:nvSpPr>
          <p:cNvPr id="4" name="Text 2"/>
          <p:cNvSpPr/>
          <p:nvPr/>
        </p:nvSpPr>
        <p:spPr>
          <a:xfrm>
            <a:off x="406301" y="883593"/>
            <a:ext cx="8331398" cy="3381375"/>
          </a:xfrm>
          <a:prstGeom prst="rect">
            <a:avLst/>
          </a:prstGeom>
          <a:solidFill>
            <a:srgbClr val="FFFFFF"/>
          </a:solidFill>
          <a:ln/>
        </p:spPr>
        <p:txBody>
          <a:bodyPr wrap="square" rtlCol="0" anchor="ctr"/>
          <a:lstStyle/>
          <a:p>
            <a:pPr indent="0" marL="0">
              <a:buNone/>
            </a:pPr>
            <a:endParaRPr lang="en-US" dirty="0"/>
          </a:p>
        </p:txBody>
      </p:sp>
      <p:sp>
        <p:nvSpPr>
          <p:cNvPr id="5" name="Shape 3"/>
          <p:cNvSpPr/>
          <p:nvPr/>
        </p:nvSpPr>
        <p:spPr>
          <a:xfrm>
            <a:off x="434876" y="883593"/>
            <a:ext cx="0" cy="3381375"/>
          </a:xfrm>
          <a:prstGeom prst="line">
            <a:avLst/>
          </a:prstGeom>
          <a:noFill/>
          <a:ln w="57150">
            <a:solidFill>
              <a:srgbClr val="E07A5F"/>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2C2C2C"/>
                </a:solidFill>
                <a:latin typeface="Georgia" pitchFamily="34" charset="0"/>
                <a:ea typeface="Georgia" pitchFamily="34" charset="-122"/>
                <a:cs typeface="Georgia" pitchFamily="34" charset="-120"/>
              </a:rPr>
              <a:t>The Moon is a ball.</a:t>
            </a:r>
            <a:endParaRPr lang="en-US" sz="1300" dirty="0"/>
          </a:p>
        </p:txBody>
      </p:sp>
      <p:sp>
        <p:nvSpPr>
          <p:cNvPr id="7" name="Text 5"/>
          <p:cNvSpPr/>
          <p:nvPr/>
        </p:nvSpPr>
        <p:spPr>
          <a:xfrm>
            <a:off x="692051" y="1343174"/>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Imagine a giant white ball, very far away in the sky. That ball is the Moon. It does not make its own light — it is a dark, rocky ball.</a:t>
            </a:r>
            <a:endParaRPr lang="en-US" sz="1300" dirty="0"/>
          </a:p>
        </p:txBody>
      </p:sp>
      <p:sp>
        <p:nvSpPr>
          <p:cNvPr id="8" name="Text 6"/>
          <p:cNvSpPr/>
          <p:nvPr/>
        </p:nvSpPr>
        <p:spPr>
          <a:xfrm>
            <a:off x="692051" y="1843236"/>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Then the Sun shines on it. The Sun is so bright that one half of the Moon lights up. (Hold up the white ball; shine the torch on one side.) Look — half of this ball is bright, and half is dark.</a:t>
            </a:r>
            <a:endParaRPr lang="en-US" sz="1300" dirty="0"/>
          </a:p>
        </p:txBody>
      </p:sp>
      <p:sp>
        <p:nvSpPr>
          <p:cNvPr id="9" name="Text 7"/>
          <p:cNvSpPr/>
          <p:nvPr/>
        </p:nvSpPr>
        <p:spPr>
          <a:xfrm>
            <a:off x="692051" y="23432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Now — the Moon doesn't stay still. It travels around the Earth — that's us. (Walk slowly around a stationary child, holding the ball at arm's length.)</a:t>
            </a:r>
            <a:endParaRPr lang="en-US" sz="1300" dirty="0"/>
          </a:p>
        </p:txBody>
      </p:sp>
      <p:sp>
        <p:nvSpPr>
          <p:cNvPr id="10" name="Text 8"/>
          <p:cNvSpPr/>
          <p:nvPr/>
        </p:nvSpPr>
        <p:spPr>
          <a:xfrm>
            <a:off x="692051" y="2843361"/>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As the Moon travels, sometimes we see all of the lit side, sometimes only half of the lit side, sometimes none of the lit side. That's why the Moon looks different every night.</a:t>
            </a:r>
            <a:endParaRPr lang="en-US" sz="1300" dirty="0"/>
          </a:p>
        </p:txBody>
      </p:sp>
      <p:sp>
        <p:nvSpPr>
          <p:cNvPr id="11" name="Text 9"/>
          <p:cNvSpPr/>
          <p:nvPr/>
        </p:nvSpPr>
        <p:spPr>
          <a:xfrm>
            <a:off x="692051" y="334342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When we see ALL of the lit side, that's a </a:t>
            </a:r>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pūrṇimā</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a full moon.</a:t>
            </a:r>
            <a:endParaRPr lang="en-US" sz="1300" dirty="0"/>
          </a:p>
        </p:txBody>
      </p:sp>
      <p:sp>
        <p:nvSpPr>
          <p:cNvPr id="12" name="Text 10"/>
          <p:cNvSpPr/>
          <p:nvPr/>
        </p:nvSpPr>
        <p:spPr>
          <a:xfrm>
            <a:off x="692051" y="3612505"/>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When we see NONE of the lit side, that's an </a:t>
            </a:r>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amāvasyā</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a new moon. The Moon is still there — we just can't see it.</a:t>
            </a:r>
            <a:endParaRPr lang="en-US" sz="1300" dirty="0"/>
          </a:p>
        </p:txBody>
      </p:sp>
      <p:sp>
        <p:nvSpPr>
          <p:cNvPr id="13" name="Text 11"/>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The demo (12 min)</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Set up: – One child stands in the centre = Earth. – Another child holds the torch = Sun. – The teacher walks the ball around Earth in 4 stopping points: 1. Ball between Sun and Earth → Earth sees the dark side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amāvasyā</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2. Ball 90° away → Earth sees half lit (half Moon). 3. Ball opposite the Sun → Earth sees full lit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pūrṇimā</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4. Ball 90° away on the other side → Earth sees half lit (other half Moon).</a:t>
            </a:r>
            <a:endParaRPr lang="en-US" sz="1200" dirty="0"/>
          </a:p>
        </p:txBody>
      </p:sp>
      <p:sp>
        <p:nvSpPr>
          <p:cNvPr id="5" name="Text 3"/>
          <p:cNvSpPr/>
          <p:nvPr/>
        </p:nvSpPr>
        <p:spPr>
          <a:xfrm>
            <a:off x="406301" y="180022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At each stop, ask the Earth-child: </a:t>
            </a:r>
            <a:pPr algn="l" indent="0" marL="0">
              <a:lnSpc>
                <a:spcPts val="1680"/>
              </a:lnSpc>
              <a:spcBef>
                <a:spcPts val="300"/>
              </a:spcBef>
              <a:spcAft>
                <a:spcPts val="300"/>
              </a:spcAft>
              <a:buNone/>
            </a:pPr>
            <a:r>
              <a:rPr lang="en-US" sz="1200" i="1" dirty="0">
                <a:solidFill>
                  <a:srgbClr val="2C2C2C"/>
                </a:solidFill>
                <a:latin typeface="Verdana" pitchFamily="34" charset="0"/>
                <a:ea typeface="Verdana" pitchFamily="34" charset="-122"/>
                <a:cs typeface="Verdana" pitchFamily="34" charset="-120"/>
              </a:rPr>
              <a:t>"What do you see?"</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The class chorus-answers.</a:t>
            </a:r>
            <a:endParaRPr lang="en-US" sz="1200" dirty="0"/>
          </a:p>
        </p:txBody>
      </p:sp>
      <p:sp>
        <p:nvSpPr>
          <p:cNvPr id="6" name="Text 4"/>
          <p:cNvSpPr/>
          <p:nvPr/>
        </p:nvSpPr>
        <p:spPr>
          <a:xfrm>
            <a:off x="406301" y="2089696"/>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Repeat with a few other children rotating roles. Spend the full 12 minutes — children love this and need the repetition.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Word practice (4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Chant 3 times together (clap on each syllable):</a:t>
            </a:r>
            <a:endParaRPr lang="en-US" sz="1200" dirty="0"/>
          </a:p>
        </p:txBody>
      </p:sp>
      <p:sp>
        <p:nvSpPr>
          <p:cNvPr id="5" name="Text 3"/>
          <p:cNvSpPr/>
          <p:nvPr/>
        </p:nvSpPr>
        <p:spPr>
          <a:xfrm>
            <a:off x="406301" y="1173063"/>
            <a:ext cx="8331398" cy="611981"/>
          </a:xfrm>
          <a:prstGeom prst="rect">
            <a:avLst/>
          </a:prstGeom>
          <a:solidFill>
            <a:srgbClr val="FFFFFF"/>
          </a:solidFill>
          <a:ln/>
        </p:spPr>
        <p:txBody>
          <a:bodyPr wrap="square" rtlCol="0" anchor="ctr"/>
          <a:lstStyle/>
          <a:p>
            <a:pPr indent="0" marL="0">
              <a:buNone/>
            </a:pPr>
            <a:endParaRPr lang="en-US" dirty="0"/>
          </a:p>
        </p:txBody>
      </p:sp>
      <p:sp>
        <p:nvSpPr>
          <p:cNvPr id="6" name="Shape 4"/>
          <p:cNvSpPr/>
          <p:nvPr/>
        </p:nvSpPr>
        <p:spPr>
          <a:xfrm>
            <a:off x="434876" y="1173063"/>
            <a:ext cx="0" cy="611981"/>
          </a:xfrm>
          <a:prstGeom prst="line">
            <a:avLst/>
          </a:prstGeom>
          <a:noFill/>
          <a:ln w="57150">
            <a:solidFill>
              <a:srgbClr val="E07A5F"/>
            </a:solidFill>
            <a:prstDash val="solid"/>
          </a:ln>
        </p:spPr>
      </p:sp>
      <p:sp>
        <p:nvSpPr>
          <p:cNvPr id="7" name="Text 5"/>
          <p:cNvSpPr/>
          <p:nvPr/>
        </p:nvSpPr>
        <p:spPr>
          <a:xfrm>
            <a:off x="692051" y="136356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am - mah - vahs - yah</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the night with no Moon </a:t>
            </a:r>
            <a:pPr algn="l" indent="0" marL="0">
              <a:lnSpc>
                <a:spcPts val="1820"/>
              </a:lnSpc>
              <a:spcBef>
                <a:spcPts val="300"/>
              </a:spcBef>
              <a:spcAft>
                <a:spcPts val="300"/>
              </a:spcAft>
              <a:buNone/>
            </a:pPr>
            <a:r>
              <a:rPr lang="en-US" sz="1300" i="1" dirty="0">
                <a:solidFill>
                  <a:srgbClr val="2C2C2C"/>
                </a:solidFill>
                <a:latin typeface="Georgia" pitchFamily="34" charset="0"/>
                <a:ea typeface="Georgia" pitchFamily="34" charset="-122"/>
                <a:cs typeface="Georgia" pitchFamily="34" charset="-120"/>
              </a:rPr>
              <a:t>poor - ni - mah</a:t>
            </a:r>
            <a:pPr algn="l" indent="0" marL="0">
              <a:lnSpc>
                <a:spcPts val="1820"/>
              </a:lnSpc>
              <a:spcBef>
                <a:spcPts val="300"/>
              </a:spcBef>
              <a:spcAft>
                <a:spcPts val="300"/>
              </a:spcAft>
              <a:buNone/>
            </a:pPr>
            <a:r>
              <a:rPr lang="en-US" sz="1300" dirty="0">
                <a:solidFill>
                  <a:srgbClr val="2C2C2C"/>
                </a:solidFill>
                <a:latin typeface="Georgia" pitchFamily="34" charset="0"/>
                <a:ea typeface="Georgia" pitchFamily="34" charset="-122"/>
                <a:cs typeface="Georgia" pitchFamily="34" charset="-120"/>
              </a:rPr>
              <a:t> — the night with the full Moon</a:t>
            </a:r>
            <a:endParaRPr lang="en-US" sz="1300" dirty="0"/>
          </a:p>
        </p:txBody>
      </p:sp>
      <p:sp>
        <p:nvSpPr>
          <p:cNvPr id="8" name="Text 6"/>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Wrap-up (3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Each child draws one Moon shape on paper — whichever shape they remember best from the demo. – Hold up 3 drawings.</a:t>
            </a:r>
            <a:endParaRPr lang="en-US" sz="1200" dirty="0"/>
          </a:p>
        </p:txBody>
      </p:sp>
      <p:sp>
        <p:nvSpPr>
          <p:cNvPr id="5" name="Text 3"/>
          <p:cNvSpPr/>
          <p:nvPr/>
        </p:nvSpPr>
        <p:spPr>
          <a:xfrm>
            <a:off x="634901" y="1386334"/>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Homework:</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a:t>
            </a:r>
            <a:pPr algn="l" indent="0" marL="0">
              <a:lnSpc>
                <a:spcPts val="1620"/>
              </a:lnSpc>
              <a:spcAft>
                <a:spcPts val="300"/>
              </a:spcAft>
              <a:buNone/>
            </a:pPr>
            <a:r>
              <a:rPr lang="en-US" sz="1200" i="1" dirty="0">
                <a:solidFill>
                  <a:srgbClr val="2C2C2C"/>
                </a:solidFill>
                <a:latin typeface="Verdana" pitchFamily="34" charset="0"/>
                <a:ea typeface="Verdana" pitchFamily="34" charset="-122"/>
                <a:cs typeface="Verdana" pitchFamily="34" charset="-120"/>
              </a:rPr>
              <a:t>Look at the Moon tonight. Whatever shape you see, draw it in your workbook. If it's cloudy, ask a grown-up to look it up on a phone.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Homework / take-home</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Start your Moon Diary tonight.</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Look up. Draw what you see. Note: clear or cloudy.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Tier up:</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Draw two phases (last night's + tonight's predicted).</a:t>
            </a:r>
            <a:endParaRPr lang="en-US" sz="1200" dirty="0"/>
          </a:p>
          <a:p>
            <a:pPr algn="l" marL="342900" indent="-342900">
              <a:lnSpc>
                <a:spcPts val="1620"/>
              </a:lnSpc>
              <a:spcAft>
                <a:spcPts val="300"/>
              </a:spcAft>
              <a:buSzPct val="100000"/>
              <a:buChar char="•"/>
            </a:pPr>
            <a:r>
              <a:rPr lang="en-US" sz="1200" b="1" dirty="0">
                <a:solidFill>
                  <a:srgbClr val="2C2C2C"/>
                </a:solidFill>
                <a:latin typeface="Verdana" pitchFamily="34" charset="0"/>
                <a:ea typeface="Verdana" pitchFamily="34" charset="-122"/>
                <a:cs typeface="Verdana" pitchFamily="34" charset="-120"/>
              </a:rPr>
              <a:t>Tier down:</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Just remember the word </a:t>
            </a:r>
            <a:pPr algn="l" indent="0" marL="0">
              <a:lnSpc>
                <a:spcPts val="1620"/>
              </a:lnSpc>
              <a:spcAft>
                <a:spcPts val="300"/>
              </a:spcAft>
              <a:buNone/>
            </a:pPr>
            <a:r>
              <a:rPr lang="en-US" sz="1200" i="1" dirty="0">
                <a:solidFill>
                  <a:srgbClr val="2C2C2C"/>
                </a:solidFill>
                <a:latin typeface="Verdana" pitchFamily="34" charset="0"/>
                <a:ea typeface="Verdana" pitchFamily="34" charset="-122"/>
                <a:cs typeface="Verdana" pitchFamily="34" charset="-120"/>
              </a:rPr>
              <a:t>pūrṇimā</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(the easier one). </a:t>
            </a:r>
            <a:pPr algn="l" indent="0" marL="0">
              <a:lnSpc>
                <a:spcPts val="1620"/>
              </a:lnSpc>
              <a:spcAft>
                <a:spcPts val="300"/>
              </a:spcAft>
              <a:buNone/>
            </a:pPr>
            <a:r>
              <a:rPr lang="en-US" sz="1200" i="1" dirty="0">
                <a:solidFill>
                  <a:srgbClr val="2C2C2C"/>
                </a:solidFill>
                <a:latin typeface="Verdana" pitchFamily="34" charset="0"/>
                <a:ea typeface="Verdana" pitchFamily="34" charset="-122"/>
                <a:cs typeface="Verdana" pitchFamily="34" charset="-120"/>
              </a:rPr>
              <a:t>Amāvasyā</a:t>
            </a:r>
            <a:pPr algn="l" indent="0" marL="0">
              <a:lnSpc>
                <a:spcPts val="1620"/>
              </a:lnSpc>
              <a:spcAft>
                <a:spcPts val="300"/>
              </a:spcAft>
              <a:buNone/>
            </a:pPr>
            <a:r>
              <a:rPr lang="en-US" sz="1200" dirty="0">
                <a:solidFill>
                  <a:srgbClr val="2C2C2C"/>
                </a:solidFill>
                <a:latin typeface="Verdana" pitchFamily="34" charset="0"/>
                <a:ea typeface="Verdana" pitchFamily="34" charset="-122"/>
                <a:cs typeface="Verdana" pitchFamily="34" charset="-120"/>
              </a:rPr>
              <a:t> can come later this week.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87A96B"/>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E07A5F"/>
                </a:solidFill>
                <a:latin typeface="Georgia" pitchFamily="34" charset="0"/>
                <a:ea typeface="Georgia" pitchFamily="34" charset="-122"/>
                <a:cs typeface="Georgia" pitchFamily="34" charset="-120"/>
              </a:rPr>
              <a:t>Teacher's quick notes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The single most important sentence today: </a:t>
            </a:r>
            <a:pPr algn="l" indent="0" marL="0">
              <a:lnSpc>
                <a:spcPts val="1680"/>
              </a:lnSpc>
              <a:spcBef>
                <a:spcPts val="300"/>
              </a:spcBef>
              <a:spcAft>
                <a:spcPts val="300"/>
              </a:spcAft>
              <a:buNone/>
            </a:pPr>
            <a:r>
              <a:rPr lang="en-US" sz="1200" b="1" dirty="0">
                <a:solidFill>
                  <a:srgbClr val="2C2C2C"/>
                </a:solidFill>
                <a:latin typeface="Verdana" pitchFamily="34" charset="0"/>
                <a:ea typeface="Verdana" pitchFamily="34" charset="-122"/>
                <a:cs typeface="Verdana" pitchFamily="34" charset="-120"/>
              </a:rPr>
              <a:t>"The Sun lights the Moon. The Moon doesn't make its own light."</a:t>
            </a:r>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 Repeat it often. – Some children will need the demo repeated. That's fine — that's the whole class. – Don't worry about Sanskrit spelling. They'll get it through repetition over the week.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2C2C2C"/>
                </a:solidFill>
                <a:latin typeface="Verdana" pitchFamily="34" charset="0"/>
                <a:ea typeface="Verdana" pitchFamily="34" charset="-122"/>
                <a:cs typeface="Verdana" pitchFamily="34" charset="-120"/>
              </a:rPr>
              <a:t>Primary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Primary</dc:title>
  <dc:subject>PptxGenJS Presentation</dc:subject>
  <dc:creator>IKS Curriculum</dc:creator>
  <cp:lastModifiedBy>IKS Curriculum</cp:lastModifiedBy>
  <cp:revision>1</cp:revision>
  <dcterms:created xsi:type="dcterms:W3CDTF">2026-05-28T04:07:34Z</dcterms:created>
  <dcterms:modified xsi:type="dcterms:W3CDTF">2026-05-28T04:07:34Z</dcterms:modified>
</cp:coreProperties>
</file>